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35758FB7-9AC5-4552-8A53-C91805E547FA}">
  <a:tblStyle styleId="{35758FB7-9AC5-4552-8A53-C91805E547FA}" styleName="Themed Style 1 - Accent 5">
    <a:tblBg>
      <a:fillRef idx="2">
        <a:schemeClr val="accent5"/>
      </a:fill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2V>
    <a:lastCol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lastCol>
    <a:firstCol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firstCol>
    <a:lastRow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</a:tcBdr>
        <a:fill>
          <a:solidFill>
            <a:schemeClr val="accent5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FD0F851-EC5A-4D38-B0AD-8093EC10F338}" styleName="Light Style 1 - Accent 5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5"/>
              </a:solidFill>
            </a:ln>
          </a:top>
          <a:bottom>
            <a:ln w="12700">
              <a:solidFill>
                <a:schemeClr val="accent5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Style>
        <a:tcBdr/>
        <a:fill>
          <a:solidFill>
            <a:schemeClr val="accent5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5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5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0" d="100"/>
          <a:sy n="60" d="100"/>
        </p:scale>
        <p:origin x="884" y="4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4087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67822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13204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65205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37672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55953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411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6270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564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9177B-387D-CC6B-7677-0A0578DA5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716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618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870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D451B-1BFA-0D28-A830-2F31D00D8D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700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501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F3235-2BE0-7EFA-76D8-D86DFD0240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26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631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758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FFB89-2A1B-63FD-5823-853D377F03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302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547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400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3A7356-EDCD-E531-927F-F3E5A490FE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935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1706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939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24E9BD-5213-0599-89F3-DCAC787CA5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618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7370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85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6A52C6-D483-A48D-6B3D-06AAF580FB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548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029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5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90A996-E434-D718-55BD-FC31BC5C3A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897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410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530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AE237F-84AD-5041-DDBF-800EDCCEAE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497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5746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007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1E2DF9-3576-3D26-B320-0B0A18A909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02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450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581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4DCE98-9570-B55F-FABA-92FD6D9708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239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464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549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F49C70-1A87-00E0-DF8A-A31DFC4BC4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40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689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3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E90646-5ABE-A0D7-31C8-0C5908EBE0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367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117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699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458378-DD9B-5A3A-46BB-4FA2C14E31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85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35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50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91629F-26F3-E007-A664-D61587A4C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745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9312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895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584CBB-68FB-D893-7740-22BE0B12A2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267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2106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5010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2E6642-013E-9019-403D-D23822D5A3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393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442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483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EADCB8-D96A-2891-BABD-351B357529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67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2652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297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4485D2-BAAA-D798-7886-9ABA950DC2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987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969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6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2C1285-0A61-B2BF-E396-F8DE46DB1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2253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781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870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461284-06B2-10CE-A95F-265DCAF78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647846" name="Rectangle 9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hr-HR"/>
          </a:p>
        </p:txBody>
      </p:sp>
      <p:sp>
        <p:nvSpPr>
          <p:cNvPr id="2017453016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hr-HR"/>
          </a:p>
        </p:txBody>
      </p:sp>
      <p:sp>
        <p:nvSpPr>
          <p:cNvPr id="1830419958" name="Title 1"/>
          <p:cNvSpPr>
            <a:spLocks noGrp="1"/>
          </p:cNvSpPr>
          <p:nvPr>
            <p:ph type="ctr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81953323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723704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AD6EE87-EBD5-4F12-A48A-63ACA297AC8F}" type="datetimeFigureOut">
              <a:rPr lang="en-US"/>
              <a:t>5/30/2026</a:t>
            </a:fld>
            <a:endParaRPr lang="en-US"/>
          </a:p>
        </p:txBody>
      </p:sp>
      <p:sp>
        <p:nvSpPr>
          <p:cNvPr id="9887324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73255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734713152" name="Straight Connector 7"/>
          <p:cNvCxnSpPr/>
          <p:nvPr/>
        </p:nvCxnSpPr>
        <p:spPr bwMode="auto"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2472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901191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510927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D3794B-289A-4A80-97D7-111025398D45}" type="datetimeFigureOut">
              <a:rPr lang="en-US"/>
              <a:t>5/30/2026</a:t>
            </a:fld>
            <a:endParaRPr lang="en-US"/>
          </a:p>
        </p:txBody>
      </p:sp>
      <p:sp>
        <p:nvSpPr>
          <p:cNvPr id="11907142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22901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251802" name="Rectangle 8"/>
          <p:cNvSpPr/>
          <p:nvPr/>
        </p:nvSpPr>
        <p:spPr bwMode="auto"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9044567" name="Oval 5"/>
          <p:cNvSpPr/>
          <p:nvPr/>
        </p:nvSpPr>
        <p:spPr bwMode="auto"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fill="norm" stroke="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6961825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814964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90085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61015F-7CC6-4D0A-9D87-873EA4C304CC}" type="datetimeFigureOut">
              <a:rPr lang="en-US"/>
              <a:t>5/30/2026</a:t>
            </a:fld>
            <a:endParaRPr lang="en-US"/>
          </a:p>
        </p:txBody>
      </p:sp>
      <p:sp>
        <p:nvSpPr>
          <p:cNvPr id="14543578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9592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142181152" name="Straight Connector 7"/>
          <p:cNvCxnSpPr/>
          <p:nvPr/>
        </p:nvCxnSpPr>
        <p:spPr bwMode="auto"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617238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856532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24127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311161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9320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68548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C6A301-0538-44EC-B09D-202E1042A48B}" type="datetimeFigureOut">
              <a:rPr lang="en-US"/>
              <a:t>5/30/2026</a:t>
            </a:fld>
            <a:endParaRPr lang="en-US"/>
          </a:p>
        </p:txBody>
      </p:sp>
      <p:sp>
        <p:nvSpPr>
          <p:cNvPr id="1583028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78813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099119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53703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11158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2412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08723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cap="none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>
              <a:lnSpc>
                <a:spcPct val="90000"/>
              </a:lnSpc>
              <a:spcBef>
                <a:spcPts val="180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641985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90888" y="2967788"/>
            <a:ext cx="4754880" cy="3341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6248079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89574A-8875-45EF-8EA2-3CAA0F7ABC4C}" type="datetimeFigureOut">
              <a:rPr lang="en-US"/>
              <a:t>5/30/2026</a:t>
            </a:fld>
            <a:endParaRPr lang="en-US"/>
          </a:p>
        </p:txBody>
      </p:sp>
      <p:sp>
        <p:nvSpPr>
          <p:cNvPr id="2354954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59389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3943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410720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EF4D4C-5367-4C26-9E2B-D8088D7FCA81}" type="datetimeFigureOut">
              <a:rPr lang="en-US"/>
              <a:t>5/30/2026</a:t>
            </a:fld>
            <a:endParaRPr lang="en-US"/>
          </a:p>
        </p:txBody>
      </p:sp>
      <p:sp>
        <p:nvSpPr>
          <p:cNvPr id="3208874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557831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54402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E91E96-98B0-4413-9547-46F3504108EF}" type="datetimeFigureOut">
              <a:rPr lang="en-US"/>
              <a:t>5/30/2026</a:t>
            </a:fld>
            <a:endParaRPr lang="en-US"/>
          </a:p>
        </p:txBody>
      </p:sp>
      <p:sp>
        <p:nvSpPr>
          <p:cNvPr id="40732176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578111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818764" name="Title 7"/>
          <p:cNvSpPr>
            <a:spLocks noGrp="1"/>
          </p:cNvSpPr>
          <p:nvPr>
            <p:ph type="title"/>
          </p:nvPr>
        </p:nvSpPr>
        <p:spPr bwMode="auto"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37346" name="Content Placeholder 2"/>
          <p:cNvSpPr>
            <a:spLocks noGrp="1"/>
          </p:cNvSpPr>
          <p:nvPr>
            <p:ph idx="1"/>
          </p:nvPr>
        </p:nvSpPr>
        <p:spPr bwMode="auto"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532668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19915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C68B11-C5A8-448C-8CE9-B1A273C79CFC}" type="datetimeFigureOut">
              <a:rPr lang="en-US"/>
              <a:t>5/30/2026</a:t>
            </a:fld>
            <a:endParaRPr lang="en-US"/>
          </a:p>
        </p:txBody>
      </p:sp>
      <p:sp>
        <p:nvSpPr>
          <p:cNvPr id="2736923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53549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18053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244165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0" y="-1"/>
            <a:ext cx="12188952" cy="457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368478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80333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616CA0-919D-4A49-9C8A-62FDFB3A5183}" type="datetimeFigureOut">
              <a:rPr lang="en-US"/>
              <a:t>5/30/2026</a:t>
            </a:fld>
            <a:endParaRPr lang="en-US"/>
          </a:p>
        </p:txBody>
      </p:sp>
      <p:sp>
        <p:nvSpPr>
          <p:cNvPr id="12823225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76695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67E5644-1E61-4311-A31E-84CB9C7AA8A9}" type="slidenum">
              <a:rPr lang="en-US"/>
              <a:t>‹#›</a:t>
            </a:fld>
            <a:endParaRPr lang="en-US"/>
          </a:p>
        </p:txBody>
      </p:sp>
      <p:cxnSp>
        <p:nvCxnSpPr>
          <p:cNvPr id="530213814" name="Straight Connector 7"/>
          <p:cNvCxnSpPr/>
          <p:nvPr/>
        </p:nvCxnSpPr>
        <p:spPr bwMode="auto"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5706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085092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090371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D73815-2707-4475-8F1A-B873CB631BB4}" type="datetimeFigureOut">
              <a:rPr lang="en-US"/>
              <a:t>5/30/2026</a:t>
            </a:fld>
            <a:endParaRPr lang="en-US"/>
          </a:p>
        </p:txBody>
      </p:sp>
      <p:sp>
        <p:nvSpPr>
          <p:cNvPr id="199916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0391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8034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9113015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90601" y="762000"/>
            <a:ext cx="7581899" cy="541020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611922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4AFB99-0EAB-4182-AFF8-E214C82A68F6}" type="datetimeFigureOut">
              <a:rPr lang="en-US"/>
              <a:t>5/30/2026</a:t>
            </a:fld>
            <a:endParaRPr lang="en-US"/>
          </a:p>
        </p:txBody>
      </p:sp>
      <p:sp>
        <p:nvSpPr>
          <p:cNvPr id="14717541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97487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589755113" name="Straight Connector 6"/>
          <p:cNvCxnSpPr/>
          <p:nvPr/>
        </p:nvCxnSpPr>
        <p:spPr bwMode="auto"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56917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108372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2024735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10038940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9565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5278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053208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85294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10517859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48993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96171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19505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0382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6300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11784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9016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140450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172577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868102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7886263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41116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3737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943639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94448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989841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31945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58137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209357337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303583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269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595256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8011875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8903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9195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64626607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361350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57485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554676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735924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58190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11507980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90181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96615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6155711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944627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03796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79310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19505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9871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637046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349184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8509777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2268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3032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957932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536980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18307771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00162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559036" name="Title Placeholder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727180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81873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0298CD5-6C1E-4009-B41F-6DF62E31D3BE}" type="datetimeFigureOut">
              <a:rPr lang="en-US"/>
              <a:t>5/30/2026</a:t>
            </a:fld>
            <a:endParaRPr lang="en-US"/>
          </a:p>
        </p:txBody>
      </p:sp>
      <p:sp>
        <p:nvSpPr>
          <p:cNvPr id="9782659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116047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  <p:cxnSp>
        <p:nvCxnSpPr>
          <p:cNvPr id="1485035582" name="Straight Connector 6"/>
          <p:cNvCxnSpPr/>
          <p:nvPr/>
        </p:nvCxnSpPr>
        <p:spPr bwMode="auto"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80000"/>
        </a:lnSpc>
        <a:spcBef>
          <a:spcPts val="0"/>
        </a:spcBef>
        <a:buNone/>
        <a:defRPr sz="5000" cap="all" spc="1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/>
        <a:buChar char=" 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1216151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1362455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07612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45306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259909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5/30/2026</a:t>
            </a:fld>
            <a:endParaRPr lang="en-US"/>
          </a:p>
        </p:txBody>
      </p:sp>
      <p:sp>
        <p:nvSpPr>
          <p:cNvPr id="121409117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8626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980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44093" y="4960136"/>
            <a:ext cx="8085506" cy="14630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>
                <a:ea typeface="+mj-lt"/>
                <a:cs typeface="+mj-lt"/>
              </a:rPr>
              <a:t>KT1 - ML4 - </a:t>
            </a:r>
            <a:br>
              <a:rPr lang="en-US" sz="4400">
                <a:ea typeface="+mj-lt"/>
                <a:cs typeface="+mj-lt"/>
              </a:rPr>
            </a:br>
            <a:r>
              <a:rPr lang="en-US" sz="4400">
                <a:ea typeface="+mj-lt"/>
                <a:cs typeface="+mj-lt"/>
              </a:rPr>
              <a:t>Kompresija</a:t>
            </a:r>
            <a:r>
              <a:rPr lang="en-US" sz="4400">
                <a:ea typeface="+mj-lt"/>
                <a:cs typeface="+mj-lt"/>
              </a:rPr>
              <a:t> ML </a:t>
            </a:r>
            <a:r>
              <a:rPr lang="en-US" sz="4400">
                <a:ea typeface="+mj-lt"/>
                <a:cs typeface="+mj-lt"/>
              </a:rPr>
              <a:t>modela</a:t>
            </a:r>
            <a:r>
              <a:rPr lang="en-US" sz="4400">
                <a:ea typeface="+mj-lt"/>
                <a:cs typeface="+mj-lt"/>
              </a:rPr>
              <a:t> </a:t>
            </a:r>
            <a:endParaRPr sz="4400"/>
          </a:p>
        </p:txBody>
      </p:sp>
      <p:sp>
        <p:nvSpPr>
          <p:cNvPr id="839208629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581400" cy="14630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TEHNIČKI FAKULTET u </a:t>
            </a:r>
            <a:r>
              <a:rPr lang="en-US" b="1"/>
              <a:t>Rijeci</a:t>
            </a:r>
            <a:endParaRPr lang="en-US" b="1"/>
          </a:p>
          <a:p>
            <a:pPr>
              <a:defRPr/>
            </a:pPr>
            <a:r>
              <a:rPr lang="en-US" sz="1600"/>
              <a:t>Sveučilišni</a:t>
            </a:r>
            <a:r>
              <a:rPr lang="en-US" sz="1600"/>
              <a:t> </a:t>
            </a:r>
            <a:r>
              <a:rPr lang="en-US" sz="1600"/>
              <a:t>diplomski</a:t>
            </a:r>
            <a:r>
              <a:rPr lang="en-US" sz="1600"/>
              <a:t> </a:t>
            </a:r>
            <a:r>
              <a:rPr lang="en-US" sz="1600"/>
              <a:t>studij</a:t>
            </a:r>
            <a:r>
              <a:rPr lang="en-US" sz="1600"/>
              <a:t> </a:t>
            </a:r>
            <a:r>
              <a:rPr lang="en-US" sz="1600"/>
              <a:t>računarstva</a:t>
            </a:r>
            <a:endParaRPr lang="en-US" sz="1600"/>
          </a:p>
          <a:p>
            <a:pPr>
              <a:defRPr/>
            </a:pPr>
            <a:r>
              <a:rPr lang="en-US" sz="1600"/>
              <a:t>Sudionici</a:t>
            </a:r>
            <a:r>
              <a:rPr lang="en-US" sz="1600"/>
              <a:t>: Jakov Dragičević, Silvia Petrović, Luka Capan, Borna Budić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8293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Zaduženja</a:t>
            </a:r>
            <a:r>
              <a:rPr lang="en-US"/>
              <a:t> u </a:t>
            </a:r>
            <a:r>
              <a:rPr lang="en-US"/>
              <a:t>timu</a:t>
            </a:r>
            <a:endParaRPr/>
          </a:p>
        </p:txBody>
      </p:sp>
      <p:sp>
        <p:nvSpPr>
          <p:cNvPr id="1590240702" name="Content Placeholder 8"/>
          <p:cNvSpPr>
            <a:spLocks noGrp="1"/>
          </p:cNvSpPr>
          <p:nvPr>
            <p:ph idx="1"/>
          </p:nvPr>
        </p:nvSpPr>
        <p:spPr bwMode="auto"/>
        <p:txBody>
          <a:bodyPr vert="horz" lIns="45720" tIns="45720" rIns="45720" bIns="45720" rtlCol="0" anchor="t">
            <a:normAutofit/>
          </a:bodyPr>
          <a:lstStyle/>
          <a:p>
            <a:pPr>
              <a:buFont typeface="Arial"/>
              <a:buChar char="•"/>
              <a:defRPr/>
            </a:pPr>
            <a:endParaRPr lang="en-US"/>
          </a:p>
          <a:p>
            <a:pPr>
              <a:buFont typeface="Arial"/>
              <a:buChar char="•"/>
              <a:defRPr/>
            </a:pPr>
            <a:endParaRPr lang="en-US"/>
          </a:p>
          <a:p>
            <a:pPr>
              <a:buFont typeface="Arial"/>
              <a:buChar char="•"/>
              <a:defRPr/>
            </a:pPr>
            <a:endParaRPr lang="en-US"/>
          </a:p>
          <a:p>
            <a:pPr>
              <a:buFont typeface="Arial"/>
              <a:buChar char="•"/>
              <a:defRPr/>
            </a:pPr>
            <a:endParaRPr lang="en-US"/>
          </a:p>
          <a:p>
            <a:pPr>
              <a:buFont typeface="Arial"/>
              <a:buChar char="•"/>
              <a:defRPr/>
            </a:pPr>
            <a:r>
              <a:rPr lang="en-US"/>
              <a:t> </a:t>
            </a:r>
            <a:r>
              <a:rPr lang="en-US"/>
              <a:t>Definira</a:t>
            </a:r>
            <a:r>
              <a:rPr lang="en-US"/>
              <a:t> </a:t>
            </a:r>
            <a:r>
              <a:rPr lang="en-US"/>
              <a:t>sve</a:t>
            </a:r>
            <a:r>
              <a:rPr lang="en-US"/>
              <a:t> </a:t>
            </a:r>
            <a:r>
              <a:rPr lang="en-US"/>
              <a:t>slojeve</a:t>
            </a:r>
            <a:endParaRPr lang="en-US"/>
          </a:p>
          <a:p>
            <a:pPr marL="127634" lvl="1" indent="0">
              <a:buClr>
                <a:schemeClr val="accent1"/>
              </a:buClr>
              <a:buFont typeface="Courier New,monospace"/>
              <a:buNone/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      Conv Layer,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ReLU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Layer,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MaxPool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Layer, FC Layer,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Softmax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Layer 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 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Omogućava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 interface</a:t>
            </a:r>
            <a:endParaRPr lang="en-US" sz="1800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 marL="127634" lvl="1" indent="0">
              <a:buClr>
                <a:schemeClr val="accent1"/>
              </a:buClr>
              <a:buFont typeface="Courier New"/>
              <a:buNone/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      forward(), backward(),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get_trainable_layers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(),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get_param_count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()</a:t>
            </a:r>
            <a:endParaRPr lang="en-US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>
              <a:buFont typeface="Arial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 Samo NumPy - 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nema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 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vanjskih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 </a:t>
            </a:r>
            <a:r>
              <a:rPr lang="en-US">
                <a:solidFill>
                  <a:srgbClr val="000000"/>
                </a:solidFill>
                <a:latin typeface="Tw Cen MT"/>
                <a:ea typeface="Calibri"/>
                <a:cs typeface="Calibri"/>
              </a:rPr>
              <a:t>resursa</a:t>
            </a:r>
            <a:endParaRPr lang="en-US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 marL="264795" lvl="1">
              <a:buFont typeface="Courier New"/>
              <a:buChar char="o"/>
              <a:defRPr/>
            </a:pPr>
            <a:endParaRPr lang="en-US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</p:txBody>
      </p:sp>
      <p:sp>
        <p:nvSpPr>
          <p:cNvPr id="1540517130" name="Rectangle 9"/>
          <p:cNvSpPr/>
          <p:nvPr/>
        </p:nvSpPr>
        <p:spPr bwMode="auto">
          <a:xfrm>
            <a:off x="245183" y="2293862"/>
            <a:ext cx="2337228" cy="1404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2984198" name="TextBox 10"/>
          <p:cNvSpPr txBox="1"/>
          <p:nvPr/>
        </p:nvSpPr>
        <p:spPr bwMode="auto">
          <a:xfrm>
            <a:off x="854926" y="2397510"/>
            <a:ext cx="112441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sz="2200">
                <a:solidFill>
                  <a:schemeClr val="bg1"/>
                </a:solidFill>
              </a:rPr>
              <a:t>Luka</a:t>
            </a:r>
            <a:endParaRPr/>
          </a:p>
        </p:txBody>
      </p:sp>
      <p:sp>
        <p:nvSpPr>
          <p:cNvPr id="800990346" name="TextBox 12"/>
          <p:cNvSpPr txBox="1"/>
          <p:nvPr/>
        </p:nvSpPr>
        <p:spPr bwMode="auto">
          <a:xfrm>
            <a:off x="501804" y="2992242"/>
            <a:ext cx="18306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</a:rPr>
              <a:t>CNN </a:t>
            </a:r>
            <a:r>
              <a:rPr lang="en-US">
                <a:solidFill>
                  <a:schemeClr val="bg1"/>
                </a:solidFill>
              </a:rPr>
              <a:t>arhitektura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41607174" name="Arrow: Right 13"/>
          <p:cNvSpPr/>
          <p:nvPr/>
        </p:nvSpPr>
        <p:spPr bwMode="auto">
          <a:xfrm>
            <a:off x="2583364" y="2852852"/>
            <a:ext cx="836341" cy="26019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01558256" name="Rectangle 14"/>
          <p:cNvSpPr/>
          <p:nvPr/>
        </p:nvSpPr>
        <p:spPr bwMode="auto">
          <a:xfrm>
            <a:off x="3423279" y="2303155"/>
            <a:ext cx="2337228" cy="14046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27113139" name="TextBox 15"/>
          <p:cNvSpPr txBox="1"/>
          <p:nvPr/>
        </p:nvSpPr>
        <p:spPr bwMode="auto">
          <a:xfrm>
            <a:off x="4033023" y="2406803"/>
            <a:ext cx="112441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sz="2200">
                <a:solidFill>
                  <a:srgbClr val="000000"/>
                </a:solidFill>
              </a:rPr>
              <a:t>Borna</a:t>
            </a:r>
            <a:endParaRPr/>
          </a:p>
        </p:txBody>
      </p:sp>
      <p:sp>
        <p:nvSpPr>
          <p:cNvPr id="1100598675" name="TextBox 16"/>
          <p:cNvSpPr txBox="1"/>
          <p:nvPr/>
        </p:nvSpPr>
        <p:spPr bwMode="auto">
          <a:xfrm>
            <a:off x="3679901" y="3001535"/>
            <a:ext cx="18306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</a:rPr>
              <a:t>Treniranje</a:t>
            </a:r>
            <a:endParaRPr lang="en-US"/>
          </a:p>
        </p:txBody>
      </p:sp>
      <p:sp>
        <p:nvSpPr>
          <p:cNvPr id="1745074630" name="Rectangle 18"/>
          <p:cNvSpPr/>
          <p:nvPr/>
        </p:nvSpPr>
        <p:spPr bwMode="auto">
          <a:xfrm>
            <a:off x="6629255" y="2321740"/>
            <a:ext cx="2337228" cy="14046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56628986" name="TextBox 19"/>
          <p:cNvSpPr txBox="1"/>
          <p:nvPr/>
        </p:nvSpPr>
        <p:spPr bwMode="auto">
          <a:xfrm>
            <a:off x="7238998" y="2425388"/>
            <a:ext cx="112441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sz="2200">
                <a:solidFill>
                  <a:srgbClr val="000000"/>
                </a:solidFill>
              </a:rPr>
              <a:t>Silvia</a:t>
            </a:r>
            <a:endParaRPr/>
          </a:p>
        </p:txBody>
      </p:sp>
      <p:sp>
        <p:nvSpPr>
          <p:cNvPr id="143701351" name="TextBox 20"/>
          <p:cNvSpPr txBox="1"/>
          <p:nvPr/>
        </p:nvSpPr>
        <p:spPr bwMode="auto">
          <a:xfrm>
            <a:off x="6885876" y="3020120"/>
            <a:ext cx="18306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</a:rPr>
              <a:t>Pruning</a:t>
            </a:r>
            <a:endParaRPr lang="en-US"/>
          </a:p>
        </p:txBody>
      </p:sp>
      <p:sp>
        <p:nvSpPr>
          <p:cNvPr id="124943452" name="Rectangle 22"/>
          <p:cNvSpPr/>
          <p:nvPr/>
        </p:nvSpPr>
        <p:spPr bwMode="auto">
          <a:xfrm>
            <a:off x="9618422" y="2321739"/>
            <a:ext cx="2337228" cy="14046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5843232" name="TextBox 23"/>
          <p:cNvSpPr txBox="1"/>
          <p:nvPr/>
        </p:nvSpPr>
        <p:spPr bwMode="auto">
          <a:xfrm>
            <a:off x="10224828" y="2453264"/>
            <a:ext cx="112441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sz="2200">
                <a:solidFill>
                  <a:srgbClr val="000000"/>
                </a:solidFill>
              </a:rPr>
              <a:t>Jakov</a:t>
            </a:r>
            <a:endParaRPr/>
          </a:p>
        </p:txBody>
      </p:sp>
      <p:sp>
        <p:nvSpPr>
          <p:cNvPr id="417965903" name="TextBox 24"/>
          <p:cNvSpPr txBox="1"/>
          <p:nvPr/>
        </p:nvSpPr>
        <p:spPr bwMode="auto">
          <a:xfrm>
            <a:off x="9871707" y="3047996"/>
            <a:ext cx="18306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/>
              <a:t>Kvantizacija</a:t>
            </a:r>
            <a:endParaRPr/>
          </a:p>
        </p:txBody>
      </p:sp>
      <p:sp>
        <p:nvSpPr>
          <p:cNvPr id="617169079" name="Arrow: Right 29"/>
          <p:cNvSpPr/>
          <p:nvPr/>
        </p:nvSpPr>
        <p:spPr bwMode="auto">
          <a:xfrm>
            <a:off x="5789339" y="2871437"/>
            <a:ext cx="836341" cy="26019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0932888" name="Arrow: Right 30"/>
          <p:cNvSpPr/>
          <p:nvPr/>
        </p:nvSpPr>
        <p:spPr bwMode="auto">
          <a:xfrm flipH="0" flipV="0">
            <a:off x="8967436" y="2880729"/>
            <a:ext cx="650985" cy="26019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260204" name="Content Placeholder 2"/>
          <p:cNvSpPr>
            <a:spLocks noGrp="1"/>
          </p:cNvSpPr>
          <p:nvPr>
            <p:ph idx="1"/>
          </p:nvPr>
        </p:nvSpPr>
        <p:spPr bwMode="auto">
          <a:xfrm>
            <a:off x="206372" y="6421244"/>
            <a:ext cx="11727292" cy="343457"/>
          </a:xfrm>
        </p:spPr>
        <p:txBody>
          <a:bodyPr vert="horz" lIns="45720" tIns="45720" rIns="45720" bIns="45720" rtlCol="0" anchor="t">
            <a:normAutofit fontScale="85000" lnSpcReduction="20000"/>
          </a:bodyPr>
          <a:lstStyle/>
          <a:p>
            <a:pPr>
              <a:defRPr/>
            </a:pPr>
            <a:r>
              <a:rPr lang="en-US"/>
              <a:t>       </a:t>
            </a:r>
            <a:r>
              <a:rPr lang="en-US" b="1"/>
              <a:t>INPUT</a:t>
            </a:r>
            <a:r>
              <a:rPr lang="en-US"/>
              <a:t>: (N, 3, 100, 100) RGB Slike                                                  </a:t>
            </a:r>
            <a:r>
              <a:rPr lang="en-US" b="1"/>
              <a:t>OUTPUT</a:t>
            </a:r>
            <a:r>
              <a:rPr lang="en-US"/>
              <a:t>: (N, 261) </a:t>
            </a:r>
            <a:r>
              <a:rPr lang="en-US"/>
              <a:t>vjerojatnosti</a:t>
            </a:r>
            <a:r>
              <a:rPr lang="en-US"/>
              <a:t> klase</a:t>
            </a:r>
            <a:endParaRPr/>
          </a:p>
          <a:p>
            <a:pPr>
              <a:defRPr/>
            </a:pPr>
            <a:endParaRPr lang="en-US"/>
          </a:p>
        </p:txBody>
      </p:sp>
      <p:cxnSp>
        <p:nvCxnSpPr>
          <p:cNvPr id="1779193435" name="Straight Arrow Connector 5"/>
          <p:cNvCxnSpPr/>
          <p:nvPr/>
        </p:nvCxnSpPr>
        <p:spPr bwMode="auto">
          <a:xfrm flipH="1">
            <a:off x="1979341" y="464634"/>
            <a:ext cx="27878" cy="53711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6927384" name="Rectangle 6"/>
          <p:cNvSpPr/>
          <p:nvPr/>
        </p:nvSpPr>
        <p:spPr bwMode="auto">
          <a:xfrm>
            <a:off x="1170878" y="464634"/>
            <a:ext cx="1635511" cy="4739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Input</a:t>
            </a:r>
            <a:endParaRPr/>
          </a:p>
        </p:txBody>
      </p:sp>
      <p:sp>
        <p:nvSpPr>
          <p:cNvPr id="114108977" name="Rectangle 7"/>
          <p:cNvSpPr/>
          <p:nvPr/>
        </p:nvSpPr>
        <p:spPr bwMode="auto">
          <a:xfrm>
            <a:off x="1170878" y="1087245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Conv1</a:t>
            </a:r>
            <a:endParaRPr/>
          </a:p>
        </p:txBody>
      </p:sp>
      <p:sp>
        <p:nvSpPr>
          <p:cNvPr id="32720228" name="Rectangle 8"/>
          <p:cNvSpPr/>
          <p:nvPr/>
        </p:nvSpPr>
        <p:spPr bwMode="auto">
          <a:xfrm>
            <a:off x="1170877" y="1709854"/>
            <a:ext cx="1635511" cy="4739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MaxPool1</a:t>
            </a:r>
            <a:endParaRPr/>
          </a:p>
        </p:txBody>
      </p:sp>
      <p:sp>
        <p:nvSpPr>
          <p:cNvPr id="914207213" name="Rectangle 9"/>
          <p:cNvSpPr/>
          <p:nvPr/>
        </p:nvSpPr>
        <p:spPr bwMode="auto">
          <a:xfrm>
            <a:off x="1170877" y="2323171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Conv2</a:t>
            </a:r>
            <a:endParaRPr lang="en-US"/>
          </a:p>
        </p:txBody>
      </p:sp>
      <p:sp>
        <p:nvSpPr>
          <p:cNvPr id="2010674461" name="Rectangle 10"/>
          <p:cNvSpPr/>
          <p:nvPr/>
        </p:nvSpPr>
        <p:spPr bwMode="auto">
          <a:xfrm>
            <a:off x="1170877" y="2982951"/>
            <a:ext cx="1635511" cy="4739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MaxPool2</a:t>
            </a:r>
            <a:endParaRPr/>
          </a:p>
        </p:txBody>
      </p:sp>
      <p:sp>
        <p:nvSpPr>
          <p:cNvPr id="2116519882" name="Rectangle 11"/>
          <p:cNvSpPr/>
          <p:nvPr/>
        </p:nvSpPr>
        <p:spPr bwMode="auto">
          <a:xfrm>
            <a:off x="1170878" y="3624147"/>
            <a:ext cx="1635511" cy="473926"/>
          </a:xfrm>
          <a:prstGeom prst="rect">
            <a:avLst/>
          </a:prstGeom>
          <a:solidFill>
            <a:srgbClr val="F59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Flatten</a:t>
            </a:r>
            <a:endParaRPr/>
          </a:p>
        </p:txBody>
      </p:sp>
      <p:sp>
        <p:nvSpPr>
          <p:cNvPr id="485026554" name="Rectangle 12"/>
          <p:cNvSpPr/>
          <p:nvPr/>
        </p:nvSpPr>
        <p:spPr bwMode="auto">
          <a:xfrm>
            <a:off x="1170877" y="4311805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FC1</a:t>
            </a:r>
            <a:endParaRPr/>
          </a:p>
        </p:txBody>
      </p:sp>
      <p:sp>
        <p:nvSpPr>
          <p:cNvPr id="995605288" name="Rectangle 13"/>
          <p:cNvSpPr/>
          <p:nvPr/>
        </p:nvSpPr>
        <p:spPr bwMode="auto">
          <a:xfrm>
            <a:off x="1170877" y="4999463"/>
            <a:ext cx="1635511" cy="4739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FC2</a:t>
            </a:r>
            <a:endParaRPr/>
          </a:p>
        </p:txBody>
      </p:sp>
      <p:sp>
        <p:nvSpPr>
          <p:cNvPr id="1649740064" name="Rectangle 14"/>
          <p:cNvSpPr/>
          <p:nvPr/>
        </p:nvSpPr>
        <p:spPr bwMode="auto">
          <a:xfrm>
            <a:off x="1170878" y="5659244"/>
            <a:ext cx="1635511" cy="4739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/>
              <a:t>Softmax</a:t>
            </a:r>
            <a:endParaRPr/>
          </a:p>
        </p:txBody>
      </p:sp>
      <p:sp>
        <p:nvSpPr>
          <p:cNvPr id="1719540844" name="TextBox 17"/>
          <p:cNvSpPr txBox="1"/>
          <p:nvPr/>
        </p:nvSpPr>
        <p:spPr bwMode="auto">
          <a:xfrm>
            <a:off x="3048000" y="520390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3, 100, 100)</a:t>
            </a:r>
            <a:endParaRPr/>
          </a:p>
        </p:txBody>
      </p:sp>
      <p:sp>
        <p:nvSpPr>
          <p:cNvPr id="993414887" name="TextBox 19"/>
          <p:cNvSpPr txBox="1"/>
          <p:nvPr/>
        </p:nvSpPr>
        <p:spPr bwMode="auto">
          <a:xfrm>
            <a:off x="3048000" y="1143000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8, 100, 100)</a:t>
            </a:r>
            <a:endParaRPr/>
          </a:p>
        </p:txBody>
      </p:sp>
      <p:sp>
        <p:nvSpPr>
          <p:cNvPr id="1198991469" name="TextBox 20"/>
          <p:cNvSpPr txBox="1"/>
          <p:nvPr/>
        </p:nvSpPr>
        <p:spPr bwMode="auto">
          <a:xfrm>
            <a:off x="3048000" y="1765609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8, 50, 50)</a:t>
            </a:r>
            <a:endParaRPr/>
          </a:p>
        </p:txBody>
      </p:sp>
      <p:sp>
        <p:nvSpPr>
          <p:cNvPr id="1333315218" name="TextBox 22"/>
          <p:cNvSpPr txBox="1"/>
          <p:nvPr/>
        </p:nvSpPr>
        <p:spPr bwMode="auto">
          <a:xfrm>
            <a:off x="3048000" y="2378925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16, 50, 50)</a:t>
            </a:r>
            <a:endParaRPr/>
          </a:p>
        </p:txBody>
      </p:sp>
      <p:sp>
        <p:nvSpPr>
          <p:cNvPr id="2117440478" name="TextBox 23"/>
          <p:cNvSpPr txBox="1"/>
          <p:nvPr/>
        </p:nvSpPr>
        <p:spPr bwMode="auto">
          <a:xfrm>
            <a:off x="3048000" y="3038706"/>
            <a:ext cx="18418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16, 25, 25)</a:t>
            </a:r>
            <a:endParaRPr lang="en-US"/>
          </a:p>
        </p:txBody>
      </p:sp>
      <p:sp>
        <p:nvSpPr>
          <p:cNvPr id="468291827" name="TextBox 24"/>
          <p:cNvSpPr txBox="1"/>
          <p:nvPr/>
        </p:nvSpPr>
        <p:spPr bwMode="auto">
          <a:xfrm>
            <a:off x="3047999" y="3679901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10 000)</a:t>
            </a:r>
            <a:endParaRPr/>
          </a:p>
        </p:txBody>
      </p:sp>
      <p:sp>
        <p:nvSpPr>
          <p:cNvPr id="1513028884" name="TextBox 25"/>
          <p:cNvSpPr txBox="1"/>
          <p:nvPr/>
        </p:nvSpPr>
        <p:spPr bwMode="auto">
          <a:xfrm>
            <a:off x="3047999" y="4367559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128)</a:t>
            </a:r>
            <a:endParaRPr/>
          </a:p>
        </p:txBody>
      </p:sp>
      <p:sp>
        <p:nvSpPr>
          <p:cNvPr id="1378111513" name="TextBox 26"/>
          <p:cNvSpPr txBox="1"/>
          <p:nvPr/>
        </p:nvSpPr>
        <p:spPr bwMode="auto">
          <a:xfrm>
            <a:off x="3047999" y="5055216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(N, 261)</a:t>
            </a:r>
            <a:endParaRPr/>
          </a:p>
        </p:txBody>
      </p:sp>
      <p:sp>
        <p:nvSpPr>
          <p:cNvPr id="930660439" name="TextBox 27"/>
          <p:cNvSpPr txBox="1"/>
          <p:nvPr/>
        </p:nvSpPr>
        <p:spPr bwMode="auto">
          <a:xfrm>
            <a:off x="3047999" y="5714997"/>
            <a:ext cx="18418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Probabilities</a:t>
            </a:r>
            <a:endParaRPr lang="en-US"/>
          </a:p>
        </p:txBody>
      </p:sp>
      <p:sp>
        <p:nvSpPr>
          <p:cNvPr id="165415558" name="TextBox 28"/>
          <p:cNvSpPr txBox="1"/>
          <p:nvPr/>
        </p:nvSpPr>
        <p:spPr bwMode="auto">
          <a:xfrm>
            <a:off x="7304047" y="566852"/>
            <a:ext cx="425581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100x100 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RGB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, </a:t>
            </a:r>
            <a:r>
              <a:rPr lang="en-US">
                <a:solidFill>
                  <a:schemeClr val="bg1">
                    <a:lumMod val="49000"/>
                  </a:schemeClr>
                </a:solidFill>
                <a:latin typeface="Tw Cen MT"/>
                <a:ea typeface="Calibri"/>
                <a:cs typeface="Calibri"/>
              </a:rPr>
              <a:t>normalized 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[0, 1]</a:t>
            </a:r>
            <a:endParaRPr/>
          </a:p>
        </p:txBody>
      </p:sp>
      <p:sp>
        <p:nvSpPr>
          <p:cNvPr id="832957362" name="TextBox 29"/>
          <p:cNvSpPr txBox="1"/>
          <p:nvPr/>
        </p:nvSpPr>
        <p:spPr bwMode="auto">
          <a:xfrm>
            <a:off x="7304048" y="1189462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8 filters 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•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3x3 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•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pad=1 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→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ReLU</a:t>
            </a:r>
            <a:endParaRPr/>
          </a:p>
        </p:txBody>
      </p:sp>
      <p:sp>
        <p:nvSpPr>
          <p:cNvPr id="369013722" name="TextBox 30"/>
          <p:cNvSpPr txBox="1"/>
          <p:nvPr/>
        </p:nvSpPr>
        <p:spPr bwMode="auto">
          <a:xfrm>
            <a:off x="7304048" y="1756316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2x2, 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stri</a:t>
            </a:r>
            <a:r>
              <a:rPr lang="en-US">
                <a:solidFill>
                  <a:schemeClr val="bg1">
                    <a:lumMod val="49000"/>
                  </a:schemeClr>
                </a:solidFill>
                <a:latin typeface="Tw Cen MT"/>
              </a:rPr>
              <a:t>de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 2 (halves spatial dim)</a:t>
            </a:r>
            <a:endParaRPr/>
          </a:p>
        </p:txBody>
      </p:sp>
      <p:sp>
        <p:nvSpPr>
          <p:cNvPr id="1154638280" name="TextBox 31"/>
          <p:cNvSpPr txBox="1"/>
          <p:nvPr/>
        </p:nvSpPr>
        <p:spPr bwMode="auto">
          <a:xfrm>
            <a:off x="7304048" y="2369633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16 filters 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•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3x3 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•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pad=1 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→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ReLU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1688118313" name="TextBox 32"/>
          <p:cNvSpPr txBox="1"/>
          <p:nvPr/>
        </p:nvSpPr>
        <p:spPr bwMode="auto">
          <a:xfrm>
            <a:off x="7304048" y="3038706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2x2, stride 2</a:t>
            </a:r>
            <a:endParaRPr/>
          </a:p>
        </p:txBody>
      </p:sp>
      <p:sp>
        <p:nvSpPr>
          <p:cNvPr id="143804108" name="TextBox 33"/>
          <p:cNvSpPr txBox="1"/>
          <p:nvPr/>
        </p:nvSpPr>
        <p:spPr bwMode="auto">
          <a:xfrm>
            <a:off x="7304048" y="3624145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16 x 25 x 25 = 10 000 features</a:t>
            </a:r>
            <a:endParaRPr/>
          </a:p>
        </p:txBody>
      </p:sp>
      <p:sp>
        <p:nvSpPr>
          <p:cNvPr id="1748808553" name="TextBox 34"/>
          <p:cNvSpPr txBox="1"/>
          <p:nvPr/>
        </p:nvSpPr>
        <p:spPr bwMode="auto">
          <a:xfrm>
            <a:off x="7304048" y="4311803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10 000 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→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128 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• 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ReLU</a:t>
            </a:r>
            <a:endParaRPr/>
          </a:p>
        </p:txBody>
      </p:sp>
      <p:sp>
        <p:nvSpPr>
          <p:cNvPr id="1370384840" name="TextBox 35"/>
          <p:cNvSpPr txBox="1"/>
          <p:nvPr/>
        </p:nvSpPr>
        <p:spPr bwMode="auto">
          <a:xfrm>
            <a:off x="7304047" y="5045925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128 </a:t>
            </a:r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→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 </a:t>
            </a:r>
            <a:r>
              <a:rPr lang="en-US">
                <a:solidFill>
                  <a:schemeClr val="bg1">
                    <a:lumMod val="49000"/>
                  </a:schemeClr>
                </a:solidFill>
              </a:rPr>
              <a:t>num_classes</a:t>
            </a:r>
            <a:endParaRPr/>
          </a:p>
        </p:txBody>
      </p:sp>
      <p:sp>
        <p:nvSpPr>
          <p:cNvPr id="454540881" name="TextBox 36"/>
          <p:cNvSpPr txBox="1"/>
          <p:nvPr/>
        </p:nvSpPr>
        <p:spPr bwMode="auto">
          <a:xfrm>
            <a:off x="7304047" y="5659242"/>
            <a:ext cx="4248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chemeClr val="bg1">
                    <a:lumMod val="49000"/>
                  </a:schemeClr>
                </a:solidFill>
              </a:rPr>
              <a:t>Sum = 1.0 per sample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185286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/>
              <a:t>Forward &amp; backwards Pass</a:t>
            </a:r>
            <a:endParaRPr/>
          </a:p>
        </p:txBody>
      </p:sp>
      <p:sp>
        <p:nvSpPr>
          <p:cNvPr id="1825873109" name="Text Placeholder 2"/>
          <p:cNvSpPr>
            <a:spLocks noGrp="1"/>
          </p:cNvSpPr>
          <p:nvPr/>
        </p:nvSpPr>
        <p:spPr bwMode="auto">
          <a:xfrm>
            <a:off x="513595" y="1880624"/>
            <a:ext cx="5578966" cy="82296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txBody>
          <a:bodyPr vert="horz" lIns="137160" tIns="45720" rIns="137160" bIns="45720" rtlCol="0" anchor="ctr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w Cen MT"/>
              <a:buNone/>
              <a:defRPr sz="2300" b="0" cap="none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800" b="1">
                <a:solidFill>
                  <a:schemeClr val="bg1"/>
                </a:solidFill>
              </a:rPr>
              <a:t>Forward Pass</a:t>
            </a:r>
            <a:endParaRPr/>
          </a:p>
        </p:txBody>
      </p:sp>
      <p:sp>
        <p:nvSpPr>
          <p:cNvPr id="829169222" name="Text Placeholder 4"/>
          <p:cNvSpPr>
            <a:spLocks noGrp="1"/>
          </p:cNvSpPr>
          <p:nvPr/>
        </p:nvSpPr>
        <p:spPr bwMode="auto">
          <a:xfrm>
            <a:off x="6203091" y="1880624"/>
            <a:ext cx="5580393" cy="82296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txBody>
          <a:bodyPr vert="horz" lIns="137160" tIns="45720" rIns="137160" bIns="45720" rtlCol="0" anchor="ctr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w Cen MT"/>
              <a:buNone/>
              <a:defRPr lang="en-US" sz="2300" b="0" cap="none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800" b="1">
                <a:solidFill>
                  <a:schemeClr val="bg1"/>
                </a:solidFill>
              </a:rPr>
              <a:t>Backward Pass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2520087" name="Content Placeholder 5"/>
          <p:cNvSpPr>
            <a:spLocks noGrp="1"/>
          </p:cNvSpPr>
          <p:nvPr/>
        </p:nvSpPr>
        <p:spPr bwMode="auto">
          <a:xfrm>
            <a:off x="6203091" y="2720146"/>
            <a:ext cx="5575556" cy="3791771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txBody>
          <a:bodyPr vert="horz" lIns="45720" tIns="45720" rIns="45720" bIns="45720" rtlCol="0" anchor="t">
            <a:normAutofit/>
          </a:bodyPr>
          <a:lstStyle>
            <a:lvl1pPr marL="9144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/>
              <a:buChar char=" 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1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5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0555" lvl="1" indent="-457200">
              <a:buFont typeface="Courier New"/>
              <a:buChar char="o"/>
              <a:defRPr/>
            </a:pPr>
            <a:endParaRPr lang="en-US" sz="1600">
              <a:latin typeface="Tw Cen MT"/>
              <a:ea typeface="Calibri"/>
              <a:cs typeface="Calibri"/>
            </a:endParaRPr>
          </a:p>
          <a:p>
            <a:pPr marL="173355" lvl="1" indent="0">
              <a:buNone/>
              <a:defRPr/>
            </a:pPr>
            <a:endParaRPr lang="en-US" sz="1600">
              <a:latin typeface="Tw Cen MT"/>
              <a:ea typeface="Calibri"/>
              <a:cs typeface="Calibri"/>
            </a:endParaRPr>
          </a:p>
          <a:p>
            <a:pPr marL="630555" lvl="1" indent="-457200">
              <a:buFont typeface="Tw Cen MT"/>
              <a:buAutoNum type="arabicPeriod"/>
              <a:defRPr/>
            </a:pPr>
            <a:endParaRPr lang="en-US" sz="1600">
              <a:ea typeface="+mn-lt"/>
              <a:cs typeface="+mn-lt"/>
            </a:endParaRPr>
          </a:p>
        </p:txBody>
      </p:sp>
      <p:sp>
        <p:nvSpPr>
          <p:cNvPr id="461071926" name="Content Placeholder 5"/>
          <p:cNvSpPr txBox="1"/>
          <p:nvPr/>
        </p:nvSpPr>
        <p:spPr bwMode="auto">
          <a:xfrm>
            <a:off x="516219" y="2719797"/>
            <a:ext cx="5584521" cy="3795595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txBody>
          <a:bodyPr vert="horz" lIns="45720" tIns="45720" rIns="45720" bIns="45720" rtlCol="0" anchor="t">
            <a:normAutofit/>
          </a:bodyPr>
          <a:lstStyle>
            <a:defPPr>
              <a:defRPr lang="en-US"/>
            </a:defPPr>
            <a:lvl1pPr marL="91440" indent="-91440" algn="l" defTabSz="91440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/>
              <a:buChar char=" 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1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5" indent="-137160" algn="l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/>
              <a:buChar char="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0555" lvl="1" indent="-457200">
              <a:buFont typeface="Courier New"/>
              <a:buChar char="o"/>
              <a:defRPr/>
            </a:pPr>
            <a:endParaRPr lang="en-US"/>
          </a:p>
          <a:p>
            <a:pPr marL="630555" lvl="1" indent="-457200">
              <a:buFont typeface="Courier New"/>
              <a:buChar char="o"/>
              <a:defRPr/>
            </a:pPr>
            <a:endParaRPr lang="en-US" sz="1600"/>
          </a:p>
          <a:p>
            <a:pPr marL="630555" lvl="1" indent="-457200">
              <a:buFont typeface="Courier New"/>
              <a:buChar char="o"/>
              <a:defRPr/>
            </a:pP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0452275" name="TextBox 8"/>
          <p:cNvSpPr txBox="1"/>
          <p:nvPr/>
        </p:nvSpPr>
        <p:spPr bwMode="auto">
          <a:xfrm>
            <a:off x="522670" y="2898828"/>
            <a:ext cx="5465413" cy="3566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Ulazni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tokovi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prolaze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kroz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sve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slojeve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redom</a:t>
            </a:r>
            <a:endParaRPr lang="en-US" sz="1600" b="1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        Slike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ulaze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kao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nizovi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(N, 3, 100, 100)</a:t>
            </a:r>
            <a:endParaRPr lang="en-US"/>
          </a:p>
          <a:p>
            <a:pPr lvl="1">
              <a:defRPr/>
            </a:pPr>
            <a:endParaRPr lang="en-US" sz="1600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Svaki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sloj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transformira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podatke</a:t>
            </a:r>
            <a:endParaRPr lang="en-US" sz="1600"/>
          </a:p>
          <a:p>
            <a:pPr lvl="1">
              <a:defRPr/>
            </a:pP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Konvolucija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primjenjuje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filtre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, </a:t>
            </a:r>
            <a:endParaRPr lang="en-US" sz="1600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 lvl="1">
              <a:defRPr/>
            </a:pP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 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ReLU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poništava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negativne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vrijednosti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,</a:t>
            </a:r>
            <a:endParaRPr lang="en-US" sz="1600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 lvl="1">
              <a:defRPr/>
            </a:pP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Pool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smanjuje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prostorne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dimenzije</a:t>
            </a:r>
            <a:endParaRPr lang="en-US" sz="1600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  <a:p>
            <a:pPr lvl="1">
              <a:defRPr/>
            </a:pPr>
            <a:endParaRPr lang="en-US" sz="1600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Softmax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izbacuje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vjerojatnosti</a:t>
            </a:r>
            <a:endParaRPr lang="en-US" sz="1600"/>
          </a:p>
          <a:p>
            <a:pPr lvl="1">
              <a:defRPr/>
            </a:pP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Završni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(N, 261)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vektor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sabire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1,0 po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slici</a:t>
            </a:r>
            <a:endParaRPr lang="en-US" sz="1600"/>
          </a:p>
          <a:p>
            <a:pPr lvl="1">
              <a:defRPr/>
            </a:pPr>
            <a:endParaRPr lang="en-US" sz="1600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Pohranjuje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ulaze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za </a:t>
            </a:r>
            <a:r>
              <a:rPr lang="en-US" sz="1600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unatrag</a:t>
            </a:r>
            <a:endParaRPr lang="en-US" sz="1600"/>
          </a:p>
          <a:p>
            <a:pPr lvl="1">
              <a:defRPr/>
            </a:pP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Svaki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sloj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sprema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ono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što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je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primio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tako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da</a:t>
            </a:r>
            <a:endParaRPr lang="en-US" sz="1600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 lvl="1">
              <a:defRPr/>
            </a:pP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gradijenti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mogu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teći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natrag</a:t>
            </a:r>
            <a:endParaRPr lang="en-US" sz="1600"/>
          </a:p>
        </p:txBody>
      </p:sp>
      <p:sp>
        <p:nvSpPr>
          <p:cNvPr id="1090098660" name="TextBox 9"/>
          <p:cNvSpPr txBox="1"/>
          <p:nvPr/>
        </p:nvSpPr>
        <p:spPr bwMode="auto">
          <a:xfrm>
            <a:off x="6204249" y="2898824"/>
            <a:ext cx="5465054" cy="3657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Gradijent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teče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obrnutim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redoslijedom</a:t>
            </a:r>
            <a:endParaRPr lang="en-US"/>
          </a:p>
          <a:p>
            <a:pPr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        Borna 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izračunava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dL/d (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softmax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)</a:t>
            </a:r>
            <a:endParaRPr lang="en-US"/>
          </a:p>
          <a:p>
            <a:pPr>
              <a:buFont typeface="Arial"/>
              <a:defRPr/>
            </a:pPr>
            <a:endParaRPr lang="en-US" b="1">
              <a:solidFill>
                <a:srgbClr val="1B2A3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Svaki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sloj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dobiva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d_out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vraća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d_in</a:t>
            </a:r>
            <a:endParaRPr lang="en-US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        Lančano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pravilo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pomnožit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uzvodni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endParaRPr lang="en-US">
              <a:solidFill>
                <a:srgbClr val="000000"/>
              </a:solidFill>
              <a:latin typeface="Tw Cen MT"/>
              <a:ea typeface="Calibri"/>
              <a:cs typeface="Calibri"/>
            </a:endParaRPr>
          </a:p>
          <a:p>
            <a:pPr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        gradient 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putem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lokalnog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Jacobija</a:t>
            </a:r>
            <a:endParaRPr lang="en-US"/>
          </a:p>
          <a:p>
            <a:pPr>
              <a:defRPr/>
            </a:pPr>
            <a:endParaRPr lang="en-US" b="1">
              <a:solidFill>
                <a:srgbClr val="1B2A3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Konvolucija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pohranjuje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d_filters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d_biases</a:t>
            </a:r>
            <a:endParaRPr lang="en-US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         Optimizator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čita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ažurira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težine</a:t>
            </a:r>
            <a:endParaRPr lang="en-US"/>
          </a:p>
          <a:p>
            <a:pPr marL="285750" indent="-285750">
              <a:buFont typeface="Arial"/>
              <a:buChar char="•"/>
              <a:defRPr/>
            </a:pPr>
            <a:endParaRPr lang="en-US" b="1">
              <a:solidFill>
                <a:srgbClr val="1B2A33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Ovdje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je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primijenjena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maska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 za </a:t>
            </a:r>
            <a:r>
              <a:rPr lang="en-US" b="1">
                <a:solidFill>
                  <a:srgbClr val="1B2A33"/>
                </a:solidFill>
                <a:latin typeface="Calibri"/>
                <a:ea typeface="Calibri"/>
                <a:cs typeface="Calibri"/>
              </a:rPr>
              <a:t>orezivanje</a:t>
            </a:r>
            <a:endParaRPr lang="en-US" b="1">
              <a:solidFill>
                <a:srgbClr val="1B2A33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           Silvia 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postavlja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nulu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porezane 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težine</a:t>
            </a:r>
            <a:r>
              <a:rPr lang="en-US">
                <a:solidFill>
                  <a:srgbClr val="4A6572"/>
                </a:solidFill>
                <a:latin typeface="Calibri"/>
                <a:ea typeface="Calibri"/>
                <a:cs typeface="Calibri"/>
              </a:rPr>
              <a:t> </a:t>
            </a:r>
            <a:endParaRPr/>
          </a:p>
          <a:p>
            <a:pPr marL="228600" indent="-228600">
              <a:buFont typeface="Arial"/>
              <a:buChar char="•"/>
              <a:defRPr/>
            </a:pPr>
            <a:endParaRPr lang="en-US">
              <a:solidFill>
                <a:srgbClr val="4A657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8697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/>
              <a:t>Primjer</a:t>
            </a:r>
            <a:r>
              <a:rPr lang="en-US" sz="4400"/>
              <a:t> </a:t>
            </a:r>
            <a:r>
              <a:rPr lang="en-US" sz="4400"/>
              <a:t>sa</a:t>
            </a:r>
            <a:r>
              <a:rPr lang="en-US" sz="4400"/>
              <a:t> </a:t>
            </a:r>
            <a:r>
              <a:rPr lang="en-US" sz="4400"/>
              <a:t>lažnim</a:t>
            </a:r>
            <a:r>
              <a:rPr lang="en-US" sz="4400"/>
              <a:t> </a:t>
            </a:r>
            <a:r>
              <a:rPr lang="en-US" sz="4400"/>
              <a:t>podacima</a:t>
            </a:r>
            <a:endParaRPr sz="4400"/>
          </a:p>
        </p:txBody>
      </p:sp>
      <p:pic>
        <p:nvPicPr>
          <p:cNvPr id="1676976777" name="Content Placeholder 6" descr="A screenshot of a computer&#10;&#10;AI-generated content may be incorrect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0" r="12572" b="0"/>
          <a:stretch/>
        </p:blipFill>
        <p:spPr bwMode="auto">
          <a:xfrm>
            <a:off x="427197" y="2080846"/>
            <a:ext cx="7761784" cy="4394589"/>
          </a:xfrm>
          <a:prstGeom prst="rect">
            <a:avLst/>
          </a:prstGeom>
        </p:spPr>
      </p:pic>
      <p:sp>
        <p:nvSpPr>
          <p:cNvPr id="1123298754" name="Rectangle 8"/>
          <p:cNvSpPr/>
          <p:nvPr/>
        </p:nvSpPr>
        <p:spPr bwMode="auto">
          <a:xfrm>
            <a:off x="8874512" y="2081561"/>
            <a:ext cx="2797096" cy="12173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3200"/>
              <a:t>3</a:t>
            </a:r>
            <a:endParaRPr/>
          </a:p>
          <a:p>
            <a:pPr algn="ctr">
              <a:defRPr/>
            </a:pPr>
            <a:r>
              <a:rPr lang="en-US" sz="2000"/>
              <a:t>Provjerena</a:t>
            </a:r>
            <a:r>
              <a:rPr lang="en-US" sz="2000"/>
              <a:t> </a:t>
            </a:r>
            <a:r>
              <a:rPr lang="en-US" sz="2000"/>
              <a:t>testa</a:t>
            </a:r>
            <a:endParaRPr/>
          </a:p>
          <a:p>
            <a:pPr algn="ctr">
              <a:defRPr/>
            </a:pPr>
            <a:endParaRPr lang="en-US"/>
          </a:p>
        </p:txBody>
      </p:sp>
      <p:sp>
        <p:nvSpPr>
          <p:cNvPr id="233288348" name="Rectangle 12"/>
          <p:cNvSpPr/>
          <p:nvPr/>
        </p:nvSpPr>
        <p:spPr bwMode="auto">
          <a:xfrm>
            <a:off x="8874512" y="3670609"/>
            <a:ext cx="2797096" cy="121734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3200"/>
              <a:t>5.4 </a:t>
            </a:r>
            <a:r>
              <a:rPr lang="en-US" sz="3200">
                <a:solidFill>
                  <a:schemeClr val="bg1"/>
                </a:solidFill>
              </a:rPr>
              <a:t>→</a:t>
            </a:r>
            <a:r>
              <a:rPr lang="en-US" sz="3200"/>
              <a:t> 1.5</a:t>
            </a:r>
            <a:endParaRPr/>
          </a:p>
          <a:p>
            <a:pPr algn="ctr">
              <a:defRPr/>
            </a:pPr>
            <a:r>
              <a:rPr lang="en-US"/>
              <a:t>Pad </a:t>
            </a:r>
            <a:r>
              <a:rPr lang="en-US"/>
              <a:t>gubitka</a:t>
            </a:r>
            <a:endParaRPr/>
          </a:p>
          <a:p>
            <a:pPr algn="ctr">
              <a:defRPr/>
            </a:pPr>
            <a:endParaRPr lang="en-US"/>
          </a:p>
        </p:txBody>
      </p:sp>
      <p:sp>
        <p:nvSpPr>
          <p:cNvPr id="1349790179" name="Rectangle 2"/>
          <p:cNvSpPr/>
          <p:nvPr/>
        </p:nvSpPr>
        <p:spPr bwMode="auto">
          <a:xfrm>
            <a:off x="8874512" y="5259659"/>
            <a:ext cx="2797096" cy="12173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3200"/>
              <a:t>0</a:t>
            </a:r>
            <a:endParaRPr/>
          </a:p>
          <a:p>
            <a:pPr algn="ctr">
              <a:defRPr/>
            </a:pPr>
            <a:r>
              <a:rPr lang="en-US"/>
              <a:t>Vanjskih</a:t>
            </a:r>
            <a:r>
              <a:rPr lang="en-US"/>
              <a:t> </a:t>
            </a:r>
            <a:r>
              <a:rPr lang="en-US"/>
              <a:t>biblioteka</a:t>
            </a:r>
            <a:endParaRPr/>
          </a:p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105566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89684009" name="TextBox 2"/>
          <p:cNvSpPr txBox="1"/>
          <p:nvPr/>
        </p:nvSpPr>
        <p:spPr bwMode="auto">
          <a:xfrm>
            <a:off x="777240" y="566928"/>
            <a:ext cx="3774505" cy="579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sz="3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 Light"/>
                <a:ea typeface="+mn-ea"/>
                <a:cs typeface="+mn-cs"/>
              </a:rPr>
              <a:t>TRENIRANJE MODELA</a:t>
            </a:r>
            <a:endParaRPr/>
          </a:p>
        </p:txBody>
      </p:sp>
      <p:sp>
        <p:nvSpPr>
          <p:cNvPr id="481789116" name="Rectangle 3"/>
          <p:cNvSpPr/>
          <p:nvPr/>
        </p:nvSpPr>
        <p:spPr bwMode="auto">
          <a:xfrm>
            <a:off x="822960" y="1828800"/>
            <a:ext cx="2743200" cy="109728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INPUT</a:t>
            </a:r>
            <a:b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Fruits-360 slike</a:t>
            </a:r>
            <a:b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+ SimpleCNN</a:t>
            </a:r>
            <a:endParaRPr/>
          </a:p>
        </p:txBody>
      </p:sp>
      <p:cxnSp>
        <p:nvCxnSpPr>
          <p:cNvPr id="1428238706" name="Connector 4"/>
          <p:cNvCxnSpPr/>
          <p:nvPr/>
        </p:nvCxnSpPr>
        <p:spPr bwMode="auto">
          <a:xfrm>
            <a:off x="3566160" y="2377440"/>
            <a:ext cx="594360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828751" name="Rectangle 5"/>
          <p:cNvSpPr/>
          <p:nvPr/>
        </p:nvSpPr>
        <p:spPr bwMode="auto">
          <a:xfrm>
            <a:off x="4160519" y="1828800"/>
            <a:ext cx="3017519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person2_train.py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loss + optimizer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training loop</a:t>
            </a:r>
            <a:endParaRPr/>
          </a:p>
        </p:txBody>
      </p:sp>
      <p:cxnSp>
        <p:nvCxnSpPr>
          <p:cNvPr id="102651173" name="Connector 6"/>
          <p:cNvCxnSpPr/>
          <p:nvPr/>
        </p:nvCxnSpPr>
        <p:spPr bwMode="auto">
          <a:xfrm>
            <a:off x="7178039" y="2377440"/>
            <a:ext cx="594360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4381484" name="Rectangle 7"/>
          <p:cNvSpPr/>
          <p:nvPr/>
        </p:nvSpPr>
        <p:spPr bwMode="auto">
          <a:xfrm>
            <a:off x="7772400" y="1828800"/>
            <a:ext cx="27432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OUTPUT</a:t>
            </a:r>
            <a:b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models/cnn_fruits.npz</a:t>
            </a:r>
            <a:b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za pruning/quantization</a:t>
            </a:r>
            <a:endParaRPr/>
          </a:p>
        </p:txBody>
      </p:sp>
      <p:sp>
        <p:nvSpPr>
          <p:cNvPr id="77524344" name="Rounded Rectangle 8"/>
          <p:cNvSpPr/>
          <p:nvPr/>
        </p:nvSpPr>
        <p:spPr bwMode="auto">
          <a:xfrm>
            <a:off x="914400" y="3840480"/>
            <a:ext cx="987552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Uloga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: 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pripremiti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referentni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, 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nekomprimirani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model za 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kasniju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usporedbu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kompresije</a:t>
            </a: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+mn-ea"/>
              <a:cs typeface="+mn-cs"/>
            </a:endParaRPr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</a:defRPr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808853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72934721" name="TextBox 2"/>
          <p:cNvSpPr txBox="1"/>
          <p:nvPr/>
        </p:nvSpPr>
        <p:spPr bwMode="auto">
          <a:xfrm>
            <a:off x="777240" y="566928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sz="3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 Light"/>
                <a:ea typeface="+mn-ea"/>
                <a:cs typeface="+mn-cs"/>
              </a:rPr>
              <a:t>PODACI I UČITAVANJE</a:t>
            </a:r>
            <a:endParaRPr/>
          </a:p>
        </p:txBody>
      </p:sp>
      <p:sp>
        <p:nvSpPr>
          <p:cNvPr id="595287561" name="Rectangle 3"/>
          <p:cNvSpPr/>
          <p:nvPr/>
        </p:nvSpPr>
        <p:spPr bwMode="auto">
          <a:xfrm>
            <a:off x="731520" y="1737360"/>
            <a:ext cx="1828800" cy="64008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Training/</a:t>
            </a:r>
            <a:endParaRPr/>
          </a:p>
        </p:txBody>
      </p:sp>
      <p:sp>
        <p:nvSpPr>
          <p:cNvPr id="1895110910" name="Rectangle 4"/>
          <p:cNvSpPr/>
          <p:nvPr/>
        </p:nvSpPr>
        <p:spPr bwMode="auto">
          <a:xfrm>
            <a:off x="731520" y="2743200"/>
            <a:ext cx="1828800" cy="64008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Test/</a:t>
            </a:r>
            <a:endParaRPr/>
          </a:p>
        </p:txBody>
      </p:sp>
      <p:sp>
        <p:nvSpPr>
          <p:cNvPr id="2083995012" name="Rounded Rectangle 5"/>
          <p:cNvSpPr/>
          <p:nvPr/>
        </p:nvSpPr>
        <p:spPr bwMode="auto">
          <a:xfrm>
            <a:off x="3017519" y="1371600"/>
            <a:ext cx="3383280" cy="256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Automatska mapa klasa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klase = nazivi foldera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sortiranje daje stabilne labele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broj klasa se ne hardkodira</a:t>
            </a:r>
            <a:endParaRPr/>
          </a:p>
        </p:txBody>
      </p:sp>
      <p:sp>
        <p:nvSpPr>
          <p:cNvPr id="899900137" name="Rounded Rectangle 6"/>
          <p:cNvSpPr/>
          <p:nvPr/>
        </p:nvSpPr>
        <p:spPr bwMode="auto">
          <a:xfrm>
            <a:off x="6858000" y="1371600"/>
            <a:ext cx="3657600" cy="256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Format za CNN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RGB 100x100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normalizacija: [0, 1]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format: (N, 3, 100, 100)</a:t>
            </a:r>
            <a:endParaRPr/>
          </a:p>
        </p:txBody>
      </p:sp>
      <p:sp>
        <p:nvSpPr>
          <p:cNvPr id="595973208" name="Rounded Rectangle 7"/>
          <p:cNvSpPr/>
          <p:nvPr/>
        </p:nvSpPr>
        <p:spPr bwMode="auto">
          <a:xfrm>
            <a:off x="1005840" y="4572000"/>
            <a:ext cx="9601200" cy="100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</a:defRPr>
            </a:pP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Glavni trening koristi path-based loader: u memoriji su putanje, a slike se učitavaju tek po mini-batchu.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22250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70734760" name="TextBox 2"/>
          <p:cNvSpPr txBox="1"/>
          <p:nvPr/>
        </p:nvSpPr>
        <p:spPr bwMode="auto">
          <a:xfrm>
            <a:off x="777240" y="566928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sz="3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 Light"/>
                <a:ea typeface="+mn-ea"/>
                <a:cs typeface="+mn-cs"/>
              </a:rPr>
              <a:t>TRAINING LOOP</a:t>
            </a:r>
            <a:endParaRPr/>
          </a:p>
        </p:txBody>
      </p:sp>
      <p:sp>
        <p:nvSpPr>
          <p:cNvPr id="1388085670" name="Rectangle 3"/>
          <p:cNvSpPr/>
          <p:nvPr/>
        </p:nvSpPr>
        <p:spPr bwMode="auto">
          <a:xfrm>
            <a:off x="502920" y="1828800"/>
            <a:ext cx="1600200" cy="96012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3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1</a:t>
            </a:r>
            <a:br>
              <a:rPr sz="13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Forward</a:t>
            </a:r>
            <a:br>
              <a:rPr sz="13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model.forward</a:t>
            </a:r>
            <a:endParaRPr/>
          </a:p>
        </p:txBody>
      </p:sp>
      <p:cxnSp>
        <p:nvCxnSpPr>
          <p:cNvPr id="1991818410" name="Connector 4"/>
          <p:cNvCxnSpPr/>
          <p:nvPr/>
        </p:nvCxnSpPr>
        <p:spPr bwMode="auto">
          <a:xfrm>
            <a:off x="2103120" y="2304288"/>
            <a:ext cx="338328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740022" name="Rectangle 5"/>
          <p:cNvSpPr/>
          <p:nvPr/>
        </p:nvSpPr>
        <p:spPr bwMode="auto">
          <a:xfrm>
            <a:off x="2377439" y="1828800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2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Train acc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iz istog outputa</a:t>
            </a:r>
            <a:endParaRPr/>
          </a:p>
        </p:txBody>
      </p:sp>
      <p:cxnSp>
        <p:nvCxnSpPr>
          <p:cNvPr id="1054077360" name="Connector 6"/>
          <p:cNvCxnSpPr/>
          <p:nvPr/>
        </p:nvCxnSpPr>
        <p:spPr bwMode="auto">
          <a:xfrm>
            <a:off x="3977639" y="2304288"/>
            <a:ext cx="338329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3483934" name="Rectangle 7"/>
          <p:cNvSpPr/>
          <p:nvPr/>
        </p:nvSpPr>
        <p:spPr bwMode="auto">
          <a:xfrm>
            <a:off x="4251959" y="1828800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3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Cross-entropy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loss + gradijent</a:t>
            </a:r>
            <a:endParaRPr/>
          </a:p>
        </p:txBody>
      </p:sp>
      <p:cxnSp>
        <p:nvCxnSpPr>
          <p:cNvPr id="120381606" name="Connector 8"/>
          <p:cNvCxnSpPr/>
          <p:nvPr/>
        </p:nvCxnSpPr>
        <p:spPr bwMode="auto">
          <a:xfrm>
            <a:off x="5852159" y="2304288"/>
            <a:ext cx="338329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446462" name="Rectangle 9"/>
          <p:cNvSpPr/>
          <p:nvPr/>
        </p:nvSpPr>
        <p:spPr bwMode="auto">
          <a:xfrm>
            <a:off x="6126479" y="1828800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4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Backward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model.backward</a:t>
            </a:r>
            <a:endParaRPr/>
          </a:p>
        </p:txBody>
      </p:sp>
      <p:cxnSp>
        <p:nvCxnSpPr>
          <p:cNvPr id="1185573289" name="Connector 10"/>
          <p:cNvCxnSpPr/>
          <p:nvPr/>
        </p:nvCxnSpPr>
        <p:spPr bwMode="auto">
          <a:xfrm>
            <a:off x="7726679" y="2304288"/>
            <a:ext cx="338329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248102" name="Rectangle 11"/>
          <p:cNvSpPr/>
          <p:nvPr/>
        </p:nvSpPr>
        <p:spPr bwMode="auto">
          <a:xfrm>
            <a:off x="8001000" y="1828800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5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SGD momentum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update</a:t>
            </a:r>
            <a:endParaRPr/>
          </a:p>
        </p:txBody>
      </p:sp>
      <p:cxnSp>
        <p:nvCxnSpPr>
          <p:cNvPr id="1843790897" name="Connector 12"/>
          <p:cNvCxnSpPr/>
          <p:nvPr/>
        </p:nvCxnSpPr>
        <p:spPr bwMode="auto">
          <a:xfrm>
            <a:off x="9601200" y="2304288"/>
            <a:ext cx="338328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508270" name="Rectangle 13"/>
          <p:cNvSpPr/>
          <p:nvPr/>
        </p:nvSpPr>
        <p:spPr bwMode="auto">
          <a:xfrm>
            <a:off x="9875520" y="1828800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6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Test acc</a:t>
            </a:r>
            <a:b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3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+ save best</a:t>
            </a:r>
            <a:endParaRPr/>
          </a:p>
        </p:txBody>
      </p:sp>
      <p:sp>
        <p:nvSpPr>
          <p:cNvPr id="1189055819" name="Rounded Rectangle 14"/>
          <p:cNvSpPr/>
          <p:nvPr/>
        </p:nvSpPr>
        <p:spPr bwMode="auto">
          <a:xfrm>
            <a:off x="1005840" y="3749039"/>
            <a:ext cx="950976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Zašto save best?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Model se sprema samo kada je test accuracy bolji od dosadašnjeg najboljeg rezultata.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Time Silvija i Jakov dobivaju najbolju dostupnu referentnu verziju modela.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853127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97341968" name="TextBox 2"/>
          <p:cNvSpPr txBox="1"/>
          <p:nvPr/>
        </p:nvSpPr>
        <p:spPr bwMode="auto">
          <a:xfrm>
            <a:off x="777240" y="566928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sz="3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 Light"/>
                <a:ea typeface="+mn-ea"/>
                <a:cs typeface="+mn-cs"/>
              </a:rPr>
              <a:t>LOSS I OPTIMIZER</a:t>
            </a:r>
            <a:endParaRPr/>
          </a:p>
        </p:txBody>
      </p:sp>
      <p:sp>
        <p:nvSpPr>
          <p:cNvPr id="1710689038" name="Rounded Rectangle 3"/>
          <p:cNvSpPr/>
          <p:nvPr/>
        </p:nvSpPr>
        <p:spPr bwMode="auto">
          <a:xfrm>
            <a:off x="914400" y="1508759"/>
            <a:ext cx="4663440" cy="205740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chemeClr val="tx1"/>
                </a:solidFill>
                <a:latin typeface="Calibri"/>
                <a:ea typeface="+mn-ea"/>
                <a:cs typeface="+mn-cs"/>
              </a:rPr>
              <a:t>Cross-entropy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Consolas"/>
              </a:defRPr>
            </a:pPr>
            <a:r>
              <a: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L = -mean(log(p_true + 1e-9))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Consolas"/>
              </a:defRPr>
            </a:pPr>
            <a:r>
              <a: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d_probs = probs - one_hot(y)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Consolas"/>
              </a:defRPr>
            </a:pPr>
            <a:r>
              <a: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d_probs = d_probs / batch_size</a:t>
            </a:r>
            <a:endParaRPr/>
          </a:p>
        </p:txBody>
      </p:sp>
      <p:sp>
        <p:nvSpPr>
          <p:cNvPr id="162478695" name="Rounded Rectangle 4"/>
          <p:cNvSpPr/>
          <p:nvPr/>
        </p:nvSpPr>
        <p:spPr bwMode="auto">
          <a:xfrm>
            <a:off x="6217920" y="1508759"/>
            <a:ext cx="4480560" cy="205740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chemeClr val="tx1"/>
                </a:solidFill>
                <a:latin typeface="Calibri"/>
                <a:ea typeface="+mn-ea"/>
                <a:cs typeface="+mn-cs"/>
              </a:rPr>
              <a:t>SGD s momentumom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Consolas"/>
              </a:defRPr>
            </a:pPr>
            <a:r>
              <a: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v = momentum * v - lr * grad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Consolas"/>
              </a:defRPr>
            </a:pPr>
            <a:r>
              <a: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w = w + v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Consolas"/>
              </a:defRPr>
            </a:pPr>
            <a:r>
              <a:rPr sz="1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onsolas"/>
                <a:ea typeface="+mn-ea"/>
                <a:cs typeface="+mn-cs"/>
              </a:rPr>
              <a:t>default: lr=0.01, m=0.9</a:t>
            </a:r>
            <a:endParaRPr/>
          </a:p>
        </p:txBody>
      </p:sp>
      <p:sp>
        <p:nvSpPr>
          <p:cNvPr id="669674148" name="Rounded Rectangle 5"/>
          <p:cNvSpPr/>
          <p:nvPr/>
        </p:nvSpPr>
        <p:spPr bwMode="auto">
          <a:xfrm>
            <a:off x="914400" y="4343400"/>
            <a:ext cx="9784079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/>
              </a:defRPr>
            </a:pP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Cross-entropy odgovara višeklasnoj klasifikaciji, a momentum stabilizira učenje kroz mini-batcheve.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85884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2401772" name="TextBox 2"/>
          <p:cNvSpPr txBox="1"/>
          <p:nvPr/>
        </p:nvSpPr>
        <p:spPr bwMode="auto">
          <a:xfrm>
            <a:off x="777240" y="566928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sz="3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 Light"/>
                <a:ea typeface="+mn-ea"/>
                <a:cs typeface="+mn-cs"/>
              </a:rPr>
              <a:t>PRAĆENJE METRIKA</a:t>
            </a:r>
            <a:endParaRPr/>
          </a:p>
        </p:txBody>
      </p:sp>
      <p:sp>
        <p:nvSpPr>
          <p:cNvPr id="2131875211" name="Rectangle 3"/>
          <p:cNvSpPr/>
          <p:nvPr/>
        </p:nvSpPr>
        <p:spPr bwMode="auto">
          <a:xfrm>
            <a:off x="822960" y="1645920"/>
            <a:ext cx="2926080" cy="91440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Train Loss</a:t>
            </a:r>
            <a:b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+mn-ea"/>
                <a:cs typeface="+mn-cs"/>
              </a:rPr>
              <a:t>koliko model griješi</a:t>
            </a:r>
            <a:endParaRPr/>
          </a:p>
        </p:txBody>
      </p:sp>
      <p:sp>
        <p:nvSpPr>
          <p:cNvPr id="955356849" name="Rectangle 4"/>
          <p:cNvSpPr/>
          <p:nvPr/>
        </p:nvSpPr>
        <p:spPr bwMode="auto">
          <a:xfrm>
            <a:off x="4389120" y="1645920"/>
            <a:ext cx="29260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Train Accuracy</a:t>
            </a:r>
            <a:b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running, bez dodatnog prolaza</a:t>
            </a:r>
            <a:endParaRPr/>
          </a:p>
        </p:txBody>
      </p:sp>
      <p:sp>
        <p:nvSpPr>
          <p:cNvPr id="485710884" name="Rectangle 5"/>
          <p:cNvSpPr/>
          <p:nvPr/>
        </p:nvSpPr>
        <p:spPr bwMode="auto">
          <a:xfrm>
            <a:off x="7955279" y="1645920"/>
            <a:ext cx="29260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Test Accuracy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generalizacija</a:t>
            </a:r>
            <a:endParaRPr/>
          </a:p>
        </p:txBody>
      </p:sp>
      <p:sp>
        <p:nvSpPr>
          <p:cNvPr id="1918108639" name="Rounded Rectangle 6"/>
          <p:cNvSpPr/>
          <p:nvPr/>
        </p:nvSpPr>
        <p:spPr bwMode="auto">
          <a:xfrm>
            <a:off x="914400" y="3474720"/>
            <a:ext cx="987552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sz="1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Zašto sam dodao running train accuracy?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Train visok + Test nizak → mogući overfitting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Train nizak + Test nizak → mogući underfitting</a:t>
            </a:r>
            <a:endParaRPr/>
          </a:p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</a:defRPr>
            </a:pPr>
            <a:r>
              <a: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+mn-ea"/>
                <a:cs typeface="+mn-cs"/>
              </a:rPr>
              <a:t>Train i Test rastu zajedno → model uči korisne uzorke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549691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37502650" name="TextBox 2"/>
          <p:cNvSpPr txBox="1"/>
          <p:nvPr/>
        </p:nvSpPr>
        <p:spPr bwMode="auto">
          <a:xfrm>
            <a:off x="822960" y="483513"/>
            <a:ext cx="1865382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lang="hr-HR" sz="5000">
                <a:solidFill>
                  <a:srgbClr val="000000"/>
                </a:solidFill>
                <a:latin typeface="Tw Cen MT Condensed"/>
              </a:rPr>
              <a:t>PRUNING</a:t>
            </a:r>
            <a:endParaRPr sz="5000" b="0" i="0" u="none" strike="noStrike" cap="none" spc="0">
              <a:ln>
                <a:noFill/>
              </a:ln>
              <a:solidFill>
                <a:srgbClr val="000000"/>
              </a:solidFill>
              <a:latin typeface="Tw Cen MT Condensed"/>
            </a:endParaRPr>
          </a:p>
        </p:txBody>
      </p:sp>
      <p:sp>
        <p:nvSpPr>
          <p:cNvPr id="764126263" name="Rectangle 3"/>
          <p:cNvSpPr/>
          <p:nvPr/>
        </p:nvSpPr>
        <p:spPr bwMode="auto">
          <a:xfrm>
            <a:off x="1097280" y="1828800"/>
            <a:ext cx="2743200" cy="109728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w Cen MT"/>
              </a:rPr>
              <a:t>INPUT</a:t>
            </a:r>
            <a:b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Tw Cen MT"/>
              </a:rPr>
            </a:br>
            <a:r>
              <a:rPr lang="en-US">
                <a:latin typeface="Tw Cen MT"/>
              </a:rPr>
              <a:t>cnn_fruits.npz</a:t>
            </a:r>
            <a:br>
              <a:rPr lang="en-US">
                <a:latin typeface="Tw Cen MT"/>
              </a:rPr>
            </a:br>
            <a:r>
              <a:rPr lang="en-US">
                <a:latin typeface="Tw Cen MT"/>
              </a:rPr>
              <a:t>(trained model)</a:t>
            </a: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30622036" name="Rectangle 5"/>
          <p:cNvSpPr/>
          <p:nvPr/>
        </p:nvSpPr>
        <p:spPr bwMode="auto">
          <a:xfrm>
            <a:off x="4434840" y="1828800"/>
            <a:ext cx="3017519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person3_pruning.py</a:t>
            </a:r>
            <a:endParaRPr lang="hr-HR" sz="18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• Global</a:t>
            </a:r>
            <a:r>
              <a:rPr lang="hr-HR">
                <a:solidFill>
                  <a:srgbClr val="000000"/>
                </a:solidFill>
                <a:latin typeface="Tw Cen MT"/>
              </a:rPr>
              <a:t> +</a:t>
            </a: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 Per-layer pruning</a:t>
            </a:r>
            <a:endParaRPr lang="hr-HR" sz="18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• Fine-tuning</a:t>
            </a: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73329224" name="Rectangle 7"/>
          <p:cNvSpPr/>
          <p:nvPr/>
        </p:nvSpPr>
        <p:spPr bwMode="auto">
          <a:xfrm>
            <a:off x="8046720" y="1828800"/>
            <a:ext cx="27432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OUTPUT</a:t>
            </a:r>
            <a:b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</a:br>
            <a:r>
              <a:rPr lang="hr-HR"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cnn_fruits_pruned.npz</a:t>
            </a:r>
            <a:endParaRPr sz="17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950840522" name="Rounded Rectangle 8"/>
          <p:cNvSpPr/>
          <p:nvPr/>
        </p:nvSpPr>
        <p:spPr bwMode="auto">
          <a:xfrm>
            <a:off x="988826" y="3931920"/>
            <a:ext cx="9909544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lvl="0" algn="ctr" defTabSz="457200">
              <a:spcAft>
                <a:spcPts val="4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sz="24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Uloga</a:t>
            </a:r>
            <a:r>
              <a:rPr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: </a:t>
            </a:r>
            <a:r>
              <a:rPr lang="hr-HR" sz="2400">
                <a:latin typeface="Tw Cen MT"/>
              </a:rPr>
              <a:t>smanjiti broj aktivnih težina modela uz minimalan gubitak točnosti.</a:t>
            </a:r>
            <a:endParaRPr sz="24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cxnSp>
        <p:nvCxnSpPr>
          <p:cNvPr id="731360859" name="Straight Arrow Connector 10"/>
          <p:cNvCxnSpPr>
            <a:stCxn id="764126263" idx="3"/>
            <a:endCxn id="1330622036" idx="1"/>
          </p:cNvCxnSpPr>
          <p:nvPr/>
        </p:nvCxnSpPr>
        <p:spPr bwMode="auto">
          <a:xfrm>
            <a:off x="3840480" y="2377440"/>
            <a:ext cx="5943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47481541" name="Straight Arrow Connector 11"/>
          <p:cNvCxnSpPr>
            <a:stCxn id="1330622036" idx="3"/>
            <a:endCxn id="173329224" idx="1"/>
          </p:cNvCxnSpPr>
          <p:nvPr/>
        </p:nvCxnSpPr>
        <p:spPr bwMode="auto">
          <a:xfrm>
            <a:off x="7452360" y="2377440"/>
            <a:ext cx="5943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217113" name="Rectangle 1"/>
          <p:cNvSpPr/>
          <p:nvPr/>
        </p:nvSpPr>
        <p:spPr bwMode="auto">
          <a:xfrm>
            <a:off x="502920" y="279758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94830333" name="TextBox 2"/>
          <p:cNvSpPr txBox="1"/>
          <p:nvPr/>
        </p:nvSpPr>
        <p:spPr bwMode="auto">
          <a:xfrm>
            <a:off x="596210" y="146051"/>
            <a:ext cx="3356881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lang="hr-HR" sz="5000">
                <a:solidFill>
                  <a:srgbClr val="000000"/>
                </a:solidFill>
                <a:latin typeface="Tw Cen MT Condensed"/>
              </a:rPr>
              <a:t>IMPLEMENTACIJA</a:t>
            </a:r>
            <a:endParaRPr sz="5000" b="0" i="0" u="none" strike="noStrike" cap="none" spc="0">
              <a:ln>
                <a:noFill/>
              </a:ln>
              <a:solidFill>
                <a:srgbClr val="000000"/>
              </a:solidFill>
              <a:latin typeface="Tw Cen MT Condensed"/>
            </a:endParaRPr>
          </a:p>
        </p:txBody>
      </p:sp>
      <p:sp>
        <p:nvSpPr>
          <p:cNvPr id="2020445262" name="Rounded Rectangle 5"/>
          <p:cNvSpPr/>
          <p:nvPr/>
        </p:nvSpPr>
        <p:spPr bwMode="auto">
          <a:xfrm>
            <a:off x="1472002" y="1257300"/>
            <a:ext cx="3383280" cy="1645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hr-HR" sz="2000" b="1">
                <a:solidFill>
                  <a:schemeClr val="accent5">
                    <a:lumMod val="75000"/>
                  </a:schemeClr>
                </a:solidFill>
                <a:latin typeface="Tw Cen MT"/>
              </a:rPr>
              <a:t>Global pruning</a:t>
            </a:r>
            <a:endParaRPr sz="2000" b="1" i="0" u="none" strike="noStrike" cap="none" spc="0">
              <a:ln>
                <a:noFill/>
              </a:ln>
              <a:solidFill>
                <a:schemeClr val="accent5">
                  <a:lumMod val="75000"/>
                </a:schemeClr>
              </a:solidFill>
              <a:latin typeface="Tw Cen MT"/>
            </a:endParaRPr>
          </a:p>
          <a:p>
            <a:pPr marL="285750" lvl="0" indent="-285750" algn="ctr" defTabSz="457200">
              <a:spcAft>
                <a:spcPts val="4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Calibri"/>
              </a:defRPr>
            </a:pPr>
            <a:r>
              <a:rPr lang="hr-HR" sz="1700">
                <a:solidFill>
                  <a:srgbClr val="000000"/>
                </a:solidFill>
                <a:latin typeface="Tw Cen MT"/>
              </a:rPr>
              <a:t>Sve težine iz svih slojeva spajaju se u jedan skup.</a:t>
            </a:r>
            <a:endParaRPr/>
          </a:p>
          <a:p>
            <a:pPr marL="285750" lvl="0" indent="-285750" algn="ctr" defTabSz="457200">
              <a:spcAft>
                <a:spcPts val="4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Calibri"/>
              </a:defRPr>
            </a:pPr>
            <a:r>
              <a:rPr lang="hr-HR" sz="1700">
                <a:solidFill>
                  <a:srgbClr val="000000"/>
                </a:solidFill>
                <a:latin typeface="Tw Cen MT"/>
              </a:rPr>
              <a:t>Uklanjaju se najmanje važne težine globalno.</a:t>
            </a:r>
            <a:endParaRPr sz="17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64815442" name="Rounded Rectangle 6"/>
          <p:cNvSpPr/>
          <p:nvPr/>
        </p:nvSpPr>
        <p:spPr bwMode="auto">
          <a:xfrm>
            <a:off x="7336718" y="1257300"/>
            <a:ext cx="3383280" cy="1645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hr-HR" sz="2000" b="1">
                <a:solidFill>
                  <a:schemeClr val="accent5">
                    <a:lumMod val="75000"/>
                  </a:schemeClr>
                </a:solidFill>
                <a:latin typeface="Tw Cen MT"/>
              </a:rPr>
              <a:t>Per-layer pruning</a:t>
            </a:r>
            <a:endParaRPr sz="2000" b="1" i="0" u="none" strike="noStrike" cap="none" spc="0">
              <a:ln>
                <a:noFill/>
              </a:ln>
              <a:solidFill>
                <a:schemeClr val="accent5">
                  <a:lumMod val="75000"/>
                </a:schemeClr>
              </a:solidFill>
              <a:latin typeface="Tw Cen MT"/>
            </a:endParaRPr>
          </a:p>
          <a:p>
            <a:pPr marL="285750" lvl="0" indent="-285750" algn="ctr" defTabSz="457200">
              <a:spcAft>
                <a:spcPts val="4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Calibri"/>
              </a:defRPr>
            </a:pPr>
            <a:r>
              <a:rPr lang="hr-HR" sz="1700">
                <a:solidFill>
                  <a:srgbClr val="000000"/>
                </a:solidFill>
                <a:latin typeface="Tw Cen MT"/>
              </a:rPr>
              <a:t>Svaki sloj se obrađuje zasebno.</a:t>
            </a:r>
            <a:endParaRPr/>
          </a:p>
          <a:p>
            <a:pPr marL="285750" lvl="0" indent="-285750" algn="ctr" defTabSz="457200">
              <a:spcAft>
                <a:spcPts val="4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Calibri"/>
              </a:defRPr>
            </a:pPr>
            <a:r>
              <a:rPr lang="hr-HR" sz="1700">
                <a:solidFill>
                  <a:srgbClr val="000000"/>
                </a:solidFill>
                <a:latin typeface="Tw Cen MT"/>
              </a:rPr>
              <a:t>Isti postotak težina uklanja se iz svakog sloja.</a:t>
            </a:r>
            <a:endParaRPr sz="1700" b="0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1990217104" name="Picture 1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33255" y="3518342"/>
            <a:ext cx="5658300" cy="26115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2458477" name="Picture 1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4167" y="3277488"/>
            <a:ext cx="5398949" cy="3093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14916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7211284" name="TextBox 2"/>
          <p:cNvSpPr txBox="1"/>
          <p:nvPr/>
        </p:nvSpPr>
        <p:spPr bwMode="auto">
          <a:xfrm>
            <a:off x="777240" y="566928"/>
            <a:ext cx="5787162" cy="72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lang="hr-HR" sz="5000" cap="all" spc="100">
                <a:solidFill>
                  <a:schemeClr val="tx1">
                    <a:lumMod val="95000"/>
                    <a:lumOff val="5000"/>
                  </a:schemeClr>
                </a:solidFill>
                <a:latin typeface="Tw Cen MT Condensed"/>
                <a:ea typeface="+mj-ea"/>
                <a:cs typeface="+mj-cs"/>
              </a:rPr>
              <a:t>MASKIRANJE &amp; FINE-TUNING</a:t>
            </a:r>
            <a:endParaRPr sz="5000" cap="all" spc="100">
              <a:solidFill>
                <a:schemeClr val="tx1">
                  <a:lumMod val="95000"/>
                  <a:lumOff val="5000"/>
                </a:schemeClr>
              </a:solidFill>
              <a:latin typeface="Tw Cen MT Condensed"/>
              <a:ea typeface="+mj-ea"/>
              <a:cs typeface="+mj-cs"/>
            </a:endParaRPr>
          </a:p>
        </p:txBody>
      </p:sp>
      <p:sp>
        <p:nvSpPr>
          <p:cNvPr id="13208267" name="Rectangle 3"/>
          <p:cNvSpPr/>
          <p:nvPr/>
        </p:nvSpPr>
        <p:spPr bwMode="auto">
          <a:xfrm>
            <a:off x="1872469" y="1811866"/>
            <a:ext cx="1600200" cy="96012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hr-HR" b="1" i="0" u="none" strike="noStrike" cap="none" spc="0">
                <a:ln>
                  <a:noFill/>
                </a:ln>
                <a:solidFill>
                  <a:srgbClr val="FFFFFF"/>
                </a:solidFill>
                <a:latin typeface="Tw Cen MT"/>
              </a:rPr>
              <a:t>Pruning</a:t>
            </a:r>
            <a:endParaRPr b="1" i="0" u="none" strike="noStrike" cap="none" spc="0">
              <a:ln>
                <a:noFill/>
              </a:ln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610054304" name="Rectangle 5"/>
          <p:cNvSpPr/>
          <p:nvPr/>
        </p:nvSpPr>
        <p:spPr bwMode="auto">
          <a:xfrm>
            <a:off x="3977997" y="1811866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hr-HR" b="1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Mask creation</a:t>
            </a:r>
            <a:endParaRPr b="1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624960302" name="Rectangle 7"/>
          <p:cNvSpPr/>
          <p:nvPr/>
        </p:nvSpPr>
        <p:spPr bwMode="auto">
          <a:xfrm>
            <a:off x="6108475" y="1811866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hr-HR" b="1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Fine-tuning</a:t>
            </a:r>
            <a:endParaRPr b="1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75235392" name="Rectangle 9"/>
          <p:cNvSpPr/>
          <p:nvPr/>
        </p:nvSpPr>
        <p:spPr bwMode="auto">
          <a:xfrm>
            <a:off x="8214003" y="1811866"/>
            <a:ext cx="16002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hr-HR" b="1" i="0" u="none" strike="noStrike" cap="none" spc="0">
                <a:ln>
                  <a:noFill/>
                </a:ln>
                <a:solidFill>
                  <a:srgbClr val="000000"/>
                </a:solidFill>
                <a:latin typeface="Tw Cen MT"/>
              </a:rPr>
              <a:t>Re-apply masks</a:t>
            </a:r>
            <a:endParaRPr b="1" i="0" u="none" strike="noStrike" cap="none" spc="0">
              <a:ln>
                <a:noFill/>
              </a:ln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63156312" name="Rounded Rectangle 14"/>
          <p:cNvSpPr/>
          <p:nvPr/>
        </p:nvSpPr>
        <p:spPr bwMode="auto">
          <a:xfrm>
            <a:off x="1035329" y="4157768"/>
            <a:ext cx="9616013" cy="220518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lvl="0" defTabSz="457200"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hr-HR" sz="2200">
                <a:solidFill>
                  <a:srgbClr val="000000"/>
                </a:solidFill>
                <a:latin typeface="Tw Cen MT"/>
              </a:rPr>
              <a:t>Očuvanje maske tijekom fine-tuninga</a:t>
            </a:r>
            <a:endParaRPr/>
          </a:p>
          <a:p>
            <a:pPr marL="285750" lvl="0" indent="-285750" defTabSz="457200">
              <a:buFont typeface="Arial"/>
              <a:buChar char="•"/>
              <a:defRPr sz="1800" b="1">
                <a:solidFill>
                  <a:srgbClr val="000000"/>
                </a:solidFill>
                <a:latin typeface="Calibri"/>
              </a:defRPr>
            </a:pPr>
            <a:endParaRPr lang="hr-HR" sz="2000">
              <a:solidFill>
                <a:srgbClr val="000000"/>
              </a:solidFill>
              <a:latin typeface="Tw Cen MT"/>
            </a:endParaRPr>
          </a:p>
          <a:p>
            <a:pPr marL="285750" indent="-285750" defTabSz="457200">
              <a:buFont typeface="Arial"/>
              <a:buChar char="•"/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Pruning stvara binarnu masku (0 = ukloni, 1 = zadrži)</a:t>
            </a:r>
            <a:endParaRPr/>
          </a:p>
          <a:p>
            <a:pPr marL="285750" indent="-285750" defTabSz="457200">
              <a:buFont typeface="Arial"/>
              <a:buChar char="•"/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SGD ažurira sve težine, uključujući i one koje su uklonjene pruningom</a:t>
            </a:r>
            <a:endParaRPr/>
          </a:p>
          <a:p>
            <a:pPr marL="285750" indent="-285750" defTabSz="457200">
              <a:buFont typeface="Arial"/>
              <a:buChar char="•"/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Nakon svakog koraka optimizatora, maska se ponovno primjenjuje</a:t>
            </a:r>
            <a:endParaRPr/>
          </a:p>
          <a:p>
            <a:pPr marL="285750" indent="-285750" defTabSz="457200">
              <a:buFont typeface="Arial"/>
              <a:buChar char="•"/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Time se osigurava da uklonjene težine ostanu na nuli i ne mogu ponovno narasti</a:t>
            </a:r>
            <a:endParaRPr/>
          </a:p>
        </p:txBody>
      </p:sp>
      <p:cxnSp>
        <p:nvCxnSpPr>
          <p:cNvPr id="135392077" name="Straight Arrow Connector 22"/>
          <p:cNvCxnSpPr>
            <a:stCxn id="13208267" idx="3"/>
            <a:endCxn id="1610054304" idx="1"/>
          </p:cNvCxnSpPr>
          <p:nvPr/>
        </p:nvCxnSpPr>
        <p:spPr bwMode="auto">
          <a:xfrm>
            <a:off x="3472669" y="2291926"/>
            <a:ext cx="5053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5213228" name="Straight Arrow Connector 23"/>
          <p:cNvCxnSpPr/>
          <p:nvPr/>
        </p:nvCxnSpPr>
        <p:spPr bwMode="auto">
          <a:xfrm>
            <a:off x="5590672" y="2291926"/>
            <a:ext cx="5053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5767053" name="Straight Arrow Connector 26"/>
          <p:cNvCxnSpPr/>
          <p:nvPr/>
        </p:nvCxnSpPr>
        <p:spPr bwMode="auto">
          <a:xfrm>
            <a:off x="7708674" y="2291926"/>
            <a:ext cx="5053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73601356" name="Rounded Rectangle 14"/>
          <p:cNvSpPr/>
          <p:nvPr/>
        </p:nvSpPr>
        <p:spPr bwMode="auto">
          <a:xfrm>
            <a:off x="7756451" y="3335383"/>
            <a:ext cx="3530009" cy="18196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lvl="0" defTabSz="457200">
              <a:defRPr sz="1800" b="1">
                <a:solidFill>
                  <a:srgbClr val="000000"/>
                </a:solidFill>
                <a:latin typeface="Calibri"/>
              </a:defRPr>
            </a:pPr>
            <a:endParaRPr lang="hr-HR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871715517" name="Picture 31"/>
          <p:cNvPicPr>
            <a:picLocks noChangeAspect="1"/>
          </p:cNvPicPr>
          <p:nvPr/>
        </p:nvPicPr>
        <p:blipFill rotWithShape="1">
          <a:blip r:embed="rId3"/>
          <a:srcRect l="3363" t="0" r="2962" b="0"/>
          <a:stretch/>
        </p:blipFill>
        <p:spPr bwMode="auto">
          <a:xfrm>
            <a:off x="7900341" y="3441805"/>
            <a:ext cx="3279793" cy="15987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68208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03925793" name="TextBox 2"/>
          <p:cNvSpPr txBox="1"/>
          <p:nvPr/>
        </p:nvSpPr>
        <p:spPr bwMode="auto">
          <a:xfrm>
            <a:off x="777240" y="566928"/>
            <a:ext cx="2203039" cy="72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lang="hr-HR" sz="5000" cap="all" spc="100">
                <a:solidFill>
                  <a:schemeClr val="tx1">
                    <a:lumMod val="95000"/>
                    <a:lumOff val="5000"/>
                  </a:schemeClr>
                </a:solidFill>
                <a:latin typeface="Tw Cen MT Condensed"/>
                <a:ea typeface="+mj-ea"/>
                <a:cs typeface="+mj-cs"/>
              </a:rPr>
              <a:t>REZULTATI</a:t>
            </a:r>
            <a:endParaRPr sz="5000" cap="all" spc="100">
              <a:solidFill>
                <a:schemeClr val="tx1">
                  <a:lumMod val="95000"/>
                  <a:lumOff val="5000"/>
                </a:schemeClr>
              </a:solidFill>
              <a:latin typeface="Tw Cen MT Condensed"/>
              <a:ea typeface="+mj-ea"/>
              <a:cs typeface="+mj-cs"/>
            </a:endParaRPr>
          </a:p>
        </p:txBody>
      </p:sp>
      <p:sp>
        <p:nvSpPr>
          <p:cNvPr id="1797257289" name="Rounded Rectangle 14"/>
          <p:cNvSpPr/>
          <p:nvPr/>
        </p:nvSpPr>
        <p:spPr bwMode="auto">
          <a:xfrm>
            <a:off x="777240" y="4954772"/>
            <a:ext cx="10705923" cy="1433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defTabSz="457200"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Global pruning postiže znatno bolje rezultate od per-layer pruninga na ovom modelu. </a:t>
            </a:r>
            <a:endParaRPr/>
          </a:p>
          <a:p>
            <a:pPr defTabSz="457200"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Zadržava gotovo nepromijenjenu točnost čak i pri 80% sparsnosti. </a:t>
            </a:r>
            <a:endParaRPr/>
          </a:p>
          <a:p>
            <a:pPr defTabSz="457200">
              <a:defRPr/>
            </a:pPr>
            <a:r>
              <a:rPr lang="hr-HR" sz="2000">
                <a:solidFill>
                  <a:srgbClr val="000000"/>
                </a:solidFill>
                <a:latin typeface="Tw Cen MT"/>
              </a:rPr>
              <a:t>Pruning po slojevima je agresivniji jer svaki sloj gubi isti postotak težina, uključujući i osjetljive slojeve.</a:t>
            </a:r>
            <a:endParaRPr/>
          </a:p>
        </p:txBody>
      </p:sp>
      <p:graphicFrame>
        <p:nvGraphicFramePr>
          <p:cNvPr id="390160568" name="Table 8"/>
          <p:cNvGraphicFramePr>
            <a:graphicFrameLocks xmlns:a="http://schemas.openxmlformats.org/drawingml/2006/main" noGrp="1"/>
          </p:cNvGraphicFramePr>
          <p:nvPr/>
        </p:nvGraphicFramePr>
        <p:xfrm rot="0">
          <a:off x="1532151" y="1513550"/>
          <a:ext cx="9313056" cy="307848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{5FD0F851-EC5A-4D38-B0AD-8093EC10F338}</a:tableStyleId>
              </a:tblPr>
              <a:tblGrid>
                <a:gridCol w="1552176"/>
                <a:gridCol w="1552176"/>
                <a:gridCol w="1552176"/>
                <a:gridCol w="1552176"/>
                <a:gridCol w="1552176"/>
                <a:gridCol w="1552176"/>
              </a:tblGrid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Strategy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Pruning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Original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After pruning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After fine-tune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Final change</a:t>
                      </a:r>
                      <a:endParaRPr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Global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20%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75.58%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75.63%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76.52%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+0.94%</a:t>
                      </a:r>
                      <a:endParaRPr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Per-layer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20%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75.58%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74.92%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76.27%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+0.69%</a:t>
                      </a:r>
                      <a:endParaRPr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Global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50%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75.58%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75.67%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76.36%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+0.79%</a:t>
                      </a:r>
                      <a:endParaRPr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Per-layer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50%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75.58%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70.74%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74.45%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-1.13%</a:t>
                      </a:r>
                      <a:endParaRPr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Global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80%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75.58%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73.78%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75.41%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-0.17%</a:t>
                      </a:r>
                      <a:endParaRPr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Per-layer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80%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75.58%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15.10%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69.23%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  <a:defRPr/>
                      </a:pPr>
                      <a:r>
                        <a:rPr lang="hr-HR" sz="2000">
                          <a:latin typeface="Tw Cen MT"/>
                        </a:rPr>
                        <a:t>-6.35%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116448" name="Rectangle 1"/>
          <p:cNvSpPr/>
          <p:nvPr/>
        </p:nvSpPr>
        <p:spPr bwMode="auto">
          <a:xfrm>
            <a:off x="502920" y="576072"/>
            <a:ext cx="18288" cy="594360"/>
          </a:xfrm>
          <a:prstGeom prst="rect">
            <a:avLst/>
          </a:prstGeom>
          <a:solidFill>
            <a:srgbClr val="1FA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041245469" name="TextBox 2"/>
          <p:cNvSpPr txBox="1"/>
          <p:nvPr/>
        </p:nvSpPr>
        <p:spPr bwMode="auto">
          <a:xfrm>
            <a:off x="773914" y="442365"/>
            <a:ext cx="2841291" cy="86177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defTabSz="457200">
              <a:defRPr sz="3200" b="0">
                <a:solidFill>
                  <a:srgbClr val="000000"/>
                </a:solidFill>
                <a:latin typeface="Calibri Light"/>
              </a:defRPr>
            </a:pPr>
            <a:r>
              <a:rPr lang="en-US" sz="5000">
                <a:latin typeface="Tw Cen MT Condensed"/>
                <a:ea typeface="Calibri Light"/>
                <a:cs typeface="Calibri Light"/>
              </a:rPr>
              <a:t>KVANTIZACIJA</a:t>
            </a:r>
            <a:endParaRPr/>
          </a:p>
        </p:txBody>
      </p:sp>
      <p:sp>
        <p:nvSpPr>
          <p:cNvPr id="583807823" name="Rectangle 3"/>
          <p:cNvSpPr/>
          <p:nvPr/>
        </p:nvSpPr>
        <p:spPr bwMode="auto">
          <a:xfrm>
            <a:off x="822960" y="1828800"/>
            <a:ext cx="2743200" cy="1097280"/>
          </a:xfrm>
          <a:prstGeom prst="rect">
            <a:avLst/>
          </a:prstGeom>
          <a:solidFill>
            <a:srgbClr val="1FA7D6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>
              <a:defRPr/>
            </a:pP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Arial"/>
                <a:cs typeface="Arial"/>
              </a:rPr>
              <a:t>INPUT</a:t>
            </a:r>
            <a:b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Arial"/>
                <a:cs typeface="Arial"/>
              </a:rPr>
            </a:b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Arial"/>
                <a:cs typeface="Arial"/>
              </a:rPr>
              <a:t>Fruits-360 </a:t>
            </a:r>
            <a:r>
              <a: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Arial"/>
                <a:cs typeface="Arial"/>
              </a:rPr>
              <a:t>slike</a:t>
            </a:r>
            <a:endParaRPr lang="en-US">
              <a:solidFill>
                <a:srgbClr val="FFFFFF"/>
              </a:solidFill>
              <a:latin typeface="Calibri"/>
            </a:endParaRPr>
          </a:p>
          <a:p>
            <a:pPr algn="ctr" defTabSz="457200">
              <a:defRPr/>
            </a:pPr>
            <a:r>
              <a:rPr lang="en-US">
                <a:solidFill>
                  <a:srgbClr val="FFFFFF"/>
                </a:solidFill>
                <a:latin typeface="Calibri"/>
              </a:rPr>
              <a:t>cnn_fruits.npz</a:t>
            </a:r>
            <a:endParaRPr lang="en-US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55649214" name="Connector 4"/>
          <p:cNvCxnSpPr/>
          <p:nvPr/>
        </p:nvCxnSpPr>
        <p:spPr bwMode="auto">
          <a:xfrm>
            <a:off x="3566160" y="2377440"/>
            <a:ext cx="594360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740382" name="Rectangle 5"/>
          <p:cNvSpPr/>
          <p:nvPr/>
        </p:nvSpPr>
        <p:spPr bwMode="auto">
          <a:xfrm>
            <a:off x="4160518" y="1828800"/>
            <a:ext cx="3017518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>
              <a:defRPr/>
            </a:pPr>
            <a:r>
              <a:rPr lang="en-US">
                <a:solidFill>
                  <a:srgbClr val="000000"/>
                </a:solidFill>
                <a:latin typeface="Calibri"/>
              </a:rPr>
              <a:t>person4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_</a:t>
            </a:r>
            <a:r>
              <a:rPr lang="en-US">
                <a:solidFill>
                  <a:srgbClr val="000000"/>
                </a:solidFill>
                <a:latin typeface="Calibri"/>
              </a:rPr>
              <a:t>quantization</a:t>
            </a:r>
            <a: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.py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</a:br>
            <a:r>
              <a:rPr lang="en-US">
                <a:solidFill>
                  <a:srgbClr val="000000"/>
                </a:solidFill>
                <a:latin typeface="Calibri"/>
              </a:rPr>
              <a:t>kvantizacija</a:t>
            </a:r>
            <a:r>
              <a:rPr lang="en-US">
                <a:solidFill>
                  <a:srgbClr val="000000"/>
                </a:solidFill>
                <a:latin typeface="Calibri"/>
              </a:rPr>
              <a:t> </a:t>
            </a:r>
            <a:r>
              <a:rPr lang="en-US">
                <a:solidFill>
                  <a:srgbClr val="000000"/>
                </a:solidFill>
                <a:latin typeface="Calibri"/>
              </a:rPr>
              <a:t>modela</a:t>
            </a:r>
            <a:br>
              <a:rPr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</a:br>
            <a:r>
              <a:rPr lang="en-US">
                <a:solidFill>
                  <a:srgbClr val="000000"/>
                </a:solidFill>
                <a:latin typeface="Calibri"/>
              </a:rPr>
              <a:t>provjera</a:t>
            </a:r>
            <a:r>
              <a:rPr lang="en-US">
                <a:solidFill>
                  <a:srgbClr val="000000"/>
                </a:solidFill>
                <a:latin typeface="Calibri"/>
              </a:rPr>
              <a:t> </a:t>
            </a:r>
            <a:r>
              <a:rPr lang="en-US">
                <a:solidFill>
                  <a:srgbClr val="000000"/>
                </a:solidFill>
                <a:latin typeface="Calibri"/>
              </a:rPr>
              <a:t>performansi</a:t>
            </a:r>
            <a:endParaRPr lang="en-US" sz="18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25872083" name="Connector 6"/>
          <p:cNvCxnSpPr/>
          <p:nvPr/>
        </p:nvCxnSpPr>
        <p:spPr bwMode="auto">
          <a:xfrm>
            <a:off x="7178038" y="2377440"/>
            <a:ext cx="594360" cy="0"/>
          </a:xfrm>
          <a:prstGeom prst="line">
            <a:avLst/>
          </a:prstGeom>
          <a:ln w="25400">
            <a:solidFill>
              <a:srgbClr val="1FA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0251676" name="Rectangle 7"/>
          <p:cNvSpPr/>
          <p:nvPr/>
        </p:nvSpPr>
        <p:spPr bwMode="auto">
          <a:xfrm>
            <a:off x="7772400" y="1828800"/>
            <a:ext cx="27432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OUTPUT</a:t>
            </a:r>
            <a:b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</a:b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cnn_</a:t>
            </a:r>
            <a:r>
              <a:rPr lang="en-US" sz="1700">
                <a:solidFill>
                  <a:srgbClr val="000000"/>
                </a:solidFill>
                <a:latin typeface="Calibri"/>
              </a:rPr>
              <a:t>quantized</a:t>
            </a:r>
            <a:r>
              <a:rPr sz="17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.npz</a:t>
            </a:r>
            <a:endParaRPr lang="en-US" sz="17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0948305" name="Rounded Rectangle 8"/>
          <p:cNvSpPr/>
          <p:nvPr/>
        </p:nvSpPr>
        <p:spPr bwMode="auto">
          <a:xfrm>
            <a:off x="914400" y="3840480"/>
            <a:ext cx="9875520" cy="128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algn="ctr" defTabSz="457200">
              <a:spcAft>
                <a:spcPts val="398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sz="2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Uloga</a:t>
            </a:r>
            <a:r>
              <a:rPr sz="20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Arial"/>
                <a:cs typeface="Arial"/>
              </a:rPr>
              <a:t>: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smanjiti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veličinu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modela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 s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kvantizacijom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 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uz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minimalan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 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gubitak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točnosti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 </a:t>
            </a:r>
            <a:endParaRPr lang="en-US" sz="2000" b="0" i="0" u="none" strike="noStrike" cap="none" spc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219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Algoritam</a:t>
            </a:r>
            <a:endParaRPr/>
          </a:p>
        </p:txBody>
      </p:sp>
      <p:sp>
        <p:nvSpPr>
          <p:cNvPr id="121810657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Korak 1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: 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Prebrojiti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odgovarajuće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min_value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max_value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u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ulaznim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podacima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(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težine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ili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aktivacijske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vrijednosti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)</a:t>
            </a:r>
            <a:endParaRPr sz="2200"/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Korak 2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: 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Odabrati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odgovarajuću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vrstu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kvantizacije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,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simetričnu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(int-8)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ili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asimetričnu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(uint-8);</a:t>
            </a:r>
            <a:endParaRPr sz="2200"/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Korak 3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: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Izračunati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parametre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kvantizacije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Z (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Nulta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točka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)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S (Skala) 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prema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vrsti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kvantizacije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,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min_value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max_value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;</a:t>
            </a:r>
            <a:endParaRPr sz="2200"/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Korak 4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: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Kvantizirati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model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na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temelju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kalibracijskih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podataka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,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pretvorenih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iz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FP32 u INT-8;</a:t>
            </a:r>
            <a:endParaRPr sz="2200"/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Korak 5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: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Provjeriti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performanse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kvantiziranog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modela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ako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rezultat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nije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dobar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,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pokušati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koristiti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drugi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način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za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izračun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S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Z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te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 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ponavljati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do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dobrog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rezultata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+mn-lt"/>
                <a:ea typeface="Tw Cen MT"/>
                <a:cs typeface="Tw Cen MT"/>
              </a:rPr>
              <a:t>.</a:t>
            </a:r>
            <a:endParaRPr sz="2200"/>
          </a:p>
          <a:p>
            <a:pPr>
              <a:buClr>
                <a:schemeClr val="accent1"/>
              </a:buClr>
              <a:buSzPct val="100000"/>
              <a:buFont typeface="Arial"/>
              <a:buChar char="•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16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Implementacija</a:t>
            </a:r>
            <a:r>
              <a:rPr/>
              <a:t> 1/2</a:t>
            </a:r>
            <a:endParaRPr/>
          </a:p>
        </p:txBody>
      </p:sp>
      <p:pic>
        <p:nvPicPr>
          <p:cNvPr id="1121960702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1749" y="1810066"/>
            <a:ext cx="6438897" cy="962023"/>
          </a:xfrm>
          <a:prstGeom prst="rect">
            <a:avLst/>
          </a:prstGeom>
        </p:spPr>
      </p:pic>
      <p:pic>
        <p:nvPicPr>
          <p:cNvPr id="1389228682" name="Picture 7" descr="A screen shot of a computer program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08388" y="2920998"/>
            <a:ext cx="6905624" cy="3352798"/>
          </a:xfrm>
          <a:prstGeom prst="rect">
            <a:avLst/>
          </a:prstGeom>
        </p:spPr>
      </p:pic>
      <p:sp>
        <p:nvSpPr>
          <p:cNvPr id="636741200" name="Rounded Rectangle 8"/>
          <p:cNvSpPr/>
          <p:nvPr/>
        </p:nvSpPr>
        <p:spPr bwMode="auto">
          <a:xfrm>
            <a:off x="690878" y="2011680"/>
            <a:ext cx="2631438" cy="5587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algn="ctr" defTabSz="457200">
              <a:spcAft>
                <a:spcPts val="397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b="1">
                <a:solidFill>
                  <a:srgbClr val="000000"/>
                </a:solidFill>
                <a:latin typeface="Calibri"/>
              </a:rPr>
              <a:t>Kvantizacija</a:t>
            </a:r>
            <a:r>
              <a:rPr lang="en-US" b="1">
                <a:solidFill>
                  <a:srgbClr val="000000"/>
                </a:solidFill>
                <a:latin typeface="Calibri"/>
              </a:rPr>
              <a:t> </a:t>
            </a:r>
            <a:r>
              <a:rPr lang="en-US" b="1">
                <a:solidFill>
                  <a:srgbClr val="000000"/>
                </a:solidFill>
                <a:latin typeface="Calibri"/>
              </a:rPr>
              <a:t>modela</a:t>
            </a:r>
            <a:endParaRPr lang="en-US"/>
          </a:p>
        </p:txBody>
      </p:sp>
      <p:sp>
        <p:nvSpPr>
          <p:cNvPr id="1259467478" name="Rounded Rectangle 8"/>
          <p:cNvSpPr/>
          <p:nvPr/>
        </p:nvSpPr>
        <p:spPr bwMode="auto">
          <a:xfrm>
            <a:off x="690878" y="2997198"/>
            <a:ext cx="2631438" cy="5587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algn="ctr" defTabSz="457200">
              <a:spcAft>
                <a:spcPts val="397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b="1">
                <a:solidFill>
                  <a:srgbClr val="000000"/>
                </a:solidFill>
                <a:latin typeface="Calibri"/>
              </a:rPr>
              <a:t>Kvantizacija</a:t>
            </a:r>
            <a:r>
              <a:rPr lang="en-US" b="1">
                <a:solidFill>
                  <a:srgbClr val="000000"/>
                </a:solidFill>
                <a:latin typeface="Calibri"/>
              </a:rPr>
              <a:t> </a:t>
            </a:r>
            <a:r>
              <a:rPr lang="en-US" b="1">
                <a:solidFill>
                  <a:srgbClr val="000000"/>
                </a:solidFill>
                <a:latin typeface="Calibri"/>
              </a:rPr>
              <a:t>sloja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2261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Implementacija</a:t>
            </a:r>
            <a:r>
              <a:rPr/>
              <a:t> 2/2</a:t>
            </a:r>
            <a:endParaRPr/>
          </a:p>
        </p:txBody>
      </p:sp>
      <p:pic>
        <p:nvPicPr>
          <p:cNvPr id="1301014314" name="Picture 2" descr="A computer screen shot of a program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4227" y="1684652"/>
            <a:ext cx="5686425" cy="4362448"/>
          </a:xfrm>
          <a:prstGeom prst="rect">
            <a:avLst/>
          </a:prstGeom>
        </p:spPr>
      </p:pic>
      <p:pic>
        <p:nvPicPr>
          <p:cNvPr id="1237937972" name="Picture 4" descr="A screen shot of a computer program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2613" y="2461258"/>
            <a:ext cx="5276848" cy="3581398"/>
          </a:xfrm>
          <a:prstGeom prst="rect">
            <a:avLst/>
          </a:prstGeom>
        </p:spPr>
      </p:pic>
      <p:sp>
        <p:nvSpPr>
          <p:cNvPr id="686952358" name="Rounded Rectangle 8"/>
          <p:cNvSpPr/>
          <p:nvPr/>
        </p:nvSpPr>
        <p:spPr bwMode="auto">
          <a:xfrm>
            <a:off x="1727199" y="1798317"/>
            <a:ext cx="2631438" cy="5587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bIns="109728" rtlCol="0" anchor="ctr"/>
          <a:lstStyle/>
          <a:p>
            <a:pPr algn="ctr" defTabSz="457200">
              <a:spcAft>
                <a:spcPts val="397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b="1">
                <a:solidFill>
                  <a:srgbClr val="000000"/>
                </a:solidFill>
                <a:latin typeface="Calibri"/>
              </a:rPr>
              <a:t>Parametri</a:t>
            </a:r>
            <a:r>
              <a:rPr lang="en-US" b="1">
                <a:solidFill>
                  <a:srgbClr val="000000"/>
                </a:solidFill>
                <a:latin typeface="Calibri"/>
              </a:rPr>
              <a:t> </a:t>
            </a:r>
            <a:r>
              <a:rPr lang="en-US" b="1">
                <a:solidFill>
                  <a:srgbClr val="000000"/>
                </a:solidFill>
                <a:latin typeface="Calibri"/>
              </a:rPr>
              <a:t>kvantizacije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115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Rezultati</a:t>
            </a:r>
            <a:endParaRPr/>
          </a:p>
        </p:txBody>
      </p:sp>
      <p:graphicFrame>
        <p:nvGraphicFramePr>
          <p:cNvPr id="643463610" name="Content Placeholder 3"/>
          <p:cNvGraphicFramePr>
            <a:graphicFrameLocks xmlns:a="http://schemas.openxmlformats.org/drawingml/2006/main"/>
          </p:cNvGraphicFramePr>
          <p:nvPr/>
        </p:nvGraphicFramePr>
        <p:xfrm rot="0">
          <a:off x="1235874" y="1935500"/>
          <a:ext cx="9720252" cy="40894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{35758FB7-9AC5-4552-8A53-C91805E547FA}</a:tableStyleId>
              </a:tblPr>
              <a:tblGrid>
                <a:gridCol w="4538867"/>
                <a:gridCol w="2573127"/>
                <a:gridCol w="2608255"/>
              </a:tblGrid>
              <a:tr h="5842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Original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Quantized</a:t>
                      </a:r>
                      <a:endParaRPr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Točnost</a:t>
                      </a:r>
                      <a:r>
                        <a:rPr lang="en-US" sz="2400"/>
                        <a:t> / Accuracy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71.97%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71.90%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Gubitak</a:t>
                      </a:r>
                      <a:r>
                        <a:rPr lang="en-US" sz="2400"/>
                        <a:t> </a:t>
                      </a:r>
                      <a:r>
                        <a:rPr lang="en-US" sz="2400"/>
                        <a:t>Točnosti</a:t>
                      </a:r>
                      <a:r>
                        <a:rPr lang="en-US" sz="2400"/>
                        <a:t> / Accuracy Loss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baseline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 -0.07%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Veličina</a:t>
                      </a:r>
                      <a:r>
                        <a:rPr lang="en-US" sz="2400"/>
                        <a:t> / Size (KB)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10274.3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5139.0</a:t>
                      </a:r>
                      <a:endParaRPr lang="en-US" sz="2400"/>
                    </a:p>
                  </a:txBody>
                  <a:tcPr/>
                </a:tc>
              </a:tr>
              <a:tr h="584212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 b="0" i="0" u="none" strike="noStrike">
                          <a:latin typeface="Tw Cen MT"/>
                        </a:rPr>
                        <a:t>Veličine</a:t>
                      </a:r>
                      <a:r>
                        <a:rPr lang="en-US" sz="2400" b="0" i="0" u="none" strike="noStrike">
                          <a:latin typeface="Tw Cen MT"/>
                        </a:rPr>
                        <a:t> / 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Size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w Cen MT"/>
                        </a:rPr>
                        <a:t> (KB)</a:t>
                      </a:r>
                      <a:endParaRPr lang="en-US" sz="2400" b="0" i="0" u="none" strike="noStrike">
                        <a:latin typeface="Tw Cen M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baseline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2400"/>
                        <a:t>5135.3 (0.5x)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Zaključivanje</a:t>
                      </a:r>
                      <a:r>
                        <a:rPr lang="en-US" sz="2400"/>
                        <a:t> / Inference (</a:t>
                      </a:r>
                      <a:r>
                        <a:rPr lang="en-US" sz="2400"/>
                        <a:t>ms</a:t>
                      </a:r>
                      <a:r>
                        <a:rPr lang="en-US" sz="2400"/>
                        <a:t>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98.50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90.12</a:t>
                      </a:r>
                      <a:endParaRPr lang="en-US" sz="2400"/>
                    </a:p>
                  </a:txBody>
                  <a:tcPr/>
                </a:tc>
              </a:tr>
              <a:tr h="58421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Ubrzanje</a:t>
                      </a:r>
                      <a:r>
                        <a:rPr lang="en-US" sz="2400"/>
                        <a:t> / Speedup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baseline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400"/>
                        <a:t>1.09x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861174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500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6961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??  Pitanja ??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">
      <a:majorFont>
        <a:latin typeface="Tw Cen MT Condensed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Borna</dc:creator>
  <cp:lastModifiedBy/>
  <cp:revision>491</cp:revision>
  <dcterms:created xsi:type="dcterms:W3CDTF">2026-04-23T14:28:40Z</dcterms:created>
  <dcterms:modified xsi:type="dcterms:W3CDTF">2026-06-01T12:56:23Z</dcterms:modified>
</cp:coreProperties>
</file>