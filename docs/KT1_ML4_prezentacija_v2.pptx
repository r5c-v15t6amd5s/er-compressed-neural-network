
<file path=[Content_Types].xml><?xml version="1.0" encoding="utf-8"?>
<Types xmlns="http://schemas.openxmlformats.org/package/2006/content-types">
  <Default Extension="xml" ContentType="application/xml"/>
  <Default Extension="jpg" ContentType="image/jpeg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10.xml" ContentType="application/vnd.openxmlformats-officedocument.presentationml.notesSlide+xml"/>
  <Override PartName="/ppt/slides/slide21.xml" ContentType="application/vnd.openxmlformats-officedocument.presentationml.slide+xml"/>
  <Override PartName="/ppt/slides/slide20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9.xml" ContentType="application/vnd.openxmlformats-officedocument.presentationml.slide+xml"/>
  <Override PartName="/ppt/slides/slide18.xml" ContentType="application/vnd.openxmlformats-officedocument.presentationml.slide+xml"/>
  <Override PartName="/ppt/slides/slide17.xml" ContentType="application/vnd.openxmlformats-officedocument.presentationml.slide+xml"/>
  <Override PartName="/ppt/slides/slide16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4.xml" ContentType="application/vnd.openxmlformats-officedocument.presentationml.slide+xml"/>
  <Override PartName="/ppt/slideLayouts/slideLayout10.xml" ContentType="application/vnd.openxmlformats-officedocument.presentationml.slideLayout+xml"/>
  <Override PartName="/ppt/slides/slide15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3.xml" ContentType="application/vnd.openxmlformats-officedocument.presentationml.slide+xml"/>
  <Override PartName="/ppt/theme/theme2.xml" ContentType="application/vnd.openxmlformats-officedocument.theme+xml"/>
  <Override PartName="/ppt/theme/theme1.xml" ContentType="application/vnd.openxmlformats-officedocument.theme+xml"/>
  <Override PartName="/ppt/slides/slide3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s/slide12.xml" ContentType="application/vnd.openxmlformats-officedocument.presentationml.slide+xml"/>
  <Override PartName="/ppt/slideLayouts/slideLayout5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s/slide7.xml" ContentType="application/vnd.openxmlformats-officedocument.presentationml.slide+xml"/>
  <Override PartName="/ppt/notesSlides/notesSlide4.xml" ContentType="application/vnd.openxmlformats-officedocument.presentationml.notesSlide+xml"/>
  <Override PartName="/ppt/tableStyles.xml" ContentType="application/vnd.openxmlformats-officedocument.presentationml.tableStyles+xml"/>
  <Override PartName="/docProps/app.xml" ContentType="application/vnd.openxmlformats-officedocument.extended-properties+xml"/>
  <Override PartName="/ppt/viewProps.xml" ContentType="application/vnd.openxmlformats-officedocument.presentationml.viewProps+xml"/>
  <Override PartName="/ppt/notesSlides/notesSlide7.xml" ContentType="application/vnd.openxmlformats-officedocument.presentationml.notesSlide+xml"/>
  <Override PartName="/ppt/presentation.xml" ContentType="application/vnd.openxmlformats-officedocument.presentationml.presentation.main+xml"/>
  <Override PartName="/ppt/slides/slide8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docProps/core.xml" ContentType="application/vnd.openxmlformats-package.core-properties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presProps.xml" ContentType="application/vnd.openxmlformats-officedocument.presentationml.presProps+xml"/>
  <Override PartName="/ppt/theme/theme3.xml" ContentType="application/vnd.openxmlformats-officedocument.theme+xml"/>
  <Override PartName="/ppt/slideLayouts/slideLayout6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s/slide5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0.xml" ContentType="application/vnd.openxmlformats-officedocument.presentationml.slide+xml"/>
  <Override PartName="/ppt/slideLayouts/slideLayout11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notesSlides/notesSlide3.xml" ContentType="application/vnd.openxmlformats-officedocument.presentationml.notesSlide+xml"/>
  <Override PartName="/ppt/slideLayouts/slideLayout1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2.xml" ContentType="application/vnd.openxmlformats-officedocument.presentationml.slideMaster+xml"/>
  <Override PartName="/ppt/slideLayouts/slideLayout22.xml" ContentType="application/vnd.openxmlformats-officedocument.presentationml.slideLayout+xml"/>
  <Override PartName="/ppt/slides/slide11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9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  <p:sldMasterId id="2147483660" r:id="rId2"/>
  </p:sldMasterIdLst>
  <p:notesMasterIdLst>
    <p:notesMasterId r:id="rId27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35758FB7-9AC5-4552-8A53-C91805E547FA}">
  <a:tblStyle styleId="{35758FB7-9AC5-4552-8A53-C91805E547FA}" styleName="Themed Style 1 - Accent 5">
    <a:tblBg>
      <a:fillRef idx="2">
        <a:schemeClr val="accent5"/>
      </a:fillRef>
    </a:tblBg>
    <a:wholeTbl>
      <a:tcTxStyle>
        <a:fontRef idx="minor">
          <a:srgbClr val="00000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2V>
    <a:lastCol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lastCol>
    <a:firstCol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firstCol>
    <a:lastRow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</a:tcBdr>
        <a:fill>
          <a:noFill/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srgbClr val="00000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</a:tcBdr>
        <a:fill>
          <a:solidFill>
            <a:schemeClr val="accent5"/>
          </a:solidFill>
        </a:fill>
      </a:tcStyle>
    </a:firstRow>
    <a:neCell>
      <a:tcStyle>
        <a:tcBdr/>
      </a:tcStyle>
    </a:neCell>
    <a:nwCell>
      <a:tcStyle>
        <a:tcBdr/>
      </a:tcStyle>
    </a:nwCell>
  </a:tblStyle>
  <a:tblStyle styleId="{5FD0F851-EC5A-4D38-B0AD-8093EC10F338}" styleName="Light Style 1 - Accent 5">
    <a:wholeTbl>
      <a:tcTxStyle>
        <a:fontRef idx="minor">
          <a:srgbClr val="000000"/>
        </a:fontRef>
        <a:schemeClr val="tx1"/>
      </a:tcTxStyle>
      <a:tcStyle>
        <a:tcBdr>
          <a:left>
            <a:ln w="12700">
              <a:noFill/>
            </a:ln>
          </a:left>
          <a:right>
            <a:ln w="12700">
              <a:noFill/>
            </a:ln>
          </a:right>
          <a:top>
            <a:ln w="12700">
              <a:solidFill>
                <a:schemeClr val="accent5"/>
              </a:solidFill>
            </a:ln>
          </a:top>
          <a:bottom>
            <a:ln w="12700">
              <a:solidFill>
                <a:schemeClr val="accent5"/>
              </a:solidFill>
            </a:ln>
          </a:bottom>
          <a:insideH>
            <a:ln w="12700">
              <a:noFill/>
            </a:ln>
          </a:insideH>
          <a:insideV>
            <a:ln w="12700"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band2V>
      <a:tcStyle>
        <a:tcBdr/>
        <a:fill>
          <a:solidFill>
            <a:schemeClr val="accent5">
              <a:alpha val="20000"/>
            </a:schemeClr>
          </a:solidFill>
        </a:fill>
      </a:tcStyle>
    </a:band2V>
    <a:lastCol>
      <a:tcStyle>
        <a:tcBdr/>
      </a:tcStyle>
    </a:lastCol>
    <a:firstCol>
      <a:tcStyle>
        <a:tcBdr/>
      </a:tcStyle>
    </a:firstCol>
    <a:lastRow>
      <a:tcStyle>
        <a:tcBdr>
          <a:top>
            <a:ln w="12700">
              <a:solidFill>
                <a:schemeClr val="accent5"/>
              </a:solidFill>
            </a:ln>
          </a:top>
        </a:tcBdr>
        <a:fill>
          <a:noFill/>
        </a:fill>
      </a:tcStyle>
    </a:lastRow>
    <a:seCell>
      <a:tcStyle>
        <a:tcBdr/>
      </a:tcStyle>
    </a:seCell>
    <a:swCell>
      <a:tcStyle>
        <a:tcBdr/>
      </a:tcStyle>
    </a:swCell>
    <a:firstRow>
      <a:tcStyle>
        <a:tcBdr>
          <a:bottom>
            <a:ln w="12700">
              <a:solidFill>
                <a:schemeClr val="accent5"/>
              </a:solidFill>
            </a:ln>
          </a:bottom>
        </a:tcBdr>
        <a:fill>
          <a:noFill/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60" d="100"/>
          <a:sy n="60" d="100"/>
        </p:scale>
        <p:origin x="884" y="48"/>
      </p:cViewPr>
      <p:guideLst>
        <p:guide pos="3840"/>
        <p:guide pos="2160" orient="horz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theme" Target="theme/theme1.xml"/><Relationship Id="rId4" Type="http://schemas.openxmlformats.org/officeDocument/2006/relationships/theme" Target="theme/theme2.xml"/><Relationship Id="rId5" Type="http://schemas.openxmlformats.org/officeDocument/2006/relationships/theme" Target="theme/theme3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 /><Relationship Id="rId29" Type="http://schemas.openxmlformats.org/officeDocument/2006/relationships/tableStyles" Target="tableStyles.xml" /><Relationship Id="rId30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6891354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085989716" name="Date Placeholder 2"/>
          <p:cNvSpPr>
            <a:spLocks noGrp="1"/>
          </p:cNvSpPr>
          <p:nvPr>
            <p:ph type="dt" idx="2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954866400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93115981" name="Notes Placeholder 4"/>
          <p:cNvSpPr>
            <a:spLocks noGrp="1"/>
          </p:cNvSpPr>
          <p:nvPr>
            <p:ph type="body" sz="quarter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1964098967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944029007" name="Slide Number Placeholder 6"/>
          <p:cNvSpPr>
            <a:spLocks noGrp="1"/>
          </p:cNvSpPr>
          <p:nvPr>
            <p:ph type="sldNum" sz="quarter" idx="10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 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 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 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 ?>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 ?>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 ?>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 ?>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051226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4510826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565875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389177B-387D-CC6B-7677-0A0578DA58F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392996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2361149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465879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CED451B-1BFA-0D28-A830-2F31D00D8D8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898963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406238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591492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BF3235-2BE0-7EFA-76D8-D86DFD02402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520277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15205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941861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19FFB89-2A1B-63FD-5823-853D377F039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553234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629778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619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F3A7356-EDCD-E531-927F-F3E5A490FEC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406975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9637657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01405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A24E9BD-5213-0599-89F3-DCAC787CA57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444029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092845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90845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D6A52C6-D483-A48D-6B3D-06AAF580FB5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326404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64983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9246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990A996-E434-D718-55BD-FC31BC5C3A6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440229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465093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34233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9AE237F-84AD-5041-DDBF-800EDCCEAE2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855691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739523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749506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91E2DF9-3576-3D26-B320-0B0A18A9097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29000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728515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80846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04DCE98-9570-B55F-FABA-92FD6D97082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251953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4284652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36060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DF49C70-1A87-00E0-DF8A-A31DFC4BC48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581502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1552815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22638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BE90646-5ABE-A0D7-31C8-0C5908EBE01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873412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503120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17092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4458378-DD9B-5A3A-46BB-4FA2C14E319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03766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8232917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80650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391629F-26F3-E007-A664-D61587A4C0A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3584CBB-68FB-D893-7740-22BE0B12A21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62E6642-013E-9019-403D-D23822D5A31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AEADCB8-D96A-2891-BABD-351B3575295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84485D2-BAAA-D798-7886-9ABA950DC20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274087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731147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79020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42C1285-0A61-B2BF-E396-F8DE46DB14C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779194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3602692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705196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E461284-06B2-10CE-A95F-265DCAF78BE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6298740" name="Rectangle 9"/>
          <p:cNvSpPr/>
          <p:nvPr/>
        </p:nvSpPr>
        <p:spPr bwMode="auto">
          <a:xfrm>
            <a:off x="0" y="0"/>
            <a:ext cx="12192000" cy="4572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>
              <a:defRPr/>
            </a:pPr>
            <a:endParaRPr lang="hr-HR"/>
          </a:p>
        </p:txBody>
      </p:sp>
      <p:sp>
        <p:nvSpPr>
          <p:cNvPr id="1231421175" name="Oval 5"/>
          <p:cNvSpPr/>
          <p:nvPr/>
        </p:nvSpPr>
        <p:spPr bwMode="auto"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 fill="norm" stroke="1" extrusionOk="0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>
              <a:defRPr/>
            </a:pPr>
            <a:endParaRPr lang="hr-HR"/>
          </a:p>
        </p:txBody>
      </p:sp>
      <p:sp>
        <p:nvSpPr>
          <p:cNvPr id="1038593744" name="Title 1"/>
          <p:cNvSpPr>
            <a:spLocks noGrp="1"/>
          </p:cNvSpPr>
          <p:nvPr>
            <p:ph type="ctrTitle"/>
          </p:nvPr>
        </p:nvSpPr>
        <p:spPr bwMode="auto"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94009210" name="Subtitle 2"/>
          <p:cNvSpPr>
            <a:spLocks noGrp="1"/>
          </p:cNvSpPr>
          <p:nvPr>
            <p:ph type="subTitle" idx="1"/>
          </p:nvPr>
        </p:nvSpPr>
        <p:spPr bwMode="auto"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/>
          </a:p>
        </p:txBody>
      </p:sp>
      <p:sp>
        <p:nvSpPr>
          <p:cNvPr id="145688568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6AD6EE87-EBD5-4F12-A48A-63ACA297AC8F}" type="datetimeFigureOut">
              <a:rPr lang="en-US"/>
              <a:t>5/30/2026</a:t>
            </a:fld>
            <a:endParaRPr lang="en-US"/>
          </a:p>
        </p:txBody>
      </p:sp>
      <p:sp>
        <p:nvSpPr>
          <p:cNvPr id="169637179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0016839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FAB73BC-B049-4115-A692-8D63A059BFB8}" type="slidenum">
              <a:rPr lang="en-US"/>
              <a:t>‹#›</a:t>
            </a:fld>
            <a:endParaRPr lang="en-US"/>
          </a:p>
        </p:txBody>
      </p:sp>
      <p:cxnSp>
        <p:nvCxnSpPr>
          <p:cNvPr id="1528148819" name="Straight Connector 7"/>
          <p:cNvCxnSpPr/>
          <p:nvPr/>
        </p:nvCxnSpPr>
        <p:spPr bwMode="auto"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23082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435713189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204754381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5D3794B-289A-4A80-97D7-111025398D45}" type="datetimeFigureOut">
              <a:rPr lang="en-US"/>
              <a:t>5/30/2026</a:t>
            </a:fld>
            <a:endParaRPr lang="en-US"/>
          </a:p>
        </p:txBody>
      </p:sp>
      <p:sp>
        <p:nvSpPr>
          <p:cNvPr id="191970916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4355620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FAB73BC-B049-4115-A692-8D63A059BFB8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7527491" name="Rectangle 8"/>
          <p:cNvSpPr/>
          <p:nvPr/>
        </p:nvSpPr>
        <p:spPr bwMode="auto">
          <a:xfrm>
            <a:off x="0" y="0"/>
            <a:ext cx="12192000" cy="4572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603339215" name="Oval 5"/>
          <p:cNvSpPr/>
          <p:nvPr/>
        </p:nvSpPr>
        <p:spPr bwMode="auto"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 fill="norm" stroke="1" extrusionOk="0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931957208" name="Title 1"/>
          <p:cNvSpPr>
            <a:spLocks noGrp="1"/>
          </p:cNvSpPr>
          <p:nvPr>
            <p:ph type="title"/>
          </p:nvPr>
        </p:nvSpPr>
        <p:spPr bwMode="auto"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b="0" spc="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48515367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51872320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A61015F-7CC6-4D0A-9D87-873EA4C304CC}" type="datetimeFigureOut">
              <a:rPr lang="en-US"/>
              <a:t>5/30/2026</a:t>
            </a:fld>
            <a:endParaRPr lang="en-US"/>
          </a:p>
        </p:txBody>
      </p:sp>
      <p:sp>
        <p:nvSpPr>
          <p:cNvPr id="151943734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9755221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FAB73BC-B049-4115-A692-8D63A059BFB8}" type="slidenum">
              <a:rPr lang="en-US"/>
              <a:t>‹#›</a:t>
            </a:fld>
            <a:endParaRPr lang="en-US"/>
          </a:p>
        </p:txBody>
      </p:sp>
      <p:cxnSp>
        <p:nvCxnSpPr>
          <p:cNvPr id="1714523149" name="Straight Connector 7"/>
          <p:cNvCxnSpPr/>
          <p:nvPr/>
        </p:nvCxnSpPr>
        <p:spPr bwMode="auto"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2005808" name="Title 1"/>
          <p:cNvSpPr>
            <a:spLocks noGrp="1"/>
          </p:cNvSpPr>
          <p:nvPr>
            <p:ph type="title"/>
          </p:nvPr>
        </p:nvSpPr>
        <p:spPr bwMode="auto">
          <a:xfrm>
            <a:off x="1024128" y="585216"/>
            <a:ext cx="9720072" cy="1499616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1434894819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1024127" y="2286000"/>
            <a:ext cx="4754880" cy="4023360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1186481795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5989320" y="2286000"/>
            <a:ext cx="4754880" cy="4023360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56577782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93C6A301-0538-44EC-B09D-202E1042A48B}" type="datetimeFigureOut">
              <a:rPr lang="en-US"/>
              <a:t>5/30/2026</a:t>
            </a:fld>
            <a:endParaRPr lang="en-US"/>
          </a:p>
        </p:txBody>
      </p:sp>
      <p:sp>
        <p:nvSpPr>
          <p:cNvPr id="223112210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65572571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FAB73BC-B049-4115-A692-8D63A059BFB8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1723131" name="Title 9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182351053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102412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>
                <a:solidFill>
                  <a:schemeClr val="accent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735544928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1024128" y="2967788"/>
            <a:ext cx="4754880" cy="3341572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1505468678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599088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cap="none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>
              <a:lnSpc>
                <a:spcPct val="90000"/>
              </a:lnSpc>
              <a:spcBef>
                <a:spcPts val="1800"/>
              </a:spcBef>
              <a:buNone/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202470514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5990888" y="2967788"/>
            <a:ext cx="4754880" cy="3341572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394781069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D789574A-8875-45EF-8EA2-3CAA0F7ABC4C}" type="datetimeFigureOut">
              <a:rPr lang="en-US"/>
              <a:t>5/30/2026</a:t>
            </a:fld>
            <a:endParaRPr lang="en-US"/>
          </a:p>
        </p:txBody>
      </p:sp>
      <p:sp>
        <p:nvSpPr>
          <p:cNvPr id="1482592231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31448419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FAB73BC-B049-4115-A692-8D63A059BFB8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270490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189621852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67EF4D4C-5367-4C26-9E2B-D8088D7FCA81}" type="datetimeFigureOut">
              <a:rPr lang="en-US"/>
              <a:t>5/30/2026</a:t>
            </a:fld>
            <a:endParaRPr lang="en-US"/>
          </a:p>
        </p:txBody>
      </p:sp>
      <p:sp>
        <p:nvSpPr>
          <p:cNvPr id="1338710595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75338686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FAB73BC-B049-4115-A692-8D63A059BFB8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1596141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6E91E96-98B0-4413-9547-46F3504108EF}" type="datetimeFigureOut">
              <a:rPr lang="en-US"/>
              <a:t>5/30/2026</a:t>
            </a:fld>
            <a:endParaRPr lang="en-US"/>
          </a:p>
        </p:txBody>
      </p:sp>
      <p:sp>
        <p:nvSpPr>
          <p:cNvPr id="846991157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95324224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FAB73BC-B049-4115-A692-8D63A059BFB8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1629227" name="Title 7"/>
          <p:cNvSpPr>
            <a:spLocks noGrp="1"/>
          </p:cNvSpPr>
          <p:nvPr>
            <p:ph type="title"/>
          </p:nvPr>
        </p:nvSpPr>
        <p:spPr bwMode="auto">
          <a:xfrm>
            <a:off x="1024128" y="471509"/>
            <a:ext cx="438912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151472799" name="Content Placeholder 2"/>
          <p:cNvSpPr>
            <a:spLocks noGrp="1"/>
          </p:cNvSpPr>
          <p:nvPr>
            <p:ph idx="1"/>
          </p:nvPr>
        </p:nvSpPr>
        <p:spPr bwMode="auto">
          <a:xfrm>
            <a:off x="5715000" y="822960"/>
            <a:ext cx="5678424" cy="518464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1034481909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1024128" y="2257506"/>
            <a:ext cx="438912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956118182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05C68B11-C5A8-448C-8CE9-B1A273C79CFC}" type="datetimeFigureOut">
              <a:rPr lang="en-US"/>
              <a:t>5/30/2026</a:t>
            </a:fld>
            <a:endParaRPr lang="en-US"/>
          </a:p>
        </p:txBody>
      </p:sp>
      <p:sp>
        <p:nvSpPr>
          <p:cNvPr id="178417832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254146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FAB73BC-B049-4115-A692-8D63A059BFB8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09405" name="Title 1"/>
          <p:cNvSpPr>
            <a:spLocks noGrp="1"/>
          </p:cNvSpPr>
          <p:nvPr>
            <p:ph type="title"/>
          </p:nvPr>
        </p:nvSpPr>
        <p:spPr bwMode="auto">
          <a:xfrm>
            <a:off x="457200" y="4960138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1056826300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0" y="-1"/>
            <a:ext cx="12188952" cy="4572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en-US"/>
          </a:p>
        </p:txBody>
      </p:sp>
      <p:sp>
        <p:nvSpPr>
          <p:cNvPr id="1427132808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610600" y="4960138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116290785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C7616CA0-919D-4A49-9C8A-62FDFB3A5183}" type="datetimeFigureOut">
              <a:rPr lang="en-US"/>
              <a:t>5/30/2026</a:t>
            </a:fld>
            <a:endParaRPr lang="en-US"/>
          </a:p>
        </p:txBody>
      </p:sp>
      <p:sp>
        <p:nvSpPr>
          <p:cNvPr id="164027534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714339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867E5644-1E61-4311-A31E-84CB9C7AA8A9}" type="slidenum">
              <a:rPr lang="en-US"/>
              <a:t>‹#›</a:t>
            </a:fld>
            <a:endParaRPr lang="en-US"/>
          </a:p>
        </p:txBody>
      </p:sp>
      <p:cxnSp>
        <p:nvCxnSpPr>
          <p:cNvPr id="925064283" name="Straight Connector 7"/>
          <p:cNvCxnSpPr/>
          <p:nvPr/>
        </p:nvCxnSpPr>
        <p:spPr bwMode="auto"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165468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1726000184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163566592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4CD73815-2707-4475-8F1A-B873CB631BB4}" type="datetimeFigureOut">
              <a:rPr lang="en-US"/>
              <a:t>5/30/2026</a:t>
            </a:fld>
            <a:endParaRPr lang="en-US"/>
          </a:p>
        </p:txBody>
      </p:sp>
      <p:sp>
        <p:nvSpPr>
          <p:cNvPr id="51898812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2421362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FAB73BC-B049-4115-A692-8D63A059BFB8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2074329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1" y="762000"/>
            <a:ext cx="2628900" cy="5410200"/>
          </a:xfrm>
        </p:spPr>
        <p:txBody>
          <a:bodyPr vert="eaVert" lIns="45720" tIns="91440" rIns="45720" bIns="91440"/>
          <a:lstStyle/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1218363091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990601" y="762000"/>
            <a:ext cx="7581899" cy="5410200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28723729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2A4AFB99-0EAB-4182-AFF8-E214C82A68F6}" type="datetimeFigureOut">
              <a:rPr lang="en-US"/>
              <a:t>5/30/2026</a:t>
            </a:fld>
            <a:endParaRPr lang="en-US"/>
          </a:p>
        </p:txBody>
      </p:sp>
      <p:sp>
        <p:nvSpPr>
          <p:cNvPr id="22830177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2724044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FAB73BC-B049-4115-A692-8D63A059BFB8}" type="slidenum">
              <a:rPr lang="en-US"/>
              <a:t>‹#›</a:t>
            </a:fld>
            <a:endParaRPr lang="en-US"/>
          </a:p>
        </p:txBody>
      </p:sp>
      <p:cxnSp>
        <p:nvCxnSpPr>
          <p:cNvPr id="1266343203" name="Straight Connector 6"/>
          <p:cNvCxnSpPr/>
          <p:nvPr/>
        </p:nvCxnSpPr>
        <p:spPr bwMode="auto"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0461829" name="Title 1"/>
          <p:cNvSpPr>
            <a:spLocks noGrp="1"/>
          </p:cNvSpPr>
          <p:nvPr>
            <p:ph type="ctrTitle"/>
          </p:nvPr>
        </p:nvSpPr>
        <p:spPr bwMode="auto">
          <a:xfrm>
            <a:off x="685800" y="2130425"/>
            <a:ext cx="7772400" cy="1470025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2041121027" name="Subtitle 2"/>
          <p:cNvSpPr>
            <a:spLocks noGrp="1"/>
          </p:cNvSpPr>
          <p:nvPr>
            <p:ph type="subTitle" idx="1"/>
          </p:nvPr>
        </p:nvSpPr>
        <p:spPr bwMode="auto">
          <a:xfrm>
            <a:off x="1371600" y="3886200"/>
            <a:ext cx="6400800" cy="1752599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/>
          </a:p>
        </p:txBody>
      </p:sp>
      <p:sp>
        <p:nvSpPr>
          <p:cNvPr id="85623061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5/30/2026</a:t>
            </a:fld>
            <a:endParaRPr lang="en-US"/>
          </a:p>
        </p:txBody>
      </p:sp>
      <p:sp>
        <p:nvSpPr>
          <p:cNvPr id="102941818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955550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386251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1994167619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157813902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5/30/2026</a:t>
            </a:fld>
            <a:endParaRPr lang="en-US"/>
          </a:p>
        </p:txBody>
      </p:sp>
      <p:sp>
        <p:nvSpPr>
          <p:cNvPr id="194536514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23366877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329576" name="Title 1"/>
          <p:cNvSpPr>
            <a:spLocks noGrp="1"/>
          </p:cNvSpPr>
          <p:nvPr>
            <p:ph type="title"/>
          </p:nvPr>
        </p:nvSpPr>
        <p:spPr bwMode="auto"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174013548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649499312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5/30/2026</a:t>
            </a:fld>
            <a:endParaRPr lang="en-US"/>
          </a:p>
        </p:txBody>
      </p:sp>
      <p:sp>
        <p:nvSpPr>
          <p:cNvPr id="180528523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6136367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819647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769851730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641065237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643592156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5/30/2026</a:t>
            </a:fld>
            <a:endParaRPr lang="en-US"/>
          </a:p>
        </p:txBody>
      </p:sp>
      <p:sp>
        <p:nvSpPr>
          <p:cNvPr id="1782032252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3353634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915851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1340829728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301435443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816861590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522932229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1444880330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5/30/2026</a:t>
            </a:fld>
            <a:endParaRPr lang="en-US"/>
          </a:p>
        </p:txBody>
      </p:sp>
      <p:sp>
        <p:nvSpPr>
          <p:cNvPr id="2128204299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66689681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436165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759800331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5/30/2026</a:t>
            </a:fld>
            <a:endParaRPr lang="en-US"/>
          </a:p>
        </p:txBody>
      </p:sp>
      <p:sp>
        <p:nvSpPr>
          <p:cNvPr id="1297561182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51115398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7174095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5/30/2026</a:t>
            </a:fld>
            <a:endParaRPr lang="en-US"/>
          </a:p>
        </p:txBody>
      </p:sp>
      <p:sp>
        <p:nvSpPr>
          <p:cNvPr id="1514953966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12798047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9865336" name="Title 1"/>
          <p:cNvSpPr>
            <a:spLocks noGrp="1"/>
          </p:cNvSpPr>
          <p:nvPr>
            <p:ph type="title"/>
          </p:nvPr>
        </p:nvSpPr>
        <p:spPr bwMode="auto"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1575556515" name="Content Placeholder 2"/>
          <p:cNvSpPr>
            <a:spLocks noGrp="1"/>
          </p:cNvSpPr>
          <p:nvPr>
            <p:ph idx="1"/>
          </p:nvPr>
        </p:nvSpPr>
        <p:spPr bwMode="auto"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153274470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000594816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5/30/2026</a:t>
            </a:fld>
            <a:endParaRPr lang="en-US"/>
          </a:p>
        </p:txBody>
      </p:sp>
      <p:sp>
        <p:nvSpPr>
          <p:cNvPr id="2071742393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5765314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6974364" name="Title 1"/>
          <p:cNvSpPr>
            <a:spLocks noGrp="1"/>
          </p:cNvSpPr>
          <p:nvPr>
            <p:ph type="title"/>
          </p:nvPr>
        </p:nvSpPr>
        <p:spPr bwMode="auto"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1523521910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en-US"/>
          </a:p>
        </p:txBody>
      </p:sp>
      <p:sp>
        <p:nvSpPr>
          <p:cNvPr id="579204524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477543469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5/30/2026</a:t>
            </a:fld>
            <a:endParaRPr lang="en-US"/>
          </a:p>
        </p:txBody>
      </p:sp>
      <p:sp>
        <p:nvSpPr>
          <p:cNvPr id="855117487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30389326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720786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1228736802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189668605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5/30/2026</a:t>
            </a:fld>
            <a:endParaRPr lang="en-US"/>
          </a:p>
        </p:txBody>
      </p:sp>
      <p:sp>
        <p:nvSpPr>
          <p:cNvPr id="199368930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2538822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8564499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6629400" y="274638"/>
            <a:ext cx="2057400" cy="5851525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707479133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457200" y="274638"/>
            <a:ext cx="6019800" cy="5851525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99665649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5/30/2026</a:t>
            </a:fld>
            <a:endParaRPr lang="en-US"/>
          </a:p>
        </p:txBody>
      </p:sp>
      <p:sp>
        <p:nvSpPr>
          <p:cNvPr id="127656070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9431514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5546327" name="Title Placeholder 1"/>
          <p:cNvSpPr>
            <a:spLocks noGrp="1"/>
          </p:cNvSpPr>
          <p:nvPr>
            <p:ph type="title"/>
          </p:nvPr>
        </p:nvSpPr>
        <p:spPr bwMode="auto"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213972185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708839441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pPr>
              <a:defRPr/>
            </a:pPr>
            <a:fld id="{90298CD5-6C1E-4009-B41F-6DF62E31D3BE}" type="datetimeFigureOut">
              <a:rPr lang="en-US"/>
              <a:t>5/30/2026</a:t>
            </a:fld>
            <a:endParaRPr lang="en-US"/>
          </a:p>
        </p:txBody>
      </p:sp>
      <p:sp>
        <p:nvSpPr>
          <p:cNvPr id="195572931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17264970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pPr>
              <a:defRPr/>
            </a:pPr>
            <a:fld id="{4FAB73BC-B049-4115-A692-8D63A059BFB8}" type="slidenum">
              <a:rPr lang="en-US"/>
              <a:t>‹#›</a:t>
            </a:fld>
            <a:endParaRPr lang="en-US"/>
          </a:p>
        </p:txBody>
      </p:sp>
      <p:cxnSp>
        <p:nvCxnSpPr>
          <p:cNvPr id="878263438" name="Straight Connector 6"/>
          <p:cNvCxnSpPr/>
          <p:nvPr/>
        </p:nvCxnSpPr>
        <p:spPr bwMode="auto"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>
        <a:lnSpc>
          <a:spcPct val="80000"/>
        </a:lnSpc>
        <a:spcBef>
          <a:spcPts val="0"/>
        </a:spcBef>
        <a:buNone/>
        <a:defRPr sz="5000" cap="all" spc="10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/>
        <a:buChar char=" "/>
        <a:defRPr sz="2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/>
        <a:buChar char=""/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/>
        <a:buChar char=""/>
        <a:defRPr sz="14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/>
        <a:buChar char=""/>
        <a:defRPr sz="14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/>
        <a:buChar char=""/>
        <a:defRPr sz="14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/>
        <a:buChar char=""/>
        <a:defRPr sz="14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/>
        <a:buChar char=""/>
        <a:defRPr sz="1400">
          <a:solidFill>
            <a:schemeClr val="tx1"/>
          </a:solidFill>
          <a:latin typeface="+mn-lt"/>
          <a:ea typeface="+mn-ea"/>
          <a:cs typeface="+mn-cs"/>
        </a:defRPr>
      </a:lvl7pPr>
      <a:lvl8pPr marL="1216151" indent="-137160" algn="l" defTabSz="914400" rtl="0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/>
        <a:buChar char=""/>
        <a:defRPr sz="1400">
          <a:solidFill>
            <a:schemeClr val="tx1"/>
          </a:solidFill>
          <a:latin typeface="+mn-lt"/>
          <a:ea typeface="+mn-ea"/>
          <a:cs typeface="+mn-cs"/>
        </a:defRPr>
      </a:lvl8pPr>
      <a:lvl9pPr marL="1362455" indent="-137160" algn="l" defTabSz="914400" rtl="0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/>
        <a:buChar char=""/>
        <a:defRPr sz="14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5800956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1160738432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1714894528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5BCAD085-E8A6-8845-BD4E-CB4CCA059FC4}" type="datetimeFigureOut">
              <a:rPr lang="en-US"/>
              <a:t>5/30/2026</a:t>
            </a:fld>
            <a:endParaRPr lang="en-US"/>
          </a:p>
        </p:txBody>
      </p:sp>
      <p:sp>
        <p:nvSpPr>
          <p:cNvPr id="1989355807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84069795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457200" rtl="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3029271" name="Title 1"/>
          <p:cNvSpPr>
            <a:spLocks noGrp="1"/>
          </p:cNvSpPr>
          <p:nvPr>
            <p:ph type="ctrTitle"/>
          </p:nvPr>
        </p:nvSpPr>
        <p:spPr bwMode="auto">
          <a:xfrm>
            <a:off x="-1366461" y="4960137"/>
            <a:ext cx="9596061" cy="1463040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/>
          <a:p>
            <a:pPr>
              <a:defRPr/>
            </a:pPr>
            <a:r>
              <a:rPr lang="en-US" sz="4400">
                <a:ea typeface="+mj-lt"/>
                <a:cs typeface="+mj-lt"/>
              </a:rPr>
              <a:t>KT1 - ML4 - </a:t>
            </a:r>
            <a:br>
              <a:rPr lang="en-US" sz="4400">
                <a:ea typeface="+mj-lt"/>
                <a:cs typeface="+mj-lt"/>
              </a:rPr>
            </a:br>
            <a:r>
              <a:rPr lang="en-US" sz="4400">
                <a:ea typeface="+mj-lt"/>
                <a:cs typeface="+mj-lt"/>
              </a:rPr>
              <a:t>Kompresija</a:t>
            </a:r>
            <a:r>
              <a:rPr lang="en-US" sz="4400">
                <a:ea typeface="+mj-lt"/>
                <a:cs typeface="+mj-lt"/>
              </a:rPr>
              <a:t> ML </a:t>
            </a:r>
            <a:r>
              <a:rPr lang="en-US" sz="4400">
                <a:ea typeface="+mj-lt"/>
                <a:cs typeface="+mj-lt"/>
              </a:rPr>
              <a:t>modela</a:t>
            </a:r>
            <a:r>
              <a:rPr lang="en-US" sz="4400">
                <a:ea typeface="+mj-lt"/>
                <a:cs typeface="+mj-lt"/>
              </a:rPr>
              <a:t> </a:t>
            </a:r>
            <a:endParaRPr sz="4400"/>
          </a:p>
        </p:txBody>
      </p:sp>
      <p:sp>
        <p:nvSpPr>
          <p:cNvPr id="143990701" name="Subtitle 2"/>
          <p:cNvSpPr>
            <a:spLocks noGrp="1"/>
          </p:cNvSpPr>
          <p:nvPr>
            <p:ph type="subTitle" idx="1"/>
          </p:nvPr>
        </p:nvSpPr>
        <p:spPr bwMode="auto">
          <a:xfrm>
            <a:off x="8610600" y="4960137"/>
            <a:ext cx="3581400" cy="1463040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en-US" b="1"/>
              <a:t>TEHNIČKI FAKULTET u </a:t>
            </a:r>
            <a:r>
              <a:rPr lang="en-US" b="1"/>
              <a:t>Rijeci</a:t>
            </a:r>
            <a:endParaRPr lang="en-US" b="1"/>
          </a:p>
          <a:p>
            <a:pPr>
              <a:defRPr/>
            </a:pPr>
            <a:r>
              <a:rPr lang="en-US" sz="1600"/>
              <a:t>Sveučilišni</a:t>
            </a:r>
            <a:r>
              <a:rPr lang="en-US" sz="1600"/>
              <a:t> </a:t>
            </a:r>
            <a:r>
              <a:rPr lang="en-US" sz="1600"/>
              <a:t>diplomski</a:t>
            </a:r>
            <a:r>
              <a:rPr lang="en-US" sz="1600"/>
              <a:t> </a:t>
            </a:r>
            <a:r>
              <a:rPr lang="en-US" sz="1600"/>
              <a:t>studij</a:t>
            </a:r>
            <a:r>
              <a:rPr lang="en-US" sz="1600"/>
              <a:t> </a:t>
            </a:r>
            <a:r>
              <a:rPr lang="en-US" sz="1600"/>
              <a:t>računarstva</a:t>
            </a:r>
            <a:endParaRPr lang="en-US" sz="1600"/>
          </a:p>
          <a:p>
            <a:pPr>
              <a:defRPr/>
            </a:pPr>
            <a:r>
              <a:rPr lang="en-US" sz="1600"/>
              <a:t>Sudionici</a:t>
            </a:r>
            <a:r>
              <a:rPr lang="en-US" sz="1600"/>
              <a:t>: Jakov Dragičević, Silvia Petrović, Luka Capan, Borna Budić 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788387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Zaduženja</a:t>
            </a:r>
            <a:r>
              <a:rPr lang="en-US"/>
              <a:t> u </a:t>
            </a:r>
            <a:r>
              <a:rPr lang="en-US"/>
              <a:t>timu</a:t>
            </a:r>
            <a:endParaRPr/>
          </a:p>
        </p:txBody>
      </p:sp>
      <p:sp>
        <p:nvSpPr>
          <p:cNvPr id="462948942" name="Content Placeholder 8"/>
          <p:cNvSpPr>
            <a:spLocks noGrp="1"/>
          </p:cNvSpPr>
          <p:nvPr>
            <p:ph idx="1"/>
          </p:nvPr>
        </p:nvSpPr>
        <p:spPr bwMode="auto"/>
        <p:txBody>
          <a:bodyPr vert="horz" lIns="45720" tIns="45720" rIns="45720" bIns="45720" rtlCol="0" anchor="t">
            <a:normAutofit/>
          </a:bodyPr>
          <a:lstStyle/>
          <a:p>
            <a:pPr>
              <a:buFont typeface="Arial"/>
              <a:buChar char="•"/>
              <a:defRPr/>
            </a:pPr>
            <a:endParaRPr lang="en-US"/>
          </a:p>
          <a:p>
            <a:pPr>
              <a:buFont typeface="Arial"/>
              <a:buChar char="•"/>
              <a:defRPr/>
            </a:pPr>
            <a:endParaRPr lang="en-US"/>
          </a:p>
          <a:p>
            <a:pPr>
              <a:buFont typeface="Arial"/>
              <a:buChar char="•"/>
              <a:defRPr/>
            </a:pPr>
            <a:endParaRPr lang="en-US"/>
          </a:p>
          <a:p>
            <a:pPr>
              <a:buFont typeface="Arial"/>
              <a:buChar char="•"/>
              <a:defRPr/>
            </a:pPr>
            <a:endParaRPr lang="en-US"/>
          </a:p>
          <a:p>
            <a:pPr>
              <a:buFont typeface="Arial"/>
              <a:buChar char="•"/>
              <a:defRPr/>
            </a:pPr>
            <a:r>
              <a:rPr lang="en-US"/>
              <a:t> </a:t>
            </a:r>
            <a:r>
              <a:rPr lang="en-US"/>
              <a:t>Definira</a:t>
            </a:r>
            <a:r>
              <a:rPr lang="en-US"/>
              <a:t> </a:t>
            </a:r>
            <a:r>
              <a:rPr lang="en-US"/>
              <a:t>sve</a:t>
            </a:r>
            <a:r>
              <a:rPr lang="en-US"/>
              <a:t> </a:t>
            </a:r>
            <a:r>
              <a:rPr lang="en-US"/>
              <a:t>slojeve</a:t>
            </a:r>
            <a:endParaRPr lang="en-US"/>
          </a:p>
          <a:p>
            <a:pPr marL="127634" lvl="1" indent="0">
              <a:buClr>
                <a:schemeClr val="accent1"/>
              </a:buClr>
              <a:buFont typeface="Courier New,monospace"/>
              <a:buNone/>
              <a:defRPr/>
            </a:pPr>
            <a:r>
              <a:rPr lang="en-US">
                <a:solidFill>
                  <a:srgbClr val="4A6572"/>
                </a:solidFill>
                <a:latin typeface="Calibri"/>
                <a:ea typeface="Calibri"/>
                <a:cs typeface="Calibri"/>
              </a:rPr>
              <a:t>       Conv Layer, </a:t>
            </a:r>
            <a:r>
              <a:rPr lang="en-US">
                <a:solidFill>
                  <a:srgbClr val="4A6572"/>
                </a:solidFill>
                <a:latin typeface="Calibri"/>
                <a:ea typeface="Calibri"/>
                <a:cs typeface="Calibri"/>
              </a:rPr>
              <a:t>ReLU</a:t>
            </a:r>
            <a:r>
              <a:rPr lang="en-US">
                <a:solidFill>
                  <a:srgbClr val="4A6572"/>
                </a:solidFill>
                <a:latin typeface="Calibri"/>
                <a:ea typeface="Calibri"/>
                <a:cs typeface="Calibri"/>
              </a:rPr>
              <a:t> Layer, </a:t>
            </a:r>
            <a:r>
              <a:rPr lang="en-US">
                <a:solidFill>
                  <a:srgbClr val="4A6572"/>
                </a:solidFill>
                <a:latin typeface="Calibri"/>
                <a:ea typeface="Calibri"/>
                <a:cs typeface="Calibri"/>
              </a:rPr>
              <a:t>MaxPool</a:t>
            </a:r>
            <a:r>
              <a:rPr lang="en-US">
                <a:solidFill>
                  <a:srgbClr val="4A6572"/>
                </a:solidFill>
                <a:latin typeface="Calibri"/>
                <a:ea typeface="Calibri"/>
                <a:cs typeface="Calibri"/>
              </a:rPr>
              <a:t> Layer, FC Layer, </a:t>
            </a:r>
            <a:r>
              <a:rPr lang="en-US">
                <a:solidFill>
                  <a:srgbClr val="4A6572"/>
                </a:solidFill>
                <a:latin typeface="Calibri"/>
                <a:ea typeface="Calibri"/>
                <a:cs typeface="Calibri"/>
              </a:rPr>
              <a:t>Softmax</a:t>
            </a:r>
            <a:r>
              <a:rPr lang="en-US">
                <a:solidFill>
                  <a:srgbClr val="4A6572"/>
                </a:solidFill>
                <a:latin typeface="Calibri"/>
                <a:ea typeface="Calibri"/>
                <a:cs typeface="Calibri"/>
              </a:rPr>
              <a:t> Layer </a:t>
            </a:r>
            <a:endParaRPr lang="en-US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>
              <a:buFont typeface="Arial"/>
              <a:buChar char="•"/>
              <a:defRPr/>
            </a:pPr>
            <a:r>
              <a:rPr lang="en-US">
                <a:solidFill>
                  <a:srgbClr val="000000"/>
                </a:solidFill>
                <a:latin typeface="Tw Cen MT"/>
                <a:ea typeface="Calibri"/>
                <a:cs typeface="Calibri"/>
              </a:rPr>
              <a:t> </a:t>
            </a:r>
            <a:r>
              <a:rPr lang="en-US">
                <a:solidFill>
                  <a:srgbClr val="000000"/>
                </a:solidFill>
                <a:latin typeface="Tw Cen MT"/>
                <a:ea typeface="Calibri"/>
                <a:cs typeface="Calibri"/>
              </a:rPr>
              <a:t>Omogućava</a:t>
            </a:r>
            <a:r>
              <a:rPr lang="en-US">
                <a:solidFill>
                  <a:srgbClr val="000000"/>
                </a:solidFill>
                <a:latin typeface="Tw Cen MT"/>
                <a:ea typeface="Calibri"/>
                <a:cs typeface="Calibri"/>
              </a:rPr>
              <a:t> interface</a:t>
            </a:r>
            <a:endParaRPr lang="en-US" sz="1800">
              <a:solidFill>
                <a:srgbClr val="000000"/>
              </a:solidFill>
              <a:latin typeface="Tw Cen MT"/>
              <a:ea typeface="Calibri"/>
              <a:cs typeface="Calibri"/>
            </a:endParaRPr>
          </a:p>
          <a:p>
            <a:pPr marL="127634" lvl="1" indent="0">
              <a:buClr>
                <a:schemeClr val="accent1"/>
              </a:buClr>
              <a:buFont typeface="Courier New"/>
              <a:buNone/>
              <a:defRPr/>
            </a:pPr>
            <a:r>
              <a:rPr lang="en-US">
                <a:solidFill>
                  <a:srgbClr val="4A6572"/>
                </a:solidFill>
                <a:latin typeface="Calibri"/>
                <a:ea typeface="Calibri"/>
                <a:cs typeface="Calibri"/>
              </a:rPr>
              <a:t>       forward(), backward(), </a:t>
            </a:r>
            <a:r>
              <a:rPr lang="en-US">
                <a:solidFill>
                  <a:srgbClr val="4A6572"/>
                </a:solidFill>
                <a:latin typeface="Calibri"/>
                <a:ea typeface="Calibri"/>
                <a:cs typeface="Calibri"/>
              </a:rPr>
              <a:t>get_trainable_layers</a:t>
            </a:r>
            <a:r>
              <a:rPr lang="en-US">
                <a:solidFill>
                  <a:srgbClr val="4A6572"/>
                </a:solidFill>
                <a:latin typeface="Calibri"/>
                <a:ea typeface="Calibri"/>
                <a:cs typeface="Calibri"/>
              </a:rPr>
              <a:t>(), </a:t>
            </a:r>
            <a:r>
              <a:rPr lang="en-US">
                <a:solidFill>
                  <a:srgbClr val="4A6572"/>
                </a:solidFill>
                <a:latin typeface="Calibri"/>
                <a:ea typeface="Calibri"/>
                <a:cs typeface="Calibri"/>
              </a:rPr>
              <a:t>get_param_count</a:t>
            </a:r>
            <a:r>
              <a:rPr lang="en-US">
                <a:solidFill>
                  <a:srgbClr val="4A6572"/>
                </a:solidFill>
                <a:latin typeface="Calibri"/>
                <a:ea typeface="Calibri"/>
                <a:cs typeface="Calibri"/>
              </a:rPr>
              <a:t>()</a:t>
            </a:r>
            <a:endParaRPr lang="en-US">
              <a:solidFill>
                <a:srgbClr val="000000"/>
              </a:solidFill>
              <a:latin typeface="Tw Cen MT"/>
              <a:ea typeface="Calibri"/>
              <a:cs typeface="Calibri"/>
            </a:endParaRPr>
          </a:p>
          <a:p>
            <a:pPr>
              <a:buFont typeface="Arial"/>
              <a:buChar char="•"/>
              <a:defRPr/>
            </a:pPr>
            <a:r>
              <a:rPr lang="en-US">
                <a:solidFill>
                  <a:srgbClr val="000000"/>
                </a:solidFill>
                <a:latin typeface="Tw Cen MT"/>
                <a:ea typeface="Calibri"/>
                <a:cs typeface="Calibri"/>
              </a:rPr>
              <a:t> Samo NumPy - </a:t>
            </a:r>
            <a:r>
              <a:rPr lang="en-US">
                <a:solidFill>
                  <a:srgbClr val="000000"/>
                </a:solidFill>
                <a:latin typeface="Tw Cen MT"/>
                <a:ea typeface="Calibri"/>
                <a:cs typeface="Calibri"/>
              </a:rPr>
              <a:t>nema</a:t>
            </a:r>
            <a:r>
              <a:rPr lang="en-US">
                <a:solidFill>
                  <a:srgbClr val="000000"/>
                </a:solidFill>
                <a:latin typeface="Tw Cen MT"/>
                <a:ea typeface="Calibri"/>
                <a:cs typeface="Calibri"/>
              </a:rPr>
              <a:t> </a:t>
            </a:r>
            <a:r>
              <a:rPr lang="en-US">
                <a:solidFill>
                  <a:srgbClr val="000000"/>
                </a:solidFill>
                <a:latin typeface="Tw Cen MT"/>
                <a:ea typeface="Calibri"/>
                <a:cs typeface="Calibri"/>
              </a:rPr>
              <a:t>vanjskih</a:t>
            </a:r>
            <a:r>
              <a:rPr lang="en-US">
                <a:solidFill>
                  <a:srgbClr val="000000"/>
                </a:solidFill>
                <a:latin typeface="Tw Cen MT"/>
                <a:ea typeface="Calibri"/>
                <a:cs typeface="Calibri"/>
              </a:rPr>
              <a:t> </a:t>
            </a:r>
            <a:r>
              <a:rPr lang="en-US">
                <a:solidFill>
                  <a:srgbClr val="000000"/>
                </a:solidFill>
                <a:latin typeface="Tw Cen MT"/>
                <a:ea typeface="Calibri"/>
                <a:cs typeface="Calibri"/>
              </a:rPr>
              <a:t>resursa</a:t>
            </a:r>
            <a:endParaRPr lang="en-US">
              <a:solidFill>
                <a:srgbClr val="000000"/>
              </a:solidFill>
              <a:latin typeface="Tw Cen MT"/>
              <a:ea typeface="Calibri"/>
              <a:cs typeface="Calibri"/>
            </a:endParaRPr>
          </a:p>
          <a:p>
            <a:pPr marL="264795" lvl="1">
              <a:buFont typeface="Courier New"/>
              <a:buChar char="o"/>
              <a:defRPr/>
            </a:pPr>
            <a:endParaRPr lang="en-US">
              <a:solidFill>
                <a:srgbClr val="000000"/>
              </a:solidFill>
              <a:latin typeface="Tw Cen MT"/>
              <a:ea typeface="Calibri"/>
              <a:cs typeface="Calibri"/>
            </a:endParaRPr>
          </a:p>
        </p:txBody>
      </p:sp>
      <p:sp>
        <p:nvSpPr>
          <p:cNvPr id="1111352791" name="Rectangle 9"/>
          <p:cNvSpPr/>
          <p:nvPr/>
        </p:nvSpPr>
        <p:spPr bwMode="auto">
          <a:xfrm>
            <a:off x="245183" y="2293862"/>
            <a:ext cx="2337228" cy="14046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154862359" name="TextBox 10"/>
          <p:cNvSpPr txBox="1"/>
          <p:nvPr/>
        </p:nvSpPr>
        <p:spPr bwMode="auto">
          <a:xfrm>
            <a:off x="854926" y="2397510"/>
            <a:ext cx="1124414" cy="43088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/>
            <a:spAutoFit/>
          </a:bodyPr>
          <a:lstStyle/>
          <a:p>
            <a:pPr algn="ctr">
              <a:defRPr/>
            </a:pPr>
            <a:r>
              <a:rPr lang="en-US" sz="2200">
                <a:solidFill>
                  <a:schemeClr val="bg1"/>
                </a:solidFill>
              </a:rPr>
              <a:t>Luka</a:t>
            </a:r>
            <a:endParaRPr/>
          </a:p>
        </p:txBody>
      </p:sp>
      <p:sp>
        <p:nvSpPr>
          <p:cNvPr id="1957798923" name="TextBox 12"/>
          <p:cNvSpPr txBox="1"/>
          <p:nvPr/>
        </p:nvSpPr>
        <p:spPr bwMode="auto">
          <a:xfrm>
            <a:off x="501804" y="2992242"/>
            <a:ext cx="1830657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/>
            <a:spAutoFit/>
          </a:bodyPr>
          <a:lstStyle/>
          <a:p>
            <a:pPr algn="ctr">
              <a:defRPr/>
            </a:pPr>
            <a:r>
              <a:rPr lang="en-US">
                <a:solidFill>
                  <a:schemeClr val="bg1"/>
                </a:solidFill>
              </a:rPr>
              <a:t>CNN </a:t>
            </a:r>
            <a:r>
              <a:rPr lang="en-US">
                <a:solidFill>
                  <a:schemeClr val="bg1"/>
                </a:solidFill>
              </a:rPr>
              <a:t>arhitektura</a:t>
            </a:r>
            <a:endParaRPr lang="en-US">
              <a:solidFill>
                <a:schemeClr val="bg1"/>
              </a:solidFill>
            </a:endParaRPr>
          </a:p>
        </p:txBody>
      </p:sp>
      <p:sp>
        <p:nvSpPr>
          <p:cNvPr id="128140771" name="Arrow: Right 13"/>
          <p:cNvSpPr/>
          <p:nvPr/>
        </p:nvSpPr>
        <p:spPr bwMode="auto">
          <a:xfrm>
            <a:off x="2583364" y="2852852"/>
            <a:ext cx="836341" cy="260195"/>
          </a:xfrm>
          <a:prstGeom prst="right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149612954" name="Rectangle 14"/>
          <p:cNvSpPr/>
          <p:nvPr/>
        </p:nvSpPr>
        <p:spPr bwMode="auto">
          <a:xfrm>
            <a:off x="3423279" y="2303155"/>
            <a:ext cx="2337228" cy="1404624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1573565249" name="TextBox 15"/>
          <p:cNvSpPr txBox="1"/>
          <p:nvPr/>
        </p:nvSpPr>
        <p:spPr bwMode="auto">
          <a:xfrm>
            <a:off x="4033023" y="2406803"/>
            <a:ext cx="1124414" cy="43088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/>
            <a:spAutoFit/>
          </a:bodyPr>
          <a:lstStyle/>
          <a:p>
            <a:pPr algn="ctr">
              <a:defRPr/>
            </a:pPr>
            <a:r>
              <a:rPr lang="en-US" sz="2200">
                <a:solidFill>
                  <a:srgbClr val="000000"/>
                </a:solidFill>
              </a:rPr>
              <a:t>Borna</a:t>
            </a:r>
            <a:endParaRPr/>
          </a:p>
        </p:txBody>
      </p:sp>
      <p:sp>
        <p:nvSpPr>
          <p:cNvPr id="572558191" name="TextBox 16"/>
          <p:cNvSpPr txBox="1"/>
          <p:nvPr/>
        </p:nvSpPr>
        <p:spPr bwMode="auto">
          <a:xfrm>
            <a:off x="3679901" y="3001535"/>
            <a:ext cx="1830657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/>
            <a:spAutoFit/>
          </a:bodyPr>
          <a:lstStyle/>
          <a:p>
            <a:pPr algn="ctr">
              <a:defRPr/>
            </a:pPr>
            <a:r>
              <a:rPr lang="en-US">
                <a:solidFill>
                  <a:srgbClr val="000000"/>
                </a:solidFill>
              </a:rPr>
              <a:t>Treniranje</a:t>
            </a:r>
            <a:endParaRPr lang="en-US"/>
          </a:p>
        </p:txBody>
      </p:sp>
      <p:sp>
        <p:nvSpPr>
          <p:cNvPr id="1040291910" name="Rectangle 18"/>
          <p:cNvSpPr/>
          <p:nvPr/>
        </p:nvSpPr>
        <p:spPr bwMode="auto">
          <a:xfrm>
            <a:off x="6629255" y="2321740"/>
            <a:ext cx="2337228" cy="1404624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1946975525" name="TextBox 19"/>
          <p:cNvSpPr txBox="1"/>
          <p:nvPr/>
        </p:nvSpPr>
        <p:spPr bwMode="auto">
          <a:xfrm>
            <a:off x="7238998" y="2425388"/>
            <a:ext cx="1124414" cy="43088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/>
            <a:spAutoFit/>
          </a:bodyPr>
          <a:lstStyle/>
          <a:p>
            <a:pPr algn="ctr">
              <a:defRPr/>
            </a:pPr>
            <a:r>
              <a:rPr lang="en-US" sz="2200">
                <a:solidFill>
                  <a:srgbClr val="000000"/>
                </a:solidFill>
              </a:rPr>
              <a:t>Silvia</a:t>
            </a:r>
            <a:endParaRPr/>
          </a:p>
        </p:txBody>
      </p:sp>
      <p:sp>
        <p:nvSpPr>
          <p:cNvPr id="726135299" name="TextBox 20"/>
          <p:cNvSpPr txBox="1"/>
          <p:nvPr/>
        </p:nvSpPr>
        <p:spPr bwMode="auto">
          <a:xfrm>
            <a:off x="6885876" y="3020120"/>
            <a:ext cx="1830657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/>
            <a:spAutoFit/>
          </a:bodyPr>
          <a:lstStyle/>
          <a:p>
            <a:pPr algn="ctr">
              <a:defRPr/>
            </a:pPr>
            <a:r>
              <a:rPr lang="en-US">
                <a:solidFill>
                  <a:srgbClr val="000000"/>
                </a:solidFill>
              </a:rPr>
              <a:t>Pruning</a:t>
            </a:r>
            <a:endParaRPr lang="en-US"/>
          </a:p>
        </p:txBody>
      </p:sp>
      <p:sp>
        <p:nvSpPr>
          <p:cNvPr id="239947835" name="Rectangle 22"/>
          <p:cNvSpPr/>
          <p:nvPr/>
        </p:nvSpPr>
        <p:spPr bwMode="auto">
          <a:xfrm>
            <a:off x="9618422" y="2321739"/>
            <a:ext cx="2337228" cy="1404624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22299688" name="TextBox 23"/>
          <p:cNvSpPr txBox="1"/>
          <p:nvPr/>
        </p:nvSpPr>
        <p:spPr bwMode="auto">
          <a:xfrm>
            <a:off x="10224828" y="2453264"/>
            <a:ext cx="1124414" cy="43088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/>
            <a:spAutoFit/>
          </a:bodyPr>
          <a:lstStyle/>
          <a:p>
            <a:pPr algn="ctr">
              <a:defRPr/>
            </a:pPr>
            <a:r>
              <a:rPr lang="en-US" sz="2200">
                <a:solidFill>
                  <a:srgbClr val="000000"/>
                </a:solidFill>
              </a:rPr>
              <a:t>Jakov</a:t>
            </a:r>
            <a:endParaRPr/>
          </a:p>
        </p:txBody>
      </p:sp>
      <p:sp>
        <p:nvSpPr>
          <p:cNvPr id="1115216744" name="TextBox 24"/>
          <p:cNvSpPr txBox="1"/>
          <p:nvPr/>
        </p:nvSpPr>
        <p:spPr bwMode="auto">
          <a:xfrm>
            <a:off x="9871707" y="3047996"/>
            <a:ext cx="1830657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/>
            <a:spAutoFit/>
          </a:bodyPr>
          <a:lstStyle/>
          <a:p>
            <a:pPr algn="ctr">
              <a:defRPr/>
            </a:pPr>
            <a:r>
              <a:rPr lang="en-US"/>
              <a:t>Kvantizacija</a:t>
            </a:r>
            <a:endParaRPr/>
          </a:p>
        </p:txBody>
      </p:sp>
      <p:sp>
        <p:nvSpPr>
          <p:cNvPr id="1258338624" name="Arrow: Right 29"/>
          <p:cNvSpPr/>
          <p:nvPr/>
        </p:nvSpPr>
        <p:spPr bwMode="auto">
          <a:xfrm>
            <a:off x="5789339" y="2871437"/>
            <a:ext cx="836341" cy="260195"/>
          </a:xfrm>
          <a:prstGeom prst="right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281183359" name="Arrow: Right 30"/>
          <p:cNvSpPr/>
          <p:nvPr/>
        </p:nvSpPr>
        <p:spPr bwMode="auto">
          <a:xfrm flipH="0" flipV="0">
            <a:off x="8967436" y="2880729"/>
            <a:ext cx="650985" cy="260194"/>
          </a:xfrm>
          <a:prstGeom prst="right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588284" name="Content Placeholder 2"/>
          <p:cNvSpPr>
            <a:spLocks noGrp="1"/>
          </p:cNvSpPr>
          <p:nvPr>
            <p:ph idx="1"/>
          </p:nvPr>
        </p:nvSpPr>
        <p:spPr bwMode="auto">
          <a:xfrm>
            <a:off x="206372" y="6421244"/>
            <a:ext cx="11727292" cy="343457"/>
          </a:xfrm>
        </p:spPr>
        <p:txBody>
          <a:bodyPr vert="horz" lIns="45720" tIns="45720" rIns="45720" bIns="45720" rtlCol="0" anchor="t">
            <a:normAutofit fontScale="85000" lnSpcReduction="20000"/>
          </a:bodyPr>
          <a:lstStyle/>
          <a:p>
            <a:pPr>
              <a:defRPr/>
            </a:pPr>
            <a:r>
              <a:rPr lang="en-US"/>
              <a:t>       </a:t>
            </a:r>
            <a:r>
              <a:rPr lang="en-US" b="1"/>
              <a:t>INPUT</a:t>
            </a:r>
            <a:r>
              <a:rPr lang="en-US"/>
              <a:t>: (N, 3, 100, 100) RGB Slike                                                  </a:t>
            </a:r>
            <a:r>
              <a:rPr lang="en-US" b="1"/>
              <a:t>OUTPUT</a:t>
            </a:r>
            <a:r>
              <a:rPr lang="en-US"/>
              <a:t>: (N, 261) </a:t>
            </a:r>
            <a:r>
              <a:rPr lang="en-US"/>
              <a:t>vjerojatnosti</a:t>
            </a:r>
            <a:r>
              <a:rPr lang="en-US"/>
              <a:t> klase</a:t>
            </a:r>
            <a:endParaRPr/>
          </a:p>
          <a:p>
            <a:pPr>
              <a:defRPr/>
            </a:pPr>
            <a:endParaRPr lang="en-US"/>
          </a:p>
        </p:txBody>
      </p:sp>
      <p:cxnSp>
        <p:nvCxnSpPr>
          <p:cNvPr id="2101069377" name="Straight Arrow Connector 5"/>
          <p:cNvCxnSpPr/>
          <p:nvPr/>
        </p:nvCxnSpPr>
        <p:spPr bwMode="auto">
          <a:xfrm flipH="1">
            <a:off x="1979341" y="464634"/>
            <a:ext cx="27878" cy="5371170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0510898" name="Rectangle 6"/>
          <p:cNvSpPr/>
          <p:nvPr/>
        </p:nvSpPr>
        <p:spPr bwMode="auto">
          <a:xfrm>
            <a:off x="1170878" y="464634"/>
            <a:ext cx="1635511" cy="473926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/>
              <a:t>Input</a:t>
            </a:r>
            <a:endParaRPr/>
          </a:p>
        </p:txBody>
      </p:sp>
      <p:sp>
        <p:nvSpPr>
          <p:cNvPr id="106802015" name="Rectangle 7"/>
          <p:cNvSpPr/>
          <p:nvPr/>
        </p:nvSpPr>
        <p:spPr bwMode="auto">
          <a:xfrm>
            <a:off x="1170878" y="1087245"/>
            <a:ext cx="1635511" cy="473926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US"/>
              <a:t>Conv1</a:t>
            </a:r>
            <a:endParaRPr/>
          </a:p>
        </p:txBody>
      </p:sp>
      <p:sp>
        <p:nvSpPr>
          <p:cNvPr id="1664628026" name="Rectangle 8"/>
          <p:cNvSpPr/>
          <p:nvPr/>
        </p:nvSpPr>
        <p:spPr bwMode="auto">
          <a:xfrm>
            <a:off x="1170877" y="1709854"/>
            <a:ext cx="1635511" cy="473926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US"/>
              <a:t>MaxPool1</a:t>
            </a:r>
            <a:endParaRPr/>
          </a:p>
        </p:txBody>
      </p:sp>
      <p:sp>
        <p:nvSpPr>
          <p:cNvPr id="1701991253" name="Rectangle 9"/>
          <p:cNvSpPr/>
          <p:nvPr/>
        </p:nvSpPr>
        <p:spPr bwMode="auto">
          <a:xfrm>
            <a:off x="1170877" y="2323171"/>
            <a:ext cx="1635511" cy="473926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US"/>
              <a:t>Conv2</a:t>
            </a:r>
            <a:endParaRPr lang="en-US"/>
          </a:p>
        </p:txBody>
      </p:sp>
      <p:sp>
        <p:nvSpPr>
          <p:cNvPr id="53363338" name="Rectangle 10"/>
          <p:cNvSpPr/>
          <p:nvPr/>
        </p:nvSpPr>
        <p:spPr bwMode="auto">
          <a:xfrm>
            <a:off x="1170877" y="2982951"/>
            <a:ext cx="1635511" cy="473926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US"/>
              <a:t>MaxPool2</a:t>
            </a:r>
            <a:endParaRPr/>
          </a:p>
        </p:txBody>
      </p:sp>
      <p:sp>
        <p:nvSpPr>
          <p:cNvPr id="1941349853" name="Rectangle 11"/>
          <p:cNvSpPr/>
          <p:nvPr/>
        </p:nvSpPr>
        <p:spPr bwMode="auto">
          <a:xfrm>
            <a:off x="1170878" y="3624147"/>
            <a:ext cx="1635511" cy="473926"/>
          </a:xfrm>
          <a:prstGeom prst="rect">
            <a:avLst/>
          </a:prstGeom>
          <a:solidFill>
            <a:srgbClr val="F597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US"/>
              <a:t>Flatten</a:t>
            </a:r>
            <a:endParaRPr/>
          </a:p>
        </p:txBody>
      </p:sp>
      <p:sp>
        <p:nvSpPr>
          <p:cNvPr id="1930178379" name="Rectangle 12"/>
          <p:cNvSpPr/>
          <p:nvPr/>
        </p:nvSpPr>
        <p:spPr bwMode="auto">
          <a:xfrm>
            <a:off x="1170877" y="4311805"/>
            <a:ext cx="1635511" cy="473926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US"/>
              <a:t>FC1</a:t>
            </a:r>
            <a:endParaRPr/>
          </a:p>
        </p:txBody>
      </p:sp>
      <p:sp>
        <p:nvSpPr>
          <p:cNvPr id="162129406" name="Rectangle 13"/>
          <p:cNvSpPr/>
          <p:nvPr/>
        </p:nvSpPr>
        <p:spPr bwMode="auto">
          <a:xfrm>
            <a:off x="1170877" y="4999463"/>
            <a:ext cx="1635511" cy="473926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US"/>
              <a:t>FC2</a:t>
            </a:r>
            <a:endParaRPr/>
          </a:p>
        </p:txBody>
      </p:sp>
      <p:sp>
        <p:nvSpPr>
          <p:cNvPr id="1770577265" name="Rectangle 14"/>
          <p:cNvSpPr/>
          <p:nvPr/>
        </p:nvSpPr>
        <p:spPr bwMode="auto">
          <a:xfrm>
            <a:off x="1170878" y="5659244"/>
            <a:ext cx="1635511" cy="473926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US"/>
              <a:t>Softmax</a:t>
            </a:r>
            <a:endParaRPr/>
          </a:p>
        </p:txBody>
      </p:sp>
      <p:sp>
        <p:nvSpPr>
          <p:cNvPr id="1469857508" name="TextBox 17"/>
          <p:cNvSpPr txBox="1"/>
          <p:nvPr/>
        </p:nvSpPr>
        <p:spPr bwMode="auto">
          <a:xfrm>
            <a:off x="3048000" y="520390"/>
            <a:ext cx="1841810" cy="3657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/>
            <a:spAutoFit/>
          </a:bodyPr>
          <a:lstStyle/>
          <a:p>
            <a:pPr>
              <a:defRPr/>
            </a:pPr>
            <a:r>
              <a:rPr lang="en-US" b="1"/>
              <a:t>(N, 3, 100, 100)</a:t>
            </a:r>
            <a:endParaRPr/>
          </a:p>
        </p:txBody>
      </p:sp>
      <p:sp>
        <p:nvSpPr>
          <p:cNvPr id="688522076" name="TextBox 19"/>
          <p:cNvSpPr txBox="1"/>
          <p:nvPr/>
        </p:nvSpPr>
        <p:spPr bwMode="auto">
          <a:xfrm>
            <a:off x="3048000" y="1143000"/>
            <a:ext cx="1841810" cy="3657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/>
            <a:spAutoFit/>
          </a:bodyPr>
          <a:lstStyle/>
          <a:p>
            <a:pPr>
              <a:defRPr/>
            </a:pPr>
            <a:r>
              <a:rPr lang="en-US" b="1"/>
              <a:t>(N, 8, 100, 100)</a:t>
            </a:r>
            <a:endParaRPr/>
          </a:p>
        </p:txBody>
      </p:sp>
      <p:sp>
        <p:nvSpPr>
          <p:cNvPr id="1251587662" name="TextBox 20"/>
          <p:cNvSpPr txBox="1"/>
          <p:nvPr/>
        </p:nvSpPr>
        <p:spPr bwMode="auto">
          <a:xfrm>
            <a:off x="3048000" y="1765609"/>
            <a:ext cx="1841810" cy="3657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/>
            <a:spAutoFit/>
          </a:bodyPr>
          <a:lstStyle/>
          <a:p>
            <a:pPr>
              <a:defRPr/>
            </a:pPr>
            <a:r>
              <a:rPr lang="en-US" b="1"/>
              <a:t>(N, 8, 50, 50)</a:t>
            </a:r>
            <a:endParaRPr/>
          </a:p>
        </p:txBody>
      </p:sp>
      <p:sp>
        <p:nvSpPr>
          <p:cNvPr id="428049660" name="TextBox 22"/>
          <p:cNvSpPr txBox="1"/>
          <p:nvPr/>
        </p:nvSpPr>
        <p:spPr bwMode="auto">
          <a:xfrm>
            <a:off x="3048000" y="2378925"/>
            <a:ext cx="1841810" cy="3657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/>
            <a:spAutoFit/>
          </a:bodyPr>
          <a:lstStyle/>
          <a:p>
            <a:pPr>
              <a:defRPr/>
            </a:pPr>
            <a:r>
              <a:rPr lang="en-US" b="1"/>
              <a:t>(N, 16, 50, 50)</a:t>
            </a:r>
            <a:endParaRPr/>
          </a:p>
        </p:txBody>
      </p:sp>
      <p:sp>
        <p:nvSpPr>
          <p:cNvPr id="798830289" name="TextBox 23"/>
          <p:cNvSpPr txBox="1"/>
          <p:nvPr/>
        </p:nvSpPr>
        <p:spPr bwMode="auto">
          <a:xfrm>
            <a:off x="3048000" y="3038706"/>
            <a:ext cx="184181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/>
            <a:spAutoFit/>
          </a:bodyPr>
          <a:lstStyle/>
          <a:p>
            <a:pPr>
              <a:defRPr/>
            </a:pPr>
            <a:r>
              <a:rPr lang="en-US" b="1"/>
              <a:t>(N, 16, 25, 25)</a:t>
            </a:r>
            <a:endParaRPr lang="en-US"/>
          </a:p>
        </p:txBody>
      </p:sp>
      <p:sp>
        <p:nvSpPr>
          <p:cNvPr id="1890527591" name="TextBox 24"/>
          <p:cNvSpPr txBox="1"/>
          <p:nvPr/>
        </p:nvSpPr>
        <p:spPr bwMode="auto">
          <a:xfrm>
            <a:off x="3047999" y="3679901"/>
            <a:ext cx="1841810" cy="3657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/>
            <a:spAutoFit/>
          </a:bodyPr>
          <a:lstStyle/>
          <a:p>
            <a:pPr>
              <a:defRPr/>
            </a:pPr>
            <a:r>
              <a:rPr lang="en-US" b="1"/>
              <a:t>(N, 10 000)</a:t>
            </a:r>
            <a:endParaRPr/>
          </a:p>
        </p:txBody>
      </p:sp>
      <p:sp>
        <p:nvSpPr>
          <p:cNvPr id="1854488229" name="TextBox 25"/>
          <p:cNvSpPr txBox="1"/>
          <p:nvPr/>
        </p:nvSpPr>
        <p:spPr bwMode="auto">
          <a:xfrm>
            <a:off x="3047999" y="4367559"/>
            <a:ext cx="1841810" cy="3657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/>
            <a:spAutoFit/>
          </a:bodyPr>
          <a:lstStyle/>
          <a:p>
            <a:pPr>
              <a:defRPr/>
            </a:pPr>
            <a:r>
              <a:rPr lang="en-US" b="1"/>
              <a:t>(N, 128)</a:t>
            </a:r>
            <a:endParaRPr/>
          </a:p>
        </p:txBody>
      </p:sp>
      <p:sp>
        <p:nvSpPr>
          <p:cNvPr id="152909674" name="TextBox 26"/>
          <p:cNvSpPr txBox="1"/>
          <p:nvPr/>
        </p:nvSpPr>
        <p:spPr bwMode="auto">
          <a:xfrm>
            <a:off x="3047999" y="5055216"/>
            <a:ext cx="1841810" cy="3657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/>
            <a:spAutoFit/>
          </a:bodyPr>
          <a:lstStyle/>
          <a:p>
            <a:pPr>
              <a:defRPr/>
            </a:pPr>
            <a:r>
              <a:rPr lang="en-US" b="1"/>
              <a:t>(N, 261)</a:t>
            </a:r>
            <a:endParaRPr/>
          </a:p>
        </p:txBody>
      </p:sp>
      <p:sp>
        <p:nvSpPr>
          <p:cNvPr id="1702766710" name="TextBox 27"/>
          <p:cNvSpPr txBox="1"/>
          <p:nvPr/>
        </p:nvSpPr>
        <p:spPr bwMode="auto">
          <a:xfrm>
            <a:off x="3047999" y="5714997"/>
            <a:ext cx="1841810" cy="3657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/>
            <a:spAutoFit/>
          </a:bodyPr>
          <a:lstStyle/>
          <a:p>
            <a:pPr>
              <a:defRPr/>
            </a:pPr>
            <a:r>
              <a:rPr lang="en-US" b="1"/>
              <a:t>Probabilities</a:t>
            </a:r>
            <a:endParaRPr lang="en-US"/>
          </a:p>
        </p:txBody>
      </p:sp>
      <p:sp>
        <p:nvSpPr>
          <p:cNvPr id="1974288706" name="TextBox 28"/>
          <p:cNvSpPr txBox="1"/>
          <p:nvPr/>
        </p:nvSpPr>
        <p:spPr bwMode="auto">
          <a:xfrm>
            <a:off x="7304048" y="566853"/>
            <a:ext cx="4248614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/>
            <a:spAutoFit/>
          </a:bodyPr>
          <a:lstStyle/>
          <a:p>
            <a:pPr>
              <a:defRPr/>
            </a:pPr>
            <a:r>
              <a:rPr lang="en-US">
                <a:solidFill>
                  <a:schemeClr val="bg1">
                    <a:lumMod val="49000"/>
                  </a:schemeClr>
                </a:solidFill>
              </a:rPr>
              <a:t>100x100 </a:t>
            </a:r>
            <a:r>
              <a:rPr lang="en-US">
                <a:solidFill>
                  <a:schemeClr val="bg1">
                    <a:lumMod val="49000"/>
                  </a:schemeClr>
                </a:solidFill>
              </a:rPr>
              <a:t>Mnist</a:t>
            </a:r>
            <a:r>
              <a:rPr lang="en-US">
                <a:solidFill>
                  <a:schemeClr val="bg1">
                    <a:lumMod val="49000"/>
                  </a:schemeClr>
                </a:solidFill>
              </a:rPr>
              <a:t>, </a:t>
            </a:r>
            <a:r>
              <a:rPr lang="en-US">
                <a:solidFill>
                  <a:schemeClr val="bg1">
                    <a:lumMod val="49000"/>
                  </a:schemeClr>
                </a:solidFill>
                <a:latin typeface="Tw Cen MT"/>
                <a:ea typeface="Calibri"/>
                <a:cs typeface="Calibri"/>
              </a:rPr>
              <a:t>normalized </a:t>
            </a:r>
            <a:r>
              <a:rPr lang="en-US">
                <a:solidFill>
                  <a:schemeClr val="bg1">
                    <a:lumMod val="49000"/>
                  </a:schemeClr>
                </a:solidFill>
              </a:rPr>
              <a:t>[0, 1]</a:t>
            </a:r>
            <a:endParaRPr/>
          </a:p>
        </p:txBody>
      </p:sp>
      <p:sp>
        <p:nvSpPr>
          <p:cNvPr id="1431690532" name="TextBox 29"/>
          <p:cNvSpPr txBox="1"/>
          <p:nvPr/>
        </p:nvSpPr>
        <p:spPr bwMode="auto">
          <a:xfrm>
            <a:off x="7304048" y="1189462"/>
            <a:ext cx="4248614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/>
            <a:spAutoFit/>
          </a:bodyPr>
          <a:lstStyle/>
          <a:p>
            <a:pPr>
              <a:defRPr/>
            </a:pPr>
            <a:r>
              <a:rPr lang="en-US">
                <a:solidFill>
                  <a:schemeClr val="bg1">
                    <a:lumMod val="49000"/>
                  </a:schemeClr>
                </a:solidFill>
              </a:rPr>
              <a:t>8 filters </a:t>
            </a:r>
            <a:r>
              <a:rPr lang="en-US">
                <a:solidFill>
                  <a:schemeClr val="bg1">
                    <a:lumMod val="49000"/>
                  </a:schemeClr>
                </a:solidFill>
                <a:ea typeface="+mn-lt"/>
                <a:cs typeface="+mn-lt"/>
              </a:rPr>
              <a:t>•</a:t>
            </a:r>
            <a:r>
              <a:rPr lang="en-US">
                <a:solidFill>
                  <a:schemeClr val="bg1">
                    <a:lumMod val="49000"/>
                  </a:schemeClr>
                </a:solidFill>
              </a:rPr>
              <a:t> 3x3 </a:t>
            </a:r>
            <a:r>
              <a:rPr lang="en-US">
                <a:solidFill>
                  <a:schemeClr val="bg1">
                    <a:lumMod val="49000"/>
                  </a:schemeClr>
                </a:solidFill>
                <a:ea typeface="+mn-lt"/>
                <a:cs typeface="+mn-lt"/>
              </a:rPr>
              <a:t>•</a:t>
            </a:r>
            <a:r>
              <a:rPr lang="en-US">
                <a:solidFill>
                  <a:schemeClr val="bg1">
                    <a:lumMod val="49000"/>
                  </a:schemeClr>
                </a:solidFill>
              </a:rPr>
              <a:t> pad=1 </a:t>
            </a:r>
            <a:r>
              <a:rPr lang="en-US">
                <a:solidFill>
                  <a:schemeClr val="bg1">
                    <a:lumMod val="49000"/>
                  </a:schemeClr>
                </a:solidFill>
                <a:ea typeface="+mn-lt"/>
                <a:cs typeface="+mn-lt"/>
              </a:rPr>
              <a:t>→</a:t>
            </a:r>
            <a:r>
              <a:rPr lang="en-US">
                <a:solidFill>
                  <a:schemeClr val="bg1">
                    <a:lumMod val="49000"/>
                  </a:schemeClr>
                </a:solidFill>
              </a:rPr>
              <a:t> </a:t>
            </a:r>
            <a:r>
              <a:rPr lang="en-US">
                <a:solidFill>
                  <a:schemeClr val="bg1">
                    <a:lumMod val="49000"/>
                  </a:schemeClr>
                </a:solidFill>
              </a:rPr>
              <a:t>ReLU</a:t>
            </a:r>
            <a:endParaRPr/>
          </a:p>
        </p:txBody>
      </p:sp>
      <p:sp>
        <p:nvSpPr>
          <p:cNvPr id="584069172" name="TextBox 30"/>
          <p:cNvSpPr txBox="1"/>
          <p:nvPr/>
        </p:nvSpPr>
        <p:spPr bwMode="auto">
          <a:xfrm>
            <a:off x="7304048" y="1756316"/>
            <a:ext cx="4248614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/>
            <a:spAutoFit/>
          </a:bodyPr>
          <a:lstStyle/>
          <a:p>
            <a:pPr>
              <a:defRPr/>
            </a:pPr>
            <a:r>
              <a:rPr lang="en-US">
                <a:solidFill>
                  <a:schemeClr val="bg1">
                    <a:lumMod val="49000"/>
                  </a:schemeClr>
                </a:solidFill>
              </a:rPr>
              <a:t>2x2, </a:t>
            </a:r>
            <a:r>
              <a:rPr lang="en-US">
                <a:solidFill>
                  <a:schemeClr val="bg1">
                    <a:lumMod val="49000"/>
                  </a:schemeClr>
                </a:solidFill>
              </a:rPr>
              <a:t>stri</a:t>
            </a:r>
            <a:r>
              <a:rPr lang="en-US">
                <a:solidFill>
                  <a:schemeClr val="bg1">
                    <a:lumMod val="49000"/>
                  </a:schemeClr>
                </a:solidFill>
                <a:latin typeface="Tw Cen MT"/>
              </a:rPr>
              <a:t>de</a:t>
            </a:r>
            <a:r>
              <a:rPr lang="en-US">
                <a:solidFill>
                  <a:schemeClr val="bg1">
                    <a:lumMod val="49000"/>
                  </a:schemeClr>
                </a:solidFill>
              </a:rPr>
              <a:t> 2 (halves spatial dim)</a:t>
            </a:r>
            <a:endParaRPr/>
          </a:p>
        </p:txBody>
      </p:sp>
      <p:sp>
        <p:nvSpPr>
          <p:cNvPr id="1062342336" name="TextBox 31"/>
          <p:cNvSpPr txBox="1"/>
          <p:nvPr/>
        </p:nvSpPr>
        <p:spPr bwMode="auto">
          <a:xfrm>
            <a:off x="7304048" y="2369633"/>
            <a:ext cx="4248614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/>
            <a:spAutoFit/>
          </a:bodyPr>
          <a:lstStyle/>
          <a:p>
            <a:pPr>
              <a:defRPr/>
            </a:pPr>
            <a:r>
              <a:rPr lang="en-US">
                <a:solidFill>
                  <a:schemeClr val="bg1">
                    <a:lumMod val="49000"/>
                  </a:schemeClr>
                </a:solidFill>
              </a:rPr>
              <a:t>16 filters </a:t>
            </a:r>
            <a:r>
              <a:rPr lang="en-US">
                <a:solidFill>
                  <a:schemeClr val="bg1">
                    <a:lumMod val="49000"/>
                  </a:schemeClr>
                </a:solidFill>
                <a:ea typeface="+mn-lt"/>
                <a:cs typeface="+mn-lt"/>
              </a:rPr>
              <a:t>•</a:t>
            </a:r>
            <a:r>
              <a:rPr lang="en-US">
                <a:solidFill>
                  <a:schemeClr val="bg1">
                    <a:lumMod val="49000"/>
                  </a:schemeClr>
                </a:solidFill>
              </a:rPr>
              <a:t> 3x3 </a:t>
            </a:r>
            <a:r>
              <a:rPr lang="en-US">
                <a:solidFill>
                  <a:schemeClr val="bg1">
                    <a:lumMod val="49000"/>
                  </a:schemeClr>
                </a:solidFill>
                <a:ea typeface="+mn-lt"/>
                <a:cs typeface="+mn-lt"/>
              </a:rPr>
              <a:t>•</a:t>
            </a:r>
            <a:r>
              <a:rPr lang="en-US">
                <a:solidFill>
                  <a:schemeClr val="bg1">
                    <a:lumMod val="49000"/>
                  </a:schemeClr>
                </a:solidFill>
              </a:rPr>
              <a:t> pad=1 </a:t>
            </a:r>
            <a:r>
              <a:rPr lang="en-US">
                <a:solidFill>
                  <a:schemeClr val="bg1">
                    <a:lumMod val="49000"/>
                  </a:schemeClr>
                </a:solidFill>
                <a:ea typeface="+mn-lt"/>
                <a:cs typeface="+mn-lt"/>
              </a:rPr>
              <a:t>→</a:t>
            </a:r>
            <a:r>
              <a:rPr lang="en-US">
                <a:solidFill>
                  <a:schemeClr val="bg1">
                    <a:lumMod val="49000"/>
                  </a:schemeClr>
                </a:solidFill>
              </a:rPr>
              <a:t> </a:t>
            </a:r>
            <a:r>
              <a:rPr lang="en-US">
                <a:solidFill>
                  <a:schemeClr val="bg1">
                    <a:lumMod val="49000"/>
                  </a:schemeClr>
                </a:solidFill>
              </a:rPr>
              <a:t>ReLU</a:t>
            </a:r>
            <a:endParaRPr lang="en-US">
              <a:solidFill>
                <a:schemeClr val="bg1">
                  <a:lumMod val="49000"/>
                </a:schemeClr>
              </a:solidFill>
            </a:endParaRPr>
          </a:p>
        </p:txBody>
      </p:sp>
      <p:sp>
        <p:nvSpPr>
          <p:cNvPr id="1490158147" name="TextBox 32"/>
          <p:cNvSpPr txBox="1"/>
          <p:nvPr/>
        </p:nvSpPr>
        <p:spPr bwMode="auto">
          <a:xfrm>
            <a:off x="7304048" y="3038706"/>
            <a:ext cx="4248614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/>
            <a:spAutoFit/>
          </a:bodyPr>
          <a:lstStyle/>
          <a:p>
            <a:pPr>
              <a:defRPr/>
            </a:pPr>
            <a:r>
              <a:rPr lang="en-US">
                <a:solidFill>
                  <a:schemeClr val="bg1">
                    <a:lumMod val="49000"/>
                  </a:schemeClr>
                </a:solidFill>
              </a:rPr>
              <a:t>2x2, stride 2</a:t>
            </a:r>
            <a:endParaRPr/>
          </a:p>
        </p:txBody>
      </p:sp>
      <p:sp>
        <p:nvSpPr>
          <p:cNvPr id="834286551" name="TextBox 33"/>
          <p:cNvSpPr txBox="1"/>
          <p:nvPr/>
        </p:nvSpPr>
        <p:spPr bwMode="auto">
          <a:xfrm>
            <a:off x="7304048" y="3624145"/>
            <a:ext cx="4248614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/>
            <a:spAutoFit/>
          </a:bodyPr>
          <a:lstStyle/>
          <a:p>
            <a:pPr>
              <a:defRPr/>
            </a:pPr>
            <a:r>
              <a:rPr lang="en-US">
                <a:solidFill>
                  <a:schemeClr val="bg1">
                    <a:lumMod val="49000"/>
                  </a:schemeClr>
                </a:solidFill>
              </a:rPr>
              <a:t>16 x 25 x 25 = 10 000 features</a:t>
            </a:r>
            <a:endParaRPr/>
          </a:p>
        </p:txBody>
      </p:sp>
      <p:sp>
        <p:nvSpPr>
          <p:cNvPr id="1373636219" name="TextBox 34"/>
          <p:cNvSpPr txBox="1"/>
          <p:nvPr/>
        </p:nvSpPr>
        <p:spPr bwMode="auto">
          <a:xfrm>
            <a:off x="7304048" y="4311803"/>
            <a:ext cx="4248614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/>
            <a:spAutoFit/>
          </a:bodyPr>
          <a:lstStyle/>
          <a:p>
            <a:pPr>
              <a:defRPr/>
            </a:pPr>
            <a:r>
              <a:rPr lang="en-US">
                <a:solidFill>
                  <a:schemeClr val="bg1">
                    <a:lumMod val="49000"/>
                  </a:schemeClr>
                </a:solidFill>
              </a:rPr>
              <a:t>10 000 </a:t>
            </a:r>
            <a:r>
              <a:rPr lang="en-US">
                <a:solidFill>
                  <a:schemeClr val="bg1">
                    <a:lumMod val="49000"/>
                  </a:schemeClr>
                </a:solidFill>
                <a:ea typeface="+mn-lt"/>
                <a:cs typeface="+mn-lt"/>
              </a:rPr>
              <a:t>→</a:t>
            </a:r>
            <a:r>
              <a:rPr lang="en-US">
                <a:solidFill>
                  <a:schemeClr val="bg1">
                    <a:lumMod val="49000"/>
                  </a:schemeClr>
                </a:solidFill>
              </a:rPr>
              <a:t> 128 </a:t>
            </a:r>
            <a:r>
              <a:rPr lang="en-US">
                <a:solidFill>
                  <a:schemeClr val="bg1">
                    <a:lumMod val="49000"/>
                  </a:schemeClr>
                </a:solidFill>
                <a:ea typeface="+mn-lt"/>
                <a:cs typeface="+mn-lt"/>
              </a:rPr>
              <a:t>• </a:t>
            </a:r>
            <a:r>
              <a:rPr lang="en-US">
                <a:solidFill>
                  <a:schemeClr val="bg1">
                    <a:lumMod val="49000"/>
                  </a:schemeClr>
                </a:solidFill>
              </a:rPr>
              <a:t>ReLU</a:t>
            </a:r>
            <a:endParaRPr/>
          </a:p>
        </p:txBody>
      </p:sp>
      <p:sp>
        <p:nvSpPr>
          <p:cNvPr id="1084992631" name="TextBox 35"/>
          <p:cNvSpPr txBox="1"/>
          <p:nvPr/>
        </p:nvSpPr>
        <p:spPr bwMode="auto">
          <a:xfrm>
            <a:off x="7304047" y="5045925"/>
            <a:ext cx="4248614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/>
            <a:spAutoFit/>
          </a:bodyPr>
          <a:lstStyle/>
          <a:p>
            <a:pPr>
              <a:defRPr/>
            </a:pPr>
            <a:r>
              <a:rPr lang="en-US">
                <a:solidFill>
                  <a:schemeClr val="bg1">
                    <a:lumMod val="49000"/>
                  </a:schemeClr>
                </a:solidFill>
              </a:rPr>
              <a:t>128 </a:t>
            </a:r>
            <a:r>
              <a:rPr lang="en-US">
                <a:solidFill>
                  <a:schemeClr val="bg1">
                    <a:lumMod val="49000"/>
                  </a:schemeClr>
                </a:solidFill>
                <a:ea typeface="+mn-lt"/>
                <a:cs typeface="+mn-lt"/>
              </a:rPr>
              <a:t>→</a:t>
            </a:r>
            <a:r>
              <a:rPr lang="en-US">
                <a:solidFill>
                  <a:schemeClr val="bg1">
                    <a:lumMod val="49000"/>
                  </a:schemeClr>
                </a:solidFill>
              </a:rPr>
              <a:t> </a:t>
            </a:r>
            <a:r>
              <a:rPr lang="en-US">
                <a:solidFill>
                  <a:schemeClr val="bg1">
                    <a:lumMod val="49000"/>
                  </a:schemeClr>
                </a:solidFill>
              </a:rPr>
              <a:t>num_classes</a:t>
            </a:r>
            <a:endParaRPr/>
          </a:p>
        </p:txBody>
      </p:sp>
      <p:sp>
        <p:nvSpPr>
          <p:cNvPr id="265656790" name="TextBox 36"/>
          <p:cNvSpPr txBox="1"/>
          <p:nvPr/>
        </p:nvSpPr>
        <p:spPr bwMode="auto">
          <a:xfrm>
            <a:off x="7304047" y="5659242"/>
            <a:ext cx="4248614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/>
            <a:spAutoFit/>
          </a:bodyPr>
          <a:lstStyle/>
          <a:p>
            <a:pPr>
              <a:defRPr/>
            </a:pPr>
            <a:r>
              <a:rPr lang="en-US">
                <a:solidFill>
                  <a:schemeClr val="bg1">
                    <a:lumMod val="49000"/>
                  </a:schemeClr>
                </a:solidFill>
              </a:rPr>
              <a:t>Sum = 1.0 per sample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0068845" name="Title 1"/>
          <p:cNvSpPr>
            <a:spLocks noGrp="1"/>
          </p:cNvSpPr>
          <p:nvPr>
            <p:ph type="title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/>
          <a:p>
            <a:pPr>
              <a:defRPr/>
            </a:pPr>
            <a:r>
              <a:rPr lang="en-US" sz="4400"/>
              <a:t>Forward &amp; backwards Pass</a:t>
            </a:r>
            <a:endParaRPr/>
          </a:p>
        </p:txBody>
      </p:sp>
      <p:sp>
        <p:nvSpPr>
          <p:cNvPr id="501917419" name="Text Placeholder 2"/>
          <p:cNvSpPr>
            <a:spLocks noGrp="1"/>
          </p:cNvSpPr>
          <p:nvPr/>
        </p:nvSpPr>
        <p:spPr bwMode="auto">
          <a:xfrm>
            <a:off x="513595" y="1880624"/>
            <a:ext cx="5578966" cy="822960"/>
          </a:xfrm>
          <a:prstGeom prst="rect">
            <a:avLst/>
          </a:prstGeom>
          <a:solidFill>
            <a:schemeClr val="accent1"/>
          </a:solidFill>
          <a:ln w="28575">
            <a:solidFill>
              <a:schemeClr val="accent1"/>
            </a:solidFill>
          </a:ln>
        </p:spPr>
        <p:txBody>
          <a:bodyPr vert="horz" lIns="137160" tIns="45720" rIns="137160" bIns="45720" rtlCol="0" anchor="ctr">
            <a:normAutofit/>
          </a:bodyPr>
          <a:lstStyle>
            <a:lvl1pPr marL="0" indent="0" algn="l" defTabSz="9144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Tw Cen MT"/>
              <a:buNone/>
              <a:defRPr sz="2300" b="0" cap="none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/>
              <a:buNone/>
              <a:defRPr sz="2000" b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/>
              <a:buNone/>
              <a:defRPr sz="1800" b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/>
              <a:buNone/>
              <a:defRPr sz="1600" b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/>
              <a:buNone/>
              <a:defRPr sz="1600" b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/>
              <a:buNone/>
              <a:defRPr sz="1600" b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/>
              <a:buNone/>
              <a:defRPr sz="1600" b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/>
              <a:buNone/>
              <a:defRPr sz="1600" b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/>
              <a:buNone/>
              <a:defRPr sz="1600" b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sz="2800" b="1">
                <a:solidFill>
                  <a:schemeClr val="bg1"/>
                </a:solidFill>
              </a:rPr>
              <a:t>Forward Pass</a:t>
            </a:r>
            <a:endParaRPr/>
          </a:p>
        </p:txBody>
      </p:sp>
      <p:sp>
        <p:nvSpPr>
          <p:cNvPr id="1776109971" name="Text Placeholder 4"/>
          <p:cNvSpPr>
            <a:spLocks noGrp="1"/>
          </p:cNvSpPr>
          <p:nvPr/>
        </p:nvSpPr>
        <p:spPr bwMode="auto">
          <a:xfrm>
            <a:off x="6203091" y="1880624"/>
            <a:ext cx="5580393" cy="822960"/>
          </a:xfrm>
          <a:prstGeom prst="rect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txBody>
          <a:bodyPr vert="horz" lIns="137160" tIns="45720" rIns="137160" bIns="45720" rtlCol="0" anchor="ctr">
            <a:normAutofit/>
          </a:bodyPr>
          <a:lstStyle>
            <a:lvl1pPr marL="0" indent="0" algn="l" defTabSz="9144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Tw Cen MT"/>
              <a:buNone/>
              <a:defRPr lang="en-US" sz="2300" b="0" cap="none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/>
              <a:buNone/>
              <a:defRPr sz="2000" b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/>
              <a:buNone/>
              <a:defRPr sz="1800" b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/>
              <a:buNone/>
              <a:defRPr sz="1600" b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/>
              <a:buNone/>
              <a:defRPr sz="1600" b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/>
              <a:buNone/>
              <a:defRPr sz="1600" b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/>
              <a:buNone/>
              <a:defRPr sz="1600" b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/>
              <a:buNone/>
              <a:defRPr sz="1600" b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/>
              <a:buNone/>
              <a:defRPr sz="1600" b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sz="2800" b="1">
                <a:solidFill>
                  <a:schemeClr val="bg1"/>
                </a:solidFill>
              </a:rPr>
              <a:t>Backward Pass</a:t>
            </a:r>
            <a:endParaRPr lang="en-US">
              <a:solidFill>
                <a:schemeClr val="bg1"/>
              </a:solidFill>
            </a:endParaRPr>
          </a:p>
        </p:txBody>
      </p:sp>
      <p:sp>
        <p:nvSpPr>
          <p:cNvPr id="1824183545" name="Content Placeholder 5"/>
          <p:cNvSpPr>
            <a:spLocks noGrp="1"/>
          </p:cNvSpPr>
          <p:nvPr/>
        </p:nvSpPr>
        <p:spPr bwMode="auto">
          <a:xfrm>
            <a:off x="6203091" y="2720146"/>
            <a:ext cx="5575556" cy="3791771"/>
          </a:xfrm>
          <a:prstGeom prst="rect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txBody>
          <a:bodyPr vert="horz" lIns="45720" tIns="45720" rIns="45720" bIns="45720" rtlCol="0" anchor="t">
            <a:normAutofit/>
          </a:bodyPr>
          <a:lstStyle>
            <a:lvl1pPr marL="91440" indent="-91440" algn="l" defTabSz="91440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Tw Cen MT"/>
              <a:buChar char=" "/>
              <a:defRPr sz="2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65176" indent="-137160" algn="l" defTabSz="914400" rtl="0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/>
              <a:buChar char="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8056" indent="-137160" algn="l" defTabSz="914400" rtl="0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/>
              <a:buChar char="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4360" indent="-137160" algn="l" defTabSz="914400" rtl="0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/>
              <a:buChar char="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77240" indent="-137160" algn="l" defTabSz="914400" rtl="0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/>
              <a:buChar char="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914400" indent="-137160" algn="l" defTabSz="914400" rtl="0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/>
              <a:buChar char="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060704" indent="-137160" algn="l" defTabSz="914400" rtl="0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/>
              <a:buChar char="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216151" indent="-137160" algn="l" defTabSz="914400" rtl="0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/>
              <a:buChar char="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362455" indent="-137160" algn="l" defTabSz="914400" rtl="0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/>
              <a:buChar char="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630555" lvl="1" indent="-457200">
              <a:buFont typeface="Courier New"/>
              <a:buChar char="o"/>
              <a:defRPr/>
            </a:pPr>
            <a:endParaRPr lang="en-US" sz="1600">
              <a:latin typeface="Tw Cen MT"/>
              <a:ea typeface="Calibri"/>
              <a:cs typeface="Calibri"/>
            </a:endParaRPr>
          </a:p>
          <a:p>
            <a:pPr marL="173355" lvl="1" indent="0">
              <a:buNone/>
              <a:defRPr/>
            </a:pPr>
            <a:endParaRPr lang="en-US" sz="1600">
              <a:latin typeface="Tw Cen MT"/>
              <a:ea typeface="Calibri"/>
              <a:cs typeface="Calibri"/>
            </a:endParaRPr>
          </a:p>
          <a:p>
            <a:pPr marL="630555" lvl="1" indent="-457200">
              <a:buFont typeface="Tw Cen MT"/>
              <a:buAutoNum type="arabicPeriod"/>
              <a:defRPr/>
            </a:pPr>
            <a:endParaRPr lang="en-US" sz="1600">
              <a:ea typeface="+mn-lt"/>
              <a:cs typeface="+mn-lt"/>
            </a:endParaRPr>
          </a:p>
        </p:txBody>
      </p:sp>
      <p:sp>
        <p:nvSpPr>
          <p:cNvPr id="627520716" name="Content Placeholder 5"/>
          <p:cNvSpPr txBox="1"/>
          <p:nvPr/>
        </p:nvSpPr>
        <p:spPr bwMode="auto">
          <a:xfrm>
            <a:off x="516219" y="2719797"/>
            <a:ext cx="5584521" cy="3795595"/>
          </a:xfrm>
          <a:prstGeom prst="rect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txBody>
          <a:bodyPr vert="horz" lIns="45720" tIns="45720" rIns="45720" bIns="45720" rtlCol="0" anchor="t">
            <a:normAutofit/>
          </a:bodyPr>
          <a:lstStyle>
            <a:defPPr>
              <a:defRPr lang="en-US"/>
            </a:defPPr>
            <a:lvl1pPr marL="91440" indent="-91440" algn="l" defTabSz="91440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Tw Cen MT"/>
              <a:buChar char=" "/>
              <a:defRPr sz="2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65176" indent="-137160" algn="l" defTabSz="914400" rtl="0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/>
              <a:buChar char="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8056" indent="-137160" algn="l" defTabSz="914400" rtl="0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/>
              <a:buChar char="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4360" indent="-137160" algn="l" defTabSz="914400" rtl="0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/>
              <a:buChar char="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77240" indent="-137160" algn="l" defTabSz="914400" rtl="0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/>
              <a:buChar char="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914400" indent="-137160" algn="l" defTabSz="914400" rtl="0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/>
              <a:buChar char="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060704" indent="-137160" algn="l" defTabSz="914400" rtl="0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/>
              <a:buChar char="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216151" indent="-137160" algn="l" defTabSz="914400" rtl="0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/>
              <a:buChar char="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362455" indent="-137160" algn="l" defTabSz="914400" rtl="0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/>
              <a:buChar char="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630555" lvl="1" indent="-457200">
              <a:buFont typeface="Courier New"/>
              <a:buChar char="o"/>
              <a:defRPr/>
            </a:pPr>
            <a:endParaRPr lang="en-US"/>
          </a:p>
          <a:p>
            <a:pPr marL="630555" lvl="1" indent="-457200">
              <a:buFont typeface="Courier New"/>
              <a:buChar char="o"/>
              <a:defRPr/>
            </a:pPr>
            <a:endParaRPr lang="en-US" sz="1600"/>
          </a:p>
          <a:p>
            <a:pPr marL="630555" lvl="1" indent="-457200">
              <a:buFont typeface="Courier New"/>
              <a:buChar char="o"/>
              <a:defRPr/>
            </a:pPr>
            <a:endParaRPr lang="en-US" sz="1600">
              <a:latin typeface="Calibri"/>
              <a:ea typeface="Calibri"/>
              <a:cs typeface="Calibri"/>
            </a:endParaRPr>
          </a:p>
        </p:txBody>
      </p:sp>
      <p:sp>
        <p:nvSpPr>
          <p:cNvPr id="978642737" name="TextBox 8"/>
          <p:cNvSpPr txBox="1"/>
          <p:nvPr/>
        </p:nvSpPr>
        <p:spPr bwMode="auto">
          <a:xfrm>
            <a:off x="522671" y="2898828"/>
            <a:ext cx="5462534" cy="356651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/>
            <a:spAutoFit/>
          </a:bodyPr>
          <a:lstStyle/>
          <a:p>
            <a:pPr marL="285750" indent="-285750">
              <a:buFont typeface="Arial"/>
              <a:buChar char="•"/>
              <a:defRPr/>
            </a:pPr>
            <a:r>
              <a:rPr lang="en-US" b="1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Upadni</a:t>
            </a:r>
            <a:r>
              <a:rPr lang="en-US" b="1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b="1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tokovi</a:t>
            </a:r>
            <a:r>
              <a:rPr lang="en-US" b="1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b="1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prolaze</a:t>
            </a:r>
            <a:r>
              <a:rPr lang="en-US" b="1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b="1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kroz</a:t>
            </a:r>
            <a:r>
              <a:rPr lang="en-US" b="1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b="1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sve</a:t>
            </a:r>
            <a:r>
              <a:rPr lang="en-US" b="1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b="1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slojeve</a:t>
            </a:r>
            <a:r>
              <a:rPr lang="en-US" b="1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b="1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redom</a:t>
            </a:r>
            <a:endParaRPr lang="en-US" sz="1600" b="1">
              <a:latin typeface="Calibri"/>
              <a:ea typeface="Calibri"/>
              <a:cs typeface="Calibri"/>
            </a:endParaRPr>
          </a:p>
          <a:p>
            <a:pPr>
              <a:defRPr/>
            </a:pPr>
            <a:r>
              <a:rPr lang="en-US">
                <a:solidFill>
                  <a:srgbClr val="4A6572"/>
                </a:solidFill>
                <a:latin typeface="Calibri"/>
                <a:ea typeface="Calibri"/>
                <a:cs typeface="Calibri"/>
              </a:rPr>
              <a:t>        Slike </a:t>
            </a:r>
            <a:r>
              <a:rPr lang="en-US">
                <a:solidFill>
                  <a:srgbClr val="4A6572"/>
                </a:solidFill>
                <a:latin typeface="Calibri"/>
                <a:ea typeface="Calibri"/>
                <a:cs typeface="Calibri"/>
              </a:rPr>
              <a:t>ulaze</a:t>
            </a:r>
            <a:r>
              <a:rPr lang="en-US">
                <a:solidFill>
                  <a:srgbClr val="4A6572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>
                <a:solidFill>
                  <a:srgbClr val="4A6572"/>
                </a:solidFill>
                <a:latin typeface="Calibri"/>
                <a:ea typeface="Calibri"/>
                <a:cs typeface="Calibri"/>
              </a:rPr>
              <a:t>kao</a:t>
            </a:r>
            <a:r>
              <a:rPr lang="en-US">
                <a:solidFill>
                  <a:srgbClr val="4A6572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>
                <a:solidFill>
                  <a:srgbClr val="4A6572"/>
                </a:solidFill>
                <a:latin typeface="Calibri"/>
                <a:ea typeface="Calibri"/>
                <a:cs typeface="Calibri"/>
              </a:rPr>
              <a:t>nizovi</a:t>
            </a:r>
            <a:r>
              <a:rPr lang="en-US">
                <a:solidFill>
                  <a:srgbClr val="4A6572"/>
                </a:solidFill>
                <a:latin typeface="Calibri"/>
                <a:ea typeface="Calibri"/>
                <a:cs typeface="Calibri"/>
              </a:rPr>
              <a:t> (N, 3, 100, 100)</a:t>
            </a:r>
            <a:endParaRPr lang="en-US"/>
          </a:p>
          <a:p>
            <a:pPr lvl="1">
              <a:defRPr/>
            </a:pPr>
            <a:endParaRPr lang="en-US" sz="1600">
              <a:solidFill>
                <a:srgbClr val="4A6572"/>
              </a:solidFill>
              <a:latin typeface="Calibri"/>
              <a:ea typeface="Calibri"/>
              <a:cs typeface="Calibri"/>
            </a:endParaRPr>
          </a:p>
          <a:p>
            <a:pPr marL="342900" indent="-342900">
              <a:buFont typeface="Arial"/>
              <a:buChar char="•"/>
              <a:defRPr/>
            </a:pPr>
            <a:r>
              <a:rPr lang="en-US" sz="1600" b="1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Svaki</a:t>
            </a:r>
            <a:r>
              <a:rPr lang="en-US" sz="1600" b="1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600" b="1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sloj</a:t>
            </a:r>
            <a:r>
              <a:rPr lang="en-US" sz="1600" b="1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600" b="1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transformira</a:t>
            </a:r>
            <a:r>
              <a:rPr lang="en-US" sz="1600" b="1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600" b="1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podatke</a:t>
            </a:r>
            <a:endParaRPr lang="en-US" sz="1600"/>
          </a:p>
          <a:p>
            <a:pPr lvl="1">
              <a:defRPr/>
            </a:pPr>
            <a:r>
              <a:rPr lang="en-US" sz="1600">
                <a:solidFill>
                  <a:srgbClr val="4A6572"/>
                </a:solidFill>
                <a:latin typeface="Calibri"/>
                <a:ea typeface="Calibri"/>
                <a:cs typeface="Calibri"/>
              </a:rPr>
              <a:t>  </a:t>
            </a:r>
            <a:r>
              <a:rPr lang="en-US" sz="1600">
                <a:solidFill>
                  <a:srgbClr val="4A6572"/>
                </a:solidFill>
                <a:latin typeface="Calibri"/>
                <a:ea typeface="Calibri"/>
                <a:cs typeface="Calibri"/>
              </a:rPr>
              <a:t>Konvolucija</a:t>
            </a:r>
            <a:r>
              <a:rPr lang="en-US" sz="1600">
                <a:solidFill>
                  <a:srgbClr val="4A6572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600">
                <a:solidFill>
                  <a:srgbClr val="4A6572"/>
                </a:solidFill>
                <a:latin typeface="Calibri"/>
                <a:ea typeface="Calibri"/>
                <a:cs typeface="Calibri"/>
              </a:rPr>
              <a:t>primjenjuje</a:t>
            </a:r>
            <a:r>
              <a:rPr lang="en-US" sz="1600">
                <a:solidFill>
                  <a:srgbClr val="4A6572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600">
                <a:solidFill>
                  <a:srgbClr val="4A6572"/>
                </a:solidFill>
                <a:latin typeface="Calibri"/>
                <a:ea typeface="Calibri"/>
                <a:cs typeface="Calibri"/>
              </a:rPr>
              <a:t>filtre</a:t>
            </a:r>
            <a:r>
              <a:rPr lang="en-US" sz="1600">
                <a:solidFill>
                  <a:srgbClr val="4A6572"/>
                </a:solidFill>
                <a:latin typeface="Calibri"/>
                <a:ea typeface="Calibri"/>
                <a:cs typeface="Calibri"/>
              </a:rPr>
              <a:t>, </a:t>
            </a:r>
            <a:endParaRPr lang="en-US" sz="1600">
              <a:solidFill>
                <a:srgbClr val="000000"/>
              </a:solidFill>
              <a:latin typeface="Tw Cen MT"/>
              <a:ea typeface="Calibri"/>
              <a:cs typeface="Calibri"/>
            </a:endParaRPr>
          </a:p>
          <a:p>
            <a:pPr lvl="1">
              <a:defRPr/>
            </a:pPr>
            <a:r>
              <a:rPr lang="en-US" sz="1600">
                <a:solidFill>
                  <a:srgbClr val="4A6572"/>
                </a:solidFill>
                <a:latin typeface="Calibri"/>
                <a:ea typeface="Calibri"/>
                <a:cs typeface="Calibri"/>
              </a:rPr>
              <a:t>  </a:t>
            </a:r>
            <a:r>
              <a:rPr lang="en-US" sz="1600">
                <a:solidFill>
                  <a:srgbClr val="4A6572"/>
                </a:solidFill>
                <a:latin typeface="Calibri"/>
                <a:ea typeface="Calibri"/>
                <a:cs typeface="Calibri"/>
              </a:rPr>
              <a:t>ReLU</a:t>
            </a:r>
            <a:r>
              <a:rPr lang="en-US" sz="1600">
                <a:solidFill>
                  <a:srgbClr val="4A6572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600">
                <a:solidFill>
                  <a:srgbClr val="4A6572"/>
                </a:solidFill>
                <a:latin typeface="Calibri"/>
                <a:ea typeface="Calibri"/>
                <a:cs typeface="Calibri"/>
              </a:rPr>
              <a:t>poništava</a:t>
            </a:r>
            <a:r>
              <a:rPr lang="en-US" sz="1600">
                <a:solidFill>
                  <a:srgbClr val="4A6572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600">
                <a:solidFill>
                  <a:srgbClr val="4A6572"/>
                </a:solidFill>
                <a:latin typeface="Calibri"/>
                <a:ea typeface="Calibri"/>
                <a:cs typeface="Calibri"/>
              </a:rPr>
              <a:t>negativne</a:t>
            </a:r>
            <a:r>
              <a:rPr lang="en-US" sz="1600">
                <a:solidFill>
                  <a:srgbClr val="4A6572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600">
                <a:solidFill>
                  <a:srgbClr val="4A6572"/>
                </a:solidFill>
                <a:latin typeface="Calibri"/>
                <a:ea typeface="Calibri"/>
                <a:cs typeface="Calibri"/>
              </a:rPr>
              <a:t>vrijednosti</a:t>
            </a:r>
            <a:r>
              <a:rPr lang="en-US" sz="1600">
                <a:solidFill>
                  <a:srgbClr val="4A6572"/>
                </a:solidFill>
                <a:latin typeface="Calibri"/>
                <a:ea typeface="Calibri"/>
                <a:cs typeface="Calibri"/>
              </a:rPr>
              <a:t>,</a:t>
            </a:r>
            <a:endParaRPr lang="en-US" sz="1600">
              <a:solidFill>
                <a:srgbClr val="000000"/>
              </a:solidFill>
              <a:latin typeface="Tw Cen MT"/>
              <a:ea typeface="Calibri"/>
              <a:cs typeface="Calibri"/>
            </a:endParaRPr>
          </a:p>
          <a:p>
            <a:pPr lvl="1">
              <a:defRPr/>
            </a:pPr>
            <a:r>
              <a:rPr lang="en-US" sz="1600">
                <a:solidFill>
                  <a:srgbClr val="4A6572"/>
                </a:solidFill>
                <a:latin typeface="Calibri"/>
                <a:ea typeface="Calibri"/>
                <a:cs typeface="Calibri"/>
              </a:rPr>
              <a:t>  Pool </a:t>
            </a:r>
            <a:r>
              <a:rPr lang="en-US" sz="1600">
                <a:solidFill>
                  <a:srgbClr val="4A6572"/>
                </a:solidFill>
                <a:latin typeface="Calibri"/>
                <a:ea typeface="Calibri"/>
                <a:cs typeface="Calibri"/>
              </a:rPr>
              <a:t>smanjuje</a:t>
            </a:r>
            <a:r>
              <a:rPr lang="en-US" sz="1600">
                <a:solidFill>
                  <a:srgbClr val="4A6572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600">
                <a:solidFill>
                  <a:srgbClr val="4A6572"/>
                </a:solidFill>
                <a:latin typeface="Calibri"/>
                <a:ea typeface="Calibri"/>
                <a:cs typeface="Calibri"/>
              </a:rPr>
              <a:t>prostorne</a:t>
            </a:r>
            <a:r>
              <a:rPr lang="en-US" sz="1600">
                <a:solidFill>
                  <a:srgbClr val="4A6572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600">
                <a:solidFill>
                  <a:srgbClr val="4A6572"/>
                </a:solidFill>
                <a:latin typeface="Calibri"/>
                <a:ea typeface="Calibri"/>
                <a:cs typeface="Calibri"/>
              </a:rPr>
              <a:t>dimenzije</a:t>
            </a:r>
            <a:endParaRPr lang="en-US" sz="1600">
              <a:solidFill>
                <a:srgbClr val="4A6572"/>
              </a:solidFill>
              <a:latin typeface="Calibri"/>
              <a:ea typeface="Calibri"/>
              <a:cs typeface="Calibri"/>
            </a:endParaRPr>
          </a:p>
          <a:p>
            <a:pPr lvl="1">
              <a:defRPr/>
            </a:pPr>
            <a:endParaRPr lang="en-US" sz="1600">
              <a:solidFill>
                <a:srgbClr val="4A6572"/>
              </a:solidFill>
              <a:latin typeface="Calibri"/>
              <a:ea typeface="Calibri"/>
              <a:cs typeface="Calibri"/>
            </a:endParaRPr>
          </a:p>
          <a:p>
            <a:pPr marL="342900" indent="-342900">
              <a:buFont typeface="Arial"/>
              <a:buChar char="•"/>
              <a:defRPr/>
            </a:pPr>
            <a:r>
              <a:rPr lang="en-US" sz="1600" b="1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Softmax</a:t>
            </a:r>
            <a:r>
              <a:rPr lang="en-US" sz="1600" b="1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600" b="1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izbacuje</a:t>
            </a:r>
            <a:r>
              <a:rPr lang="en-US" sz="1600" b="1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600" b="1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vjerojatnosti</a:t>
            </a:r>
            <a:endParaRPr lang="en-US" sz="1600"/>
          </a:p>
          <a:p>
            <a:pPr lvl="1">
              <a:defRPr/>
            </a:pPr>
            <a:r>
              <a:rPr lang="en-US" sz="1600">
                <a:solidFill>
                  <a:srgbClr val="4A6572"/>
                </a:solidFill>
                <a:latin typeface="Calibri"/>
                <a:ea typeface="Calibri"/>
                <a:cs typeface="Calibri"/>
              </a:rPr>
              <a:t> </a:t>
            </a:r>
            <a:r>
              <a:rPr lang="en-US" sz="1600">
                <a:solidFill>
                  <a:srgbClr val="4A6572"/>
                </a:solidFill>
                <a:latin typeface="Calibri"/>
                <a:ea typeface="Calibri"/>
                <a:cs typeface="Calibri"/>
              </a:rPr>
              <a:t>Završni</a:t>
            </a:r>
            <a:r>
              <a:rPr lang="en-US" sz="1600">
                <a:solidFill>
                  <a:srgbClr val="4A6572"/>
                </a:solidFill>
                <a:latin typeface="Calibri"/>
                <a:ea typeface="Calibri"/>
                <a:cs typeface="Calibri"/>
              </a:rPr>
              <a:t> (N, 261) </a:t>
            </a:r>
            <a:r>
              <a:rPr lang="en-US" sz="1600">
                <a:solidFill>
                  <a:srgbClr val="4A6572"/>
                </a:solidFill>
                <a:latin typeface="Calibri"/>
                <a:ea typeface="Calibri"/>
                <a:cs typeface="Calibri"/>
              </a:rPr>
              <a:t>vektor</a:t>
            </a:r>
            <a:r>
              <a:rPr lang="en-US" sz="1600">
                <a:solidFill>
                  <a:srgbClr val="4A6572"/>
                </a:solidFill>
                <a:latin typeface="Calibri"/>
                <a:ea typeface="Calibri"/>
                <a:cs typeface="Calibri"/>
              </a:rPr>
              <a:t> se </a:t>
            </a:r>
            <a:r>
              <a:rPr lang="en-US" sz="1600">
                <a:solidFill>
                  <a:srgbClr val="4A6572"/>
                </a:solidFill>
                <a:latin typeface="Calibri"/>
                <a:ea typeface="Calibri"/>
                <a:cs typeface="Calibri"/>
              </a:rPr>
              <a:t>sabire</a:t>
            </a:r>
            <a:r>
              <a:rPr lang="en-US" sz="1600">
                <a:solidFill>
                  <a:srgbClr val="4A6572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600">
                <a:solidFill>
                  <a:srgbClr val="4A6572"/>
                </a:solidFill>
                <a:latin typeface="Calibri"/>
                <a:ea typeface="Calibri"/>
                <a:cs typeface="Calibri"/>
              </a:rPr>
              <a:t>na</a:t>
            </a:r>
            <a:r>
              <a:rPr lang="en-US" sz="1600">
                <a:solidFill>
                  <a:srgbClr val="4A6572"/>
                </a:solidFill>
                <a:latin typeface="Calibri"/>
                <a:ea typeface="Calibri"/>
                <a:cs typeface="Calibri"/>
              </a:rPr>
              <a:t> 1,0 po </a:t>
            </a:r>
            <a:r>
              <a:rPr lang="en-US" sz="1600">
                <a:solidFill>
                  <a:srgbClr val="4A6572"/>
                </a:solidFill>
                <a:latin typeface="Calibri"/>
                <a:ea typeface="Calibri"/>
                <a:cs typeface="Calibri"/>
              </a:rPr>
              <a:t>slici</a:t>
            </a:r>
            <a:endParaRPr lang="en-US" sz="1600"/>
          </a:p>
          <a:p>
            <a:pPr lvl="1">
              <a:defRPr/>
            </a:pPr>
            <a:endParaRPr lang="en-US" sz="1600">
              <a:solidFill>
                <a:srgbClr val="4A6572"/>
              </a:solidFill>
              <a:latin typeface="Calibri"/>
              <a:ea typeface="Calibri"/>
              <a:cs typeface="Calibri"/>
            </a:endParaRPr>
          </a:p>
          <a:p>
            <a:pPr marL="342900" indent="-342900">
              <a:buFont typeface="Arial"/>
              <a:buChar char="•"/>
              <a:defRPr/>
            </a:pPr>
            <a:r>
              <a:rPr lang="en-US" sz="1600" b="1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Pohranjuje</a:t>
            </a:r>
            <a:r>
              <a:rPr lang="en-US" sz="1600" b="1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600" b="1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ulaze</a:t>
            </a:r>
            <a:r>
              <a:rPr lang="en-US" sz="1600" b="1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 za </a:t>
            </a:r>
            <a:r>
              <a:rPr lang="en-US" sz="1600" b="1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unatrag</a:t>
            </a:r>
            <a:endParaRPr lang="en-US" sz="1600"/>
          </a:p>
          <a:p>
            <a:pPr lvl="1">
              <a:defRPr/>
            </a:pPr>
            <a:r>
              <a:rPr lang="en-US" sz="1600">
                <a:solidFill>
                  <a:srgbClr val="4A6572"/>
                </a:solidFill>
                <a:latin typeface="Calibri"/>
                <a:ea typeface="Calibri"/>
                <a:cs typeface="Calibri"/>
              </a:rPr>
              <a:t> </a:t>
            </a:r>
            <a:r>
              <a:rPr lang="en-US" sz="1600">
                <a:solidFill>
                  <a:srgbClr val="4A6572"/>
                </a:solidFill>
                <a:latin typeface="Calibri"/>
                <a:ea typeface="Calibri"/>
                <a:cs typeface="Calibri"/>
              </a:rPr>
              <a:t>Svaki</a:t>
            </a:r>
            <a:r>
              <a:rPr lang="en-US" sz="1600">
                <a:solidFill>
                  <a:srgbClr val="4A6572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600">
                <a:solidFill>
                  <a:srgbClr val="4A6572"/>
                </a:solidFill>
                <a:latin typeface="Calibri"/>
                <a:ea typeface="Calibri"/>
                <a:cs typeface="Calibri"/>
              </a:rPr>
              <a:t>sloj</a:t>
            </a:r>
            <a:r>
              <a:rPr lang="en-US" sz="1600">
                <a:solidFill>
                  <a:srgbClr val="4A6572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600">
                <a:solidFill>
                  <a:srgbClr val="4A6572"/>
                </a:solidFill>
                <a:latin typeface="Calibri"/>
                <a:ea typeface="Calibri"/>
                <a:cs typeface="Calibri"/>
              </a:rPr>
              <a:t>sprema</a:t>
            </a:r>
            <a:r>
              <a:rPr lang="en-US" sz="1600">
                <a:solidFill>
                  <a:srgbClr val="4A6572"/>
                </a:solidFill>
                <a:latin typeface="Calibri"/>
                <a:ea typeface="Calibri"/>
                <a:cs typeface="Calibri"/>
              </a:rPr>
              <a:t> ono </a:t>
            </a:r>
            <a:r>
              <a:rPr lang="en-US" sz="1600">
                <a:solidFill>
                  <a:srgbClr val="4A6572"/>
                </a:solidFill>
                <a:latin typeface="Calibri"/>
                <a:ea typeface="Calibri"/>
                <a:cs typeface="Calibri"/>
              </a:rPr>
              <a:t>što</a:t>
            </a:r>
            <a:r>
              <a:rPr lang="en-US" sz="1600">
                <a:solidFill>
                  <a:srgbClr val="4A6572"/>
                </a:solidFill>
                <a:latin typeface="Calibri"/>
                <a:ea typeface="Calibri"/>
                <a:cs typeface="Calibri"/>
              </a:rPr>
              <a:t> je </a:t>
            </a:r>
            <a:r>
              <a:rPr lang="en-US" sz="1600">
                <a:solidFill>
                  <a:srgbClr val="4A6572"/>
                </a:solidFill>
                <a:latin typeface="Calibri"/>
                <a:ea typeface="Calibri"/>
                <a:cs typeface="Calibri"/>
              </a:rPr>
              <a:t>primio</a:t>
            </a:r>
            <a:r>
              <a:rPr lang="en-US" sz="1600">
                <a:solidFill>
                  <a:srgbClr val="4A6572"/>
                </a:solidFill>
                <a:latin typeface="Calibri"/>
                <a:ea typeface="Calibri"/>
                <a:cs typeface="Calibri"/>
              </a:rPr>
              <a:t> </a:t>
            </a:r>
            <a:r>
              <a:rPr lang="en-US" sz="1600">
                <a:solidFill>
                  <a:srgbClr val="4A6572"/>
                </a:solidFill>
                <a:latin typeface="Calibri"/>
                <a:ea typeface="Calibri"/>
                <a:cs typeface="Calibri"/>
              </a:rPr>
              <a:t>tako</a:t>
            </a:r>
            <a:r>
              <a:rPr lang="en-US" sz="1600">
                <a:solidFill>
                  <a:srgbClr val="4A6572"/>
                </a:solidFill>
                <a:latin typeface="Calibri"/>
                <a:ea typeface="Calibri"/>
                <a:cs typeface="Calibri"/>
              </a:rPr>
              <a:t> da</a:t>
            </a:r>
            <a:endParaRPr lang="en-US" sz="1600">
              <a:solidFill>
                <a:srgbClr val="000000"/>
              </a:solidFill>
              <a:latin typeface="Tw Cen MT"/>
              <a:ea typeface="Calibri"/>
              <a:cs typeface="Calibri"/>
            </a:endParaRPr>
          </a:p>
          <a:p>
            <a:pPr lvl="1">
              <a:defRPr/>
            </a:pPr>
            <a:r>
              <a:rPr lang="en-US" sz="1600">
                <a:solidFill>
                  <a:srgbClr val="4A6572"/>
                </a:solidFill>
                <a:latin typeface="Calibri"/>
                <a:ea typeface="Calibri"/>
                <a:cs typeface="Calibri"/>
              </a:rPr>
              <a:t> </a:t>
            </a:r>
            <a:r>
              <a:rPr lang="en-US" sz="1600">
                <a:solidFill>
                  <a:srgbClr val="4A6572"/>
                </a:solidFill>
                <a:latin typeface="Calibri"/>
                <a:ea typeface="Calibri"/>
                <a:cs typeface="Calibri"/>
              </a:rPr>
              <a:t>gradijenti</a:t>
            </a:r>
            <a:r>
              <a:rPr lang="en-US" sz="1600">
                <a:solidFill>
                  <a:srgbClr val="4A6572"/>
                </a:solidFill>
                <a:latin typeface="Calibri"/>
                <a:ea typeface="Calibri"/>
                <a:cs typeface="Calibri"/>
              </a:rPr>
              <a:t> </a:t>
            </a:r>
            <a:r>
              <a:rPr lang="en-US" sz="1600">
                <a:solidFill>
                  <a:srgbClr val="4A6572"/>
                </a:solidFill>
                <a:latin typeface="Calibri"/>
                <a:ea typeface="Calibri"/>
                <a:cs typeface="Calibri"/>
              </a:rPr>
              <a:t>mogu</a:t>
            </a:r>
            <a:r>
              <a:rPr lang="en-US" sz="1600">
                <a:solidFill>
                  <a:srgbClr val="4A6572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600">
                <a:solidFill>
                  <a:srgbClr val="4A6572"/>
                </a:solidFill>
                <a:latin typeface="Calibri"/>
                <a:ea typeface="Calibri"/>
                <a:cs typeface="Calibri"/>
              </a:rPr>
              <a:t>teći</a:t>
            </a:r>
            <a:r>
              <a:rPr lang="en-US" sz="1600">
                <a:solidFill>
                  <a:srgbClr val="4A6572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600">
                <a:solidFill>
                  <a:srgbClr val="4A6572"/>
                </a:solidFill>
                <a:latin typeface="Calibri"/>
                <a:ea typeface="Calibri"/>
                <a:cs typeface="Calibri"/>
              </a:rPr>
              <a:t>natrag</a:t>
            </a:r>
            <a:endParaRPr lang="en-US" sz="1600"/>
          </a:p>
        </p:txBody>
      </p:sp>
      <p:sp>
        <p:nvSpPr>
          <p:cNvPr id="158408977" name="TextBox 9"/>
          <p:cNvSpPr txBox="1"/>
          <p:nvPr/>
        </p:nvSpPr>
        <p:spPr bwMode="auto">
          <a:xfrm>
            <a:off x="6204249" y="2898826"/>
            <a:ext cx="5461815" cy="369331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/>
            <a:spAutoFit/>
          </a:bodyPr>
          <a:lstStyle/>
          <a:p>
            <a:pPr marL="285750" indent="-285750">
              <a:buFont typeface="Arial"/>
              <a:buChar char="•"/>
              <a:defRPr/>
            </a:pPr>
            <a:r>
              <a:rPr lang="en-US" b="1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Gradijent</a:t>
            </a:r>
            <a:r>
              <a:rPr lang="en-US" b="1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b="1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teče</a:t>
            </a:r>
            <a:r>
              <a:rPr lang="en-US" b="1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b="1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obrnutim</a:t>
            </a:r>
            <a:r>
              <a:rPr lang="en-US" b="1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b="1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redoslijedom</a:t>
            </a:r>
            <a:endParaRPr lang="en-US"/>
          </a:p>
          <a:p>
            <a:pPr>
              <a:defRPr/>
            </a:pPr>
            <a:r>
              <a:rPr lang="en-US">
                <a:solidFill>
                  <a:srgbClr val="4A6572"/>
                </a:solidFill>
                <a:latin typeface="Calibri"/>
                <a:ea typeface="Calibri"/>
                <a:cs typeface="Calibri"/>
              </a:rPr>
              <a:t>          Borna </a:t>
            </a:r>
            <a:r>
              <a:rPr lang="en-US">
                <a:solidFill>
                  <a:srgbClr val="4A6572"/>
                </a:solidFill>
                <a:latin typeface="Calibri"/>
                <a:ea typeface="Calibri"/>
                <a:cs typeface="Calibri"/>
              </a:rPr>
              <a:t>izračunava</a:t>
            </a:r>
            <a:r>
              <a:rPr lang="en-US">
                <a:solidFill>
                  <a:srgbClr val="4A6572"/>
                </a:solidFill>
                <a:latin typeface="Calibri"/>
                <a:ea typeface="Calibri"/>
                <a:cs typeface="Calibri"/>
              </a:rPr>
              <a:t> dL/d (</a:t>
            </a:r>
            <a:r>
              <a:rPr lang="en-US">
                <a:solidFill>
                  <a:srgbClr val="4A6572"/>
                </a:solidFill>
                <a:latin typeface="Calibri"/>
                <a:ea typeface="Calibri"/>
                <a:cs typeface="Calibri"/>
              </a:rPr>
              <a:t>softmax</a:t>
            </a:r>
            <a:r>
              <a:rPr lang="en-US">
                <a:solidFill>
                  <a:srgbClr val="4A6572"/>
                </a:solidFill>
                <a:latin typeface="Calibri"/>
                <a:ea typeface="Calibri"/>
                <a:cs typeface="Calibri"/>
              </a:rPr>
              <a:t>)</a:t>
            </a:r>
            <a:endParaRPr lang="en-US"/>
          </a:p>
          <a:p>
            <a:pPr>
              <a:buFont typeface="Arial"/>
              <a:defRPr/>
            </a:pPr>
            <a:endParaRPr lang="en-US" b="1">
              <a:solidFill>
                <a:srgbClr val="1B2A33"/>
              </a:solidFill>
              <a:latin typeface="Calibri"/>
              <a:ea typeface="Calibri"/>
              <a:cs typeface="Calibri"/>
            </a:endParaRPr>
          </a:p>
          <a:p>
            <a:pPr marL="285750" indent="-285750">
              <a:buFont typeface="Arial"/>
              <a:buChar char="•"/>
              <a:defRPr/>
            </a:pPr>
            <a:r>
              <a:rPr lang="en-US" b="1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Svaki</a:t>
            </a:r>
            <a:r>
              <a:rPr lang="en-US" b="1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b="1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sloj</a:t>
            </a:r>
            <a:r>
              <a:rPr lang="en-US" b="1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b="1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dobiva</a:t>
            </a:r>
            <a:r>
              <a:rPr lang="en-US" b="1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b="1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d_out</a:t>
            </a:r>
            <a:r>
              <a:rPr lang="en-US" b="1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, </a:t>
            </a:r>
            <a:r>
              <a:rPr lang="en-US" b="1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vraća</a:t>
            </a:r>
            <a:r>
              <a:rPr lang="en-US" b="1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b="1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d_in</a:t>
            </a:r>
            <a:endParaRPr lang="en-US">
              <a:solidFill>
                <a:srgbClr val="4A6572"/>
              </a:solidFill>
              <a:latin typeface="Calibri"/>
              <a:ea typeface="Calibri"/>
              <a:cs typeface="Calibri"/>
            </a:endParaRPr>
          </a:p>
          <a:p>
            <a:pPr>
              <a:defRPr/>
            </a:pPr>
            <a:r>
              <a:rPr lang="en-US">
                <a:solidFill>
                  <a:srgbClr val="4A6572"/>
                </a:solidFill>
                <a:latin typeface="Calibri"/>
                <a:ea typeface="Calibri"/>
                <a:cs typeface="Calibri"/>
              </a:rPr>
              <a:t>          Lančano </a:t>
            </a:r>
            <a:r>
              <a:rPr lang="en-US">
                <a:solidFill>
                  <a:srgbClr val="4A6572"/>
                </a:solidFill>
                <a:latin typeface="Calibri"/>
                <a:ea typeface="Calibri"/>
                <a:cs typeface="Calibri"/>
              </a:rPr>
              <a:t>pravilo</a:t>
            </a:r>
            <a:r>
              <a:rPr lang="en-US">
                <a:solidFill>
                  <a:srgbClr val="4A6572"/>
                </a:solidFill>
                <a:latin typeface="Calibri"/>
                <a:ea typeface="Calibri"/>
                <a:cs typeface="Calibri"/>
              </a:rPr>
              <a:t>: </a:t>
            </a:r>
            <a:r>
              <a:rPr lang="en-US">
                <a:solidFill>
                  <a:srgbClr val="4A6572"/>
                </a:solidFill>
                <a:latin typeface="Calibri"/>
                <a:ea typeface="Calibri"/>
                <a:cs typeface="Calibri"/>
              </a:rPr>
              <a:t>pomnožit</a:t>
            </a:r>
            <a:r>
              <a:rPr lang="en-US">
                <a:solidFill>
                  <a:srgbClr val="4A6572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>
                <a:solidFill>
                  <a:srgbClr val="4A6572"/>
                </a:solidFill>
                <a:latin typeface="Calibri"/>
                <a:ea typeface="Calibri"/>
                <a:cs typeface="Calibri"/>
              </a:rPr>
              <a:t>uzvodni</a:t>
            </a:r>
            <a:r>
              <a:rPr lang="en-US">
                <a:solidFill>
                  <a:srgbClr val="4A6572"/>
                </a:solidFill>
                <a:latin typeface="Calibri"/>
                <a:ea typeface="Calibri"/>
                <a:cs typeface="Calibri"/>
              </a:rPr>
              <a:t> </a:t>
            </a:r>
            <a:endParaRPr lang="en-US">
              <a:solidFill>
                <a:srgbClr val="000000"/>
              </a:solidFill>
              <a:latin typeface="Tw Cen MT"/>
              <a:ea typeface="Calibri"/>
              <a:cs typeface="Calibri"/>
            </a:endParaRPr>
          </a:p>
          <a:p>
            <a:pPr>
              <a:defRPr/>
            </a:pPr>
            <a:r>
              <a:rPr lang="en-US">
                <a:solidFill>
                  <a:srgbClr val="4A6572"/>
                </a:solidFill>
                <a:latin typeface="Calibri"/>
                <a:ea typeface="Calibri"/>
                <a:cs typeface="Calibri"/>
              </a:rPr>
              <a:t>          gradient </a:t>
            </a:r>
            <a:r>
              <a:rPr lang="en-US">
                <a:solidFill>
                  <a:srgbClr val="4A6572"/>
                </a:solidFill>
                <a:latin typeface="Calibri"/>
                <a:ea typeface="Calibri"/>
                <a:cs typeface="Calibri"/>
              </a:rPr>
              <a:t>putem</a:t>
            </a:r>
            <a:r>
              <a:rPr lang="en-US">
                <a:solidFill>
                  <a:srgbClr val="4A6572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>
                <a:solidFill>
                  <a:srgbClr val="4A6572"/>
                </a:solidFill>
                <a:latin typeface="Calibri"/>
                <a:ea typeface="Calibri"/>
                <a:cs typeface="Calibri"/>
              </a:rPr>
              <a:t>lokalnog</a:t>
            </a:r>
            <a:r>
              <a:rPr lang="en-US">
                <a:solidFill>
                  <a:srgbClr val="4A6572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>
                <a:solidFill>
                  <a:srgbClr val="4A6572"/>
                </a:solidFill>
                <a:latin typeface="Calibri"/>
                <a:ea typeface="Calibri"/>
                <a:cs typeface="Calibri"/>
              </a:rPr>
              <a:t>Jacobija</a:t>
            </a:r>
            <a:endParaRPr lang="en-US"/>
          </a:p>
          <a:p>
            <a:pPr>
              <a:defRPr/>
            </a:pPr>
            <a:endParaRPr lang="en-US" b="1">
              <a:solidFill>
                <a:srgbClr val="1B2A33"/>
              </a:solidFill>
              <a:latin typeface="Calibri"/>
              <a:ea typeface="Calibri"/>
              <a:cs typeface="Calibri"/>
            </a:endParaRPr>
          </a:p>
          <a:p>
            <a:pPr marL="285750" indent="-285750">
              <a:buFont typeface="Arial"/>
              <a:buChar char="•"/>
              <a:defRPr/>
            </a:pPr>
            <a:r>
              <a:rPr lang="en-US" b="1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Konvolucija</a:t>
            </a:r>
            <a:r>
              <a:rPr lang="en-US" b="1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b="1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pohranjuje</a:t>
            </a:r>
            <a:r>
              <a:rPr lang="en-US" b="1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b="1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d_filters</a:t>
            </a:r>
            <a:r>
              <a:rPr lang="en-US" b="1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 + </a:t>
            </a:r>
            <a:r>
              <a:rPr lang="en-US" b="1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d_biases</a:t>
            </a:r>
            <a:endParaRPr lang="en-US">
              <a:solidFill>
                <a:srgbClr val="4A6572"/>
              </a:solidFill>
              <a:latin typeface="Calibri"/>
              <a:ea typeface="Calibri"/>
              <a:cs typeface="Calibri"/>
            </a:endParaRPr>
          </a:p>
          <a:p>
            <a:pPr>
              <a:defRPr/>
            </a:pPr>
            <a:r>
              <a:rPr lang="en-US">
                <a:solidFill>
                  <a:srgbClr val="4A6572"/>
                </a:solidFill>
                <a:latin typeface="Calibri"/>
                <a:ea typeface="Calibri"/>
                <a:cs typeface="Calibri"/>
              </a:rPr>
              <a:t>           Optimizator </a:t>
            </a:r>
            <a:r>
              <a:rPr lang="en-US">
                <a:solidFill>
                  <a:srgbClr val="4A6572"/>
                </a:solidFill>
                <a:latin typeface="Calibri"/>
                <a:ea typeface="Calibri"/>
                <a:cs typeface="Calibri"/>
              </a:rPr>
              <a:t>čita</a:t>
            </a:r>
            <a:r>
              <a:rPr lang="en-US">
                <a:solidFill>
                  <a:srgbClr val="4A6572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>
                <a:solidFill>
                  <a:srgbClr val="4A6572"/>
                </a:solidFill>
                <a:latin typeface="Calibri"/>
                <a:ea typeface="Calibri"/>
                <a:cs typeface="Calibri"/>
              </a:rPr>
              <a:t>i</a:t>
            </a:r>
            <a:r>
              <a:rPr lang="en-US">
                <a:solidFill>
                  <a:srgbClr val="4A6572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>
                <a:solidFill>
                  <a:srgbClr val="4A6572"/>
                </a:solidFill>
                <a:latin typeface="Calibri"/>
                <a:ea typeface="Calibri"/>
                <a:cs typeface="Calibri"/>
              </a:rPr>
              <a:t>ažurira</a:t>
            </a:r>
            <a:r>
              <a:rPr lang="en-US">
                <a:solidFill>
                  <a:srgbClr val="4A6572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>
                <a:solidFill>
                  <a:srgbClr val="4A6572"/>
                </a:solidFill>
                <a:latin typeface="Calibri"/>
                <a:ea typeface="Calibri"/>
                <a:cs typeface="Calibri"/>
              </a:rPr>
              <a:t>težine</a:t>
            </a:r>
            <a:endParaRPr lang="en-US"/>
          </a:p>
          <a:p>
            <a:pPr marL="285750" indent="-285750">
              <a:buFont typeface="Arial"/>
              <a:buChar char="•"/>
              <a:defRPr/>
            </a:pPr>
            <a:endParaRPr lang="en-US" b="1">
              <a:solidFill>
                <a:srgbClr val="1B2A33"/>
              </a:solidFill>
              <a:latin typeface="Calibri"/>
              <a:ea typeface="Calibri"/>
              <a:cs typeface="Calibri"/>
            </a:endParaRPr>
          </a:p>
          <a:p>
            <a:pPr marL="285750" indent="-285750">
              <a:buFont typeface="Arial"/>
              <a:buChar char="•"/>
              <a:defRPr/>
            </a:pPr>
            <a:r>
              <a:rPr lang="en-US" b="1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Ovdje</a:t>
            </a:r>
            <a:r>
              <a:rPr lang="en-US" b="1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 je </a:t>
            </a:r>
            <a:r>
              <a:rPr lang="en-US" b="1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primijenjena</a:t>
            </a:r>
            <a:r>
              <a:rPr lang="en-US" b="1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b="1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maska</a:t>
            </a:r>
            <a:r>
              <a:rPr lang="en-US" b="1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 za </a:t>
            </a:r>
            <a:r>
              <a:rPr lang="en-US" b="1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orezivanje</a:t>
            </a:r>
            <a:endParaRPr lang="en-US" b="1">
              <a:solidFill>
                <a:srgbClr val="1B2A33"/>
              </a:solidFill>
              <a:latin typeface="Calibri"/>
              <a:ea typeface="Calibri"/>
              <a:cs typeface="Calibri"/>
            </a:endParaRPr>
          </a:p>
          <a:p>
            <a:pPr>
              <a:defRPr/>
            </a:pPr>
            <a:r>
              <a:rPr lang="en-US">
                <a:solidFill>
                  <a:srgbClr val="4A6572"/>
                </a:solidFill>
                <a:latin typeface="Calibri"/>
                <a:ea typeface="Calibri"/>
                <a:cs typeface="Calibri"/>
              </a:rPr>
              <a:t>           Silvia </a:t>
            </a:r>
            <a:r>
              <a:rPr lang="en-US">
                <a:solidFill>
                  <a:srgbClr val="4A6572"/>
                </a:solidFill>
                <a:latin typeface="Calibri"/>
                <a:ea typeface="Calibri"/>
                <a:cs typeface="Calibri"/>
              </a:rPr>
              <a:t>postavlja</a:t>
            </a:r>
            <a:r>
              <a:rPr lang="en-US">
                <a:solidFill>
                  <a:srgbClr val="4A6572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>
                <a:solidFill>
                  <a:srgbClr val="4A6572"/>
                </a:solidFill>
                <a:latin typeface="Calibri"/>
                <a:ea typeface="Calibri"/>
                <a:cs typeface="Calibri"/>
              </a:rPr>
              <a:t>na</a:t>
            </a:r>
            <a:r>
              <a:rPr lang="en-US">
                <a:solidFill>
                  <a:srgbClr val="4A6572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>
                <a:solidFill>
                  <a:srgbClr val="4A6572"/>
                </a:solidFill>
                <a:latin typeface="Calibri"/>
                <a:ea typeface="Calibri"/>
                <a:cs typeface="Calibri"/>
              </a:rPr>
              <a:t>nulu</a:t>
            </a:r>
            <a:r>
              <a:rPr lang="en-US">
                <a:solidFill>
                  <a:srgbClr val="4A6572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>
                <a:solidFill>
                  <a:srgbClr val="4A6572"/>
                </a:solidFill>
                <a:latin typeface="Calibri"/>
                <a:ea typeface="Calibri"/>
                <a:cs typeface="Calibri"/>
              </a:rPr>
              <a:t>skraćene</a:t>
            </a:r>
            <a:r>
              <a:rPr lang="en-US">
                <a:solidFill>
                  <a:srgbClr val="4A6572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>
                <a:solidFill>
                  <a:srgbClr val="4A6572"/>
                </a:solidFill>
                <a:latin typeface="Calibri"/>
                <a:ea typeface="Calibri"/>
                <a:cs typeface="Calibri"/>
              </a:rPr>
              <a:t>težine</a:t>
            </a:r>
            <a:r>
              <a:rPr lang="en-US">
                <a:solidFill>
                  <a:srgbClr val="4A6572"/>
                </a:solidFill>
                <a:latin typeface="Calibri"/>
                <a:ea typeface="Calibri"/>
                <a:cs typeface="Calibri"/>
              </a:rPr>
              <a:t> </a:t>
            </a:r>
            <a:endParaRPr/>
          </a:p>
          <a:p>
            <a:pPr marL="228600" indent="-228600">
              <a:buFont typeface="Arial"/>
              <a:buChar char="•"/>
              <a:defRPr/>
            </a:pPr>
            <a:endParaRPr lang="en-US">
              <a:solidFill>
                <a:srgbClr val="4A6572"/>
              </a:solidFill>
              <a:latin typeface="Calibri"/>
              <a:ea typeface="Calibri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971391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 sz="4400"/>
              <a:t>Primjer</a:t>
            </a:r>
            <a:r>
              <a:rPr lang="en-US" sz="4400"/>
              <a:t> </a:t>
            </a:r>
            <a:r>
              <a:rPr lang="en-US" sz="4400"/>
              <a:t>sa</a:t>
            </a:r>
            <a:r>
              <a:rPr lang="en-US" sz="4400"/>
              <a:t> </a:t>
            </a:r>
            <a:r>
              <a:rPr lang="en-US" sz="4400"/>
              <a:t>lažnim</a:t>
            </a:r>
            <a:r>
              <a:rPr lang="en-US" sz="4400"/>
              <a:t> </a:t>
            </a:r>
            <a:r>
              <a:rPr lang="en-US" sz="4400"/>
              <a:t>podacima</a:t>
            </a:r>
            <a:endParaRPr sz="4400"/>
          </a:p>
        </p:txBody>
      </p:sp>
      <p:pic>
        <p:nvPicPr>
          <p:cNvPr id="457217398" name="Content Placeholder 6" descr="A screenshot of a computer&#10;&#10;AI-generated content may be incorrect."/>
          <p:cNvPicPr>
            <a:picLocks noChangeAspect="1" noGrp="1"/>
          </p:cNvPicPr>
          <p:nvPr>
            <p:ph idx="1"/>
          </p:nvPr>
        </p:nvPicPr>
        <p:blipFill rotWithShape="1">
          <a:blip r:embed="rId3"/>
          <a:srcRect l="0" t="0" r="12572" b="0"/>
          <a:stretch/>
        </p:blipFill>
        <p:spPr bwMode="auto">
          <a:xfrm>
            <a:off x="427197" y="2080846"/>
            <a:ext cx="7761784" cy="4394589"/>
          </a:xfrm>
          <a:prstGeom prst="rect">
            <a:avLst/>
          </a:prstGeom>
        </p:spPr>
      </p:pic>
      <p:sp>
        <p:nvSpPr>
          <p:cNvPr id="1461158601" name="Rectangle 8"/>
          <p:cNvSpPr/>
          <p:nvPr/>
        </p:nvSpPr>
        <p:spPr bwMode="auto">
          <a:xfrm>
            <a:off x="8874512" y="2081561"/>
            <a:ext cx="2797096" cy="1217341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US" sz="3200"/>
              <a:t>3</a:t>
            </a:r>
            <a:endParaRPr/>
          </a:p>
          <a:p>
            <a:pPr algn="ctr">
              <a:defRPr/>
            </a:pPr>
            <a:r>
              <a:rPr lang="en-US" sz="2000"/>
              <a:t>Provjerena</a:t>
            </a:r>
            <a:r>
              <a:rPr lang="en-US" sz="2000"/>
              <a:t> </a:t>
            </a:r>
            <a:r>
              <a:rPr lang="en-US" sz="2000"/>
              <a:t>testa</a:t>
            </a:r>
            <a:endParaRPr/>
          </a:p>
          <a:p>
            <a:pPr algn="ctr">
              <a:defRPr/>
            </a:pPr>
            <a:endParaRPr lang="en-US"/>
          </a:p>
        </p:txBody>
      </p:sp>
      <p:sp>
        <p:nvSpPr>
          <p:cNvPr id="362238938" name="Rectangle 12"/>
          <p:cNvSpPr/>
          <p:nvPr/>
        </p:nvSpPr>
        <p:spPr bwMode="auto">
          <a:xfrm>
            <a:off x="8874512" y="3670609"/>
            <a:ext cx="2797096" cy="1217341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US" sz="3200"/>
              <a:t>5.4 </a:t>
            </a:r>
            <a:r>
              <a:rPr lang="en-US" sz="3200">
                <a:solidFill>
                  <a:schemeClr val="bg1"/>
                </a:solidFill>
              </a:rPr>
              <a:t>→</a:t>
            </a:r>
            <a:r>
              <a:rPr lang="en-US" sz="3200"/>
              <a:t> 1.5</a:t>
            </a:r>
            <a:endParaRPr/>
          </a:p>
          <a:p>
            <a:pPr algn="ctr">
              <a:defRPr/>
            </a:pPr>
            <a:r>
              <a:rPr lang="en-US"/>
              <a:t>Pad </a:t>
            </a:r>
            <a:r>
              <a:rPr lang="en-US"/>
              <a:t>gubitka</a:t>
            </a:r>
            <a:endParaRPr/>
          </a:p>
          <a:p>
            <a:pPr algn="ctr">
              <a:defRPr/>
            </a:pPr>
            <a:endParaRPr lang="en-US"/>
          </a:p>
        </p:txBody>
      </p:sp>
      <p:sp>
        <p:nvSpPr>
          <p:cNvPr id="388654166" name="Rectangle 2"/>
          <p:cNvSpPr/>
          <p:nvPr/>
        </p:nvSpPr>
        <p:spPr bwMode="auto">
          <a:xfrm>
            <a:off x="8874512" y="5259659"/>
            <a:ext cx="2797096" cy="1217341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US" sz="3200"/>
              <a:t>0</a:t>
            </a:r>
            <a:endParaRPr/>
          </a:p>
          <a:p>
            <a:pPr algn="ctr">
              <a:defRPr/>
            </a:pPr>
            <a:r>
              <a:rPr lang="en-US"/>
              <a:t>Vanjskih</a:t>
            </a:r>
            <a:r>
              <a:rPr lang="en-US"/>
              <a:t> </a:t>
            </a:r>
            <a:r>
              <a:rPr lang="en-US"/>
              <a:t>biblioteka</a:t>
            </a:r>
            <a:endParaRPr/>
          </a:p>
          <a:p>
            <a:pPr algn="ctr">
              <a:defRPr/>
            </a:pP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0336204" name="Rectangle 1"/>
          <p:cNvSpPr/>
          <p:nvPr/>
        </p:nvSpPr>
        <p:spPr bwMode="auto">
          <a:xfrm>
            <a:off x="502920" y="576072"/>
            <a:ext cx="18288" cy="594360"/>
          </a:xfrm>
          <a:prstGeom prst="rect">
            <a:avLst/>
          </a:prstGeom>
          <a:solidFill>
            <a:srgbClr val="1FA7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sz="1800" b="0" i="0" u="none" strike="noStrike" cap="none" spc="0">
              <a:ln>
                <a:noFill/>
              </a:ln>
              <a:solidFill>
                <a:prstClr val="white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203450175" name="TextBox 2"/>
          <p:cNvSpPr txBox="1"/>
          <p:nvPr/>
        </p:nvSpPr>
        <p:spPr bwMode="auto">
          <a:xfrm>
            <a:off x="777240" y="566928"/>
            <a:ext cx="3774505" cy="57947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3200" b="0">
                <a:solidFill>
                  <a:srgbClr val="000000"/>
                </a:solidFill>
                <a:latin typeface="Calibri Light"/>
              </a:defRPr>
            </a:pPr>
            <a:r>
              <a:rPr sz="3200" b="0" i="0" u="none" strike="noStrike" cap="none" spc="0">
                <a:ln>
                  <a:noFill/>
                </a:ln>
                <a:solidFill>
                  <a:srgbClr val="000000"/>
                </a:solidFill>
                <a:latin typeface="Calibri Light"/>
                <a:ea typeface="+mn-ea"/>
                <a:cs typeface="+mn-cs"/>
              </a:rPr>
              <a:t>TRENIRANJE MODELA</a:t>
            </a:r>
            <a:endParaRPr/>
          </a:p>
        </p:txBody>
      </p:sp>
      <p:sp>
        <p:nvSpPr>
          <p:cNvPr id="2096182650" name="Rectangle 3"/>
          <p:cNvSpPr/>
          <p:nvPr/>
        </p:nvSpPr>
        <p:spPr bwMode="auto">
          <a:xfrm>
            <a:off x="822960" y="1828800"/>
            <a:ext cx="2743200" cy="1097280"/>
          </a:xfrm>
          <a:prstGeom prst="rect">
            <a:avLst/>
          </a:prstGeom>
          <a:solidFill>
            <a:srgbClr val="1FA7D6"/>
          </a:solidFill>
          <a:ln w="15875">
            <a:solidFill>
              <a:srgbClr val="1FA7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sz="1800" b="0" i="0" u="none" strike="noStrike" cap="none" spc="0">
                <a:ln>
                  <a:noFill/>
                </a:ln>
                <a:solidFill>
                  <a:srgbClr val="FFFFFF"/>
                </a:solidFill>
                <a:latin typeface="Calibri"/>
                <a:ea typeface="+mn-ea"/>
                <a:cs typeface="+mn-cs"/>
              </a:rPr>
              <a:t>INPUT</a:t>
            </a:r>
            <a:br>
              <a:rPr sz="1800" b="0" i="0" u="none" strike="noStrike" cap="none" spc="0">
                <a:ln>
                  <a:noFill/>
                </a:ln>
                <a:solidFill>
                  <a:srgbClr val="FFFFFF"/>
                </a:solidFill>
                <a:latin typeface="Calibri"/>
                <a:ea typeface="+mn-ea"/>
                <a:cs typeface="+mn-cs"/>
              </a:rPr>
            </a:br>
            <a:r>
              <a:rPr sz="1800" b="0" i="0" u="none" strike="noStrike" cap="none" spc="0">
                <a:ln>
                  <a:noFill/>
                </a:ln>
                <a:solidFill>
                  <a:srgbClr val="FFFFFF"/>
                </a:solidFill>
                <a:latin typeface="Calibri"/>
                <a:ea typeface="+mn-ea"/>
                <a:cs typeface="+mn-cs"/>
              </a:rPr>
              <a:t>Fruits-360 slike</a:t>
            </a:r>
            <a:br>
              <a:rPr sz="1800" b="0" i="0" u="none" strike="noStrike" cap="none" spc="0">
                <a:ln>
                  <a:noFill/>
                </a:ln>
                <a:solidFill>
                  <a:srgbClr val="FFFFFF"/>
                </a:solidFill>
                <a:latin typeface="Calibri"/>
                <a:ea typeface="+mn-ea"/>
                <a:cs typeface="+mn-cs"/>
              </a:rPr>
            </a:br>
            <a:r>
              <a:rPr sz="1800" b="0" i="0" u="none" strike="noStrike" cap="none" spc="0">
                <a:ln>
                  <a:noFill/>
                </a:ln>
                <a:solidFill>
                  <a:srgbClr val="FFFFFF"/>
                </a:solidFill>
                <a:latin typeface="Calibri"/>
                <a:ea typeface="+mn-ea"/>
                <a:cs typeface="+mn-cs"/>
              </a:rPr>
              <a:t>+ SimpleCNN</a:t>
            </a:r>
            <a:endParaRPr/>
          </a:p>
        </p:txBody>
      </p:sp>
      <p:cxnSp>
        <p:nvCxnSpPr>
          <p:cNvPr id="382130346" name="Connector 4"/>
          <p:cNvCxnSpPr/>
          <p:nvPr/>
        </p:nvCxnSpPr>
        <p:spPr bwMode="auto">
          <a:xfrm>
            <a:off x="3566160" y="2377440"/>
            <a:ext cx="594360" cy="0"/>
          </a:xfrm>
          <a:prstGeom prst="line">
            <a:avLst/>
          </a:prstGeom>
          <a:ln w="25400">
            <a:solidFill>
              <a:srgbClr val="1FA7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4507612" name="Rectangle 5"/>
          <p:cNvSpPr/>
          <p:nvPr/>
        </p:nvSpPr>
        <p:spPr bwMode="auto">
          <a:xfrm>
            <a:off x="4160519" y="1828800"/>
            <a:ext cx="3017519" cy="1097280"/>
          </a:xfrm>
          <a:prstGeom prst="rect">
            <a:avLst/>
          </a:prstGeom>
          <a:solidFill>
            <a:srgbClr val="FFFFFF"/>
          </a:solidFill>
          <a:ln w="15875">
            <a:solidFill>
              <a:srgbClr val="1FA7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sz="1800" b="0" i="0" u="none" strike="noStrike" cap="none" spc="0">
                <a:ln>
                  <a:noFill/>
                </a:ln>
                <a:solidFill>
                  <a:srgbClr val="000000"/>
                </a:solidFill>
                <a:latin typeface="Calibri"/>
                <a:ea typeface="+mn-ea"/>
                <a:cs typeface="+mn-cs"/>
              </a:rPr>
              <a:t>person2_train.py</a:t>
            </a:r>
            <a:br>
              <a:rPr sz="1800" b="0" i="0" u="none" strike="noStrike" cap="none" spc="0">
                <a:ln>
                  <a:noFill/>
                </a:ln>
                <a:solidFill>
                  <a:srgbClr val="000000"/>
                </a:solidFill>
                <a:latin typeface="Calibri"/>
                <a:ea typeface="+mn-ea"/>
                <a:cs typeface="+mn-cs"/>
              </a:rPr>
            </a:br>
            <a:r>
              <a:rPr sz="1800" b="0" i="0" u="none" strike="noStrike" cap="none" spc="0">
                <a:ln>
                  <a:noFill/>
                </a:ln>
                <a:solidFill>
                  <a:srgbClr val="000000"/>
                </a:solidFill>
                <a:latin typeface="Calibri"/>
                <a:ea typeface="+mn-ea"/>
                <a:cs typeface="+mn-cs"/>
              </a:rPr>
              <a:t>loss + optimizer</a:t>
            </a:r>
            <a:br>
              <a:rPr sz="1800" b="0" i="0" u="none" strike="noStrike" cap="none" spc="0">
                <a:ln>
                  <a:noFill/>
                </a:ln>
                <a:solidFill>
                  <a:srgbClr val="000000"/>
                </a:solidFill>
                <a:latin typeface="Calibri"/>
                <a:ea typeface="+mn-ea"/>
                <a:cs typeface="+mn-cs"/>
              </a:rPr>
            </a:br>
            <a:r>
              <a:rPr sz="1800" b="0" i="0" u="none" strike="noStrike" cap="none" spc="0">
                <a:ln>
                  <a:noFill/>
                </a:ln>
                <a:solidFill>
                  <a:srgbClr val="000000"/>
                </a:solidFill>
                <a:latin typeface="Calibri"/>
                <a:ea typeface="+mn-ea"/>
                <a:cs typeface="+mn-cs"/>
              </a:rPr>
              <a:t>training loop</a:t>
            </a:r>
            <a:endParaRPr/>
          </a:p>
        </p:txBody>
      </p:sp>
      <p:cxnSp>
        <p:nvCxnSpPr>
          <p:cNvPr id="362218478" name="Connector 6"/>
          <p:cNvCxnSpPr/>
          <p:nvPr/>
        </p:nvCxnSpPr>
        <p:spPr bwMode="auto">
          <a:xfrm>
            <a:off x="7178039" y="2377440"/>
            <a:ext cx="594360" cy="0"/>
          </a:xfrm>
          <a:prstGeom prst="line">
            <a:avLst/>
          </a:prstGeom>
          <a:ln w="25400">
            <a:solidFill>
              <a:srgbClr val="1FA7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7075372" name="Rectangle 7"/>
          <p:cNvSpPr/>
          <p:nvPr/>
        </p:nvSpPr>
        <p:spPr bwMode="auto">
          <a:xfrm>
            <a:off x="7772400" y="1828800"/>
            <a:ext cx="2743200" cy="1097280"/>
          </a:xfrm>
          <a:prstGeom prst="rect">
            <a:avLst/>
          </a:prstGeom>
          <a:solidFill>
            <a:srgbClr val="FFFFFF"/>
          </a:solidFill>
          <a:ln w="15875">
            <a:solidFill>
              <a:srgbClr val="1FA7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sz="1700" b="0" i="0" u="none" strike="noStrike" cap="none" spc="0">
                <a:ln>
                  <a:noFill/>
                </a:ln>
                <a:solidFill>
                  <a:srgbClr val="000000"/>
                </a:solidFill>
                <a:latin typeface="Calibri"/>
                <a:ea typeface="+mn-ea"/>
                <a:cs typeface="+mn-cs"/>
              </a:rPr>
              <a:t>OUTPUT</a:t>
            </a:r>
            <a:br>
              <a:rPr sz="1700" b="0" i="0" u="none" strike="noStrike" cap="none" spc="0">
                <a:ln>
                  <a:noFill/>
                </a:ln>
                <a:solidFill>
                  <a:srgbClr val="000000"/>
                </a:solidFill>
                <a:latin typeface="Calibri"/>
                <a:ea typeface="+mn-ea"/>
                <a:cs typeface="+mn-cs"/>
              </a:rPr>
            </a:br>
            <a:r>
              <a:rPr sz="1700" b="0" i="0" u="none" strike="noStrike" cap="none" spc="0">
                <a:ln>
                  <a:noFill/>
                </a:ln>
                <a:solidFill>
                  <a:srgbClr val="000000"/>
                </a:solidFill>
                <a:latin typeface="Calibri"/>
                <a:ea typeface="+mn-ea"/>
                <a:cs typeface="+mn-cs"/>
              </a:rPr>
              <a:t>models/cnn_fruits.npz</a:t>
            </a:r>
            <a:br>
              <a:rPr sz="1700" b="0" i="0" u="none" strike="noStrike" cap="none" spc="0">
                <a:ln>
                  <a:noFill/>
                </a:ln>
                <a:solidFill>
                  <a:srgbClr val="000000"/>
                </a:solidFill>
                <a:latin typeface="Calibri"/>
                <a:ea typeface="+mn-ea"/>
                <a:cs typeface="+mn-cs"/>
              </a:rPr>
            </a:br>
            <a:r>
              <a:rPr sz="1700" b="0" i="0" u="none" strike="noStrike" cap="none" spc="0">
                <a:ln>
                  <a:noFill/>
                </a:ln>
                <a:solidFill>
                  <a:srgbClr val="000000"/>
                </a:solidFill>
                <a:latin typeface="Calibri"/>
                <a:ea typeface="+mn-ea"/>
                <a:cs typeface="+mn-cs"/>
              </a:rPr>
              <a:t>za pruning/quantization</a:t>
            </a:r>
            <a:endParaRPr/>
          </a:p>
        </p:txBody>
      </p:sp>
      <p:sp>
        <p:nvSpPr>
          <p:cNvPr id="1167844535" name="Rounded Rectangle 8"/>
          <p:cNvSpPr/>
          <p:nvPr/>
        </p:nvSpPr>
        <p:spPr bwMode="auto">
          <a:xfrm>
            <a:off x="914400" y="3840480"/>
            <a:ext cx="9875520" cy="12801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1FA7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09728" rIns="109728" bIns="109728" rtlCol="0" anchor="ctr"/>
          <a:lstStyle/>
          <a:p>
            <a:pPr marL="0" marR="0" lvl="0" indent="0" algn="ctr" defTabSz="457200" rtl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Tx/>
              <a:buSzTx/>
              <a:buFontTx/>
              <a:buNone/>
              <a:defRPr sz="1800">
                <a:solidFill>
                  <a:srgbClr val="000000"/>
                </a:solidFill>
                <a:latin typeface="Calibri"/>
              </a:defRPr>
            </a:pPr>
            <a:r>
              <a:rPr sz="1800" b="1" i="0" u="none" strike="noStrike" cap="none" spc="0">
                <a:ln>
                  <a:noFill/>
                </a:ln>
                <a:solidFill>
                  <a:srgbClr val="000000"/>
                </a:solidFill>
                <a:latin typeface="Calibri"/>
                <a:ea typeface="+mn-ea"/>
                <a:cs typeface="+mn-cs"/>
              </a:rPr>
              <a:t>Uloga</a:t>
            </a:r>
            <a:r>
              <a:rPr sz="1800" b="0" i="0" u="none" strike="noStrike" cap="none" spc="0">
                <a:ln>
                  <a:noFill/>
                </a:ln>
                <a:solidFill>
                  <a:srgbClr val="000000"/>
                </a:solidFill>
                <a:latin typeface="Calibri"/>
                <a:ea typeface="+mn-ea"/>
                <a:cs typeface="+mn-cs"/>
              </a:rPr>
              <a:t>: </a:t>
            </a:r>
            <a:r>
              <a:rPr sz="1800" b="0" i="0" u="none" strike="noStrike" cap="none" spc="0">
                <a:ln>
                  <a:noFill/>
                </a:ln>
                <a:solidFill>
                  <a:srgbClr val="000000"/>
                </a:solidFill>
                <a:latin typeface="Calibri"/>
                <a:ea typeface="+mn-ea"/>
                <a:cs typeface="+mn-cs"/>
              </a:rPr>
              <a:t>pripremiti</a:t>
            </a:r>
            <a:r>
              <a:rPr sz="1800" b="0" i="0" u="none" strike="noStrike" cap="none" spc="0">
                <a:ln>
                  <a:noFill/>
                </a:ln>
                <a:solidFill>
                  <a:srgbClr val="000000"/>
                </a:solidFill>
                <a:latin typeface="Calibri"/>
                <a:ea typeface="+mn-ea"/>
                <a:cs typeface="+mn-cs"/>
              </a:rPr>
              <a:t> </a:t>
            </a:r>
            <a:r>
              <a:rPr sz="1800" b="0" i="0" u="none" strike="noStrike" cap="none" spc="0">
                <a:ln>
                  <a:noFill/>
                </a:ln>
                <a:solidFill>
                  <a:srgbClr val="000000"/>
                </a:solidFill>
                <a:latin typeface="Calibri"/>
                <a:ea typeface="+mn-ea"/>
                <a:cs typeface="+mn-cs"/>
              </a:rPr>
              <a:t>referentni</a:t>
            </a:r>
            <a:r>
              <a:rPr sz="1800" b="0" i="0" u="none" strike="noStrike" cap="none" spc="0">
                <a:ln>
                  <a:noFill/>
                </a:ln>
                <a:solidFill>
                  <a:srgbClr val="000000"/>
                </a:solidFill>
                <a:latin typeface="Calibri"/>
                <a:ea typeface="+mn-ea"/>
                <a:cs typeface="+mn-cs"/>
              </a:rPr>
              <a:t>, </a:t>
            </a:r>
            <a:r>
              <a:rPr sz="1800" b="0" i="0" u="none" strike="noStrike" cap="none" spc="0">
                <a:ln>
                  <a:noFill/>
                </a:ln>
                <a:solidFill>
                  <a:srgbClr val="000000"/>
                </a:solidFill>
                <a:latin typeface="Calibri"/>
                <a:ea typeface="+mn-ea"/>
                <a:cs typeface="+mn-cs"/>
              </a:rPr>
              <a:t>nekomprimirani</a:t>
            </a:r>
            <a:r>
              <a:rPr sz="1800" b="0" i="0" u="none" strike="noStrike" cap="none" spc="0">
                <a:ln>
                  <a:noFill/>
                </a:ln>
                <a:solidFill>
                  <a:srgbClr val="000000"/>
                </a:solidFill>
                <a:latin typeface="Calibri"/>
                <a:ea typeface="+mn-ea"/>
                <a:cs typeface="+mn-cs"/>
              </a:rPr>
              <a:t> model za </a:t>
            </a:r>
            <a:r>
              <a:rPr sz="1800" b="0" i="0" u="none" strike="noStrike" cap="none" spc="0">
                <a:ln>
                  <a:noFill/>
                </a:ln>
                <a:solidFill>
                  <a:srgbClr val="000000"/>
                </a:solidFill>
                <a:latin typeface="Calibri"/>
                <a:ea typeface="+mn-ea"/>
                <a:cs typeface="+mn-cs"/>
              </a:rPr>
              <a:t>kasniju</a:t>
            </a:r>
            <a:r>
              <a:rPr sz="1800" b="0" i="0" u="none" strike="noStrike" cap="none" spc="0">
                <a:ln>
                  <a:noFill/>
                </a:ln>
                <a:solidFill>
                  <a:srgbClr val="000000"/>
                </a:solidFill>
                <a:latin typeface="Calibri"/>
                <a:ea typeface="+mn-ea"/>
                <a:cs typeface="+mn-cs"/>
              </a:rPr>
              <a:t> </a:t>
            </a:r>
            <a:r>
              <a:rPr sz="1800" b="0" i="0" u="none" strike="noStrike" cap="none" spc="0">
                <a:ln>
                  <a:noFill/>
                </a:ln>
                <a:solidFill>
                  <a:srgbClr val="000000"/>
                </a:solidFill>
                <a:latin typeface="Calibri"/>
                <a:ea typeface="+mn-ea"/>
                <a:cs typeface="+mn-cs"/>
              </a:rPr>
              <a:t>usporedbu</a:t>
            </a:r>
            <a:r>
              <a:rPr sz="1800" b="0" i="0" u="none" strike="noStrike" cap="none" spc="0">
                <a:ln>
                  <a:noFill/>
                </a:ln>
                <a:solidFill>
                  <a:srgbClr val="000000"/>
                </a:solidFill>
                <a:latin typeface="Calibri"/>
                <a:ea typeface="+mn-ea"/>
                <a:cs typeface="+mn-cs"/>
              </a:rPr>
              <a:t> </a:t>
            </a:r>
            <a:r>
              <a:rPr sz="1800" b="0" i="0" u="none" strike="noStrike" cap="none" spc="0">
                <a:ln>
                  <a:noFill/>
                </a:ln>
                <a:solidFill>
                  <a:srgbClr val="000000"/>
                </a:solidFill>
                <a:latin typeface="Calibri"/>
                <a:ea typeface="+mn-ea"/>
                <a:cs typeface="+mn-cs"/>
              </a:rPr>
              <a:t>kompresije</a:t>
            </a:r>
            <a:endParaRPr sz="1800" b="0" i="0" u="none" strike="noStrike" cap="none" spc="0">
              <a:ln>
                <a:noFill/>
              </a:ln>
              <a:solidFill>
                <a:srgbClr val="000000"/>
              </a:solidFill>
              <a:latin typeface="Calibri"/>
              <a:ea typeface="+mn-ea"/>
              <a:cs typeface="+mn-cs"/>
            </a:endParaRPr>
          </a:p>
          <a:p>
            <a:pPr marL="0" marR="0" lvl="0" indent="0" algn="l" defTabSz="457200" rtl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Tx/>
              <a:buSzTx/>
              <a:buFontTx/>
              <a:buNone/>
              <a:defRPr sz="1800">
                <a:solidFill>
                  <a:srgbClr val="000000"/>
                </a:solidFill>
                <a:latin typeface="Calibri"/>
              </a:defRPr>
            </a:pPr>
            <a:endParaRPr sz="1800" b="0" i="0" u="none" strike="noStrike" cap="none" spc="0">
              <a:ln>
                <a:noFill/>
              </a:ln>
              <a:solidFill>
                <a:srgbClr val="000000"/>
              </a:solidFill>
              <a:latin typeface="Calibri"/>
              <a:ea typeface="+mn-ea"/>
              <a:cs typeface="+mn-c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7962476" name="Rectangle 1"/>
          <p:cNvSpPr/>
          <p:nvPr/>
        </p:nvSpPr>
        <p:spPr bwMode="auto">
          <a:xfrm>
            <a:off x="502920" y="576072"/>
            <a:ext cx="18288" cy="594360"/>
          </a:xfrm>
          <a:prstGeom prst="rect">
            <a:avLst/>
          </a:prstGeom>
          <a:solidFill>
            <a:srgbClr val="1FA7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sz="1800" b="0" i="0" u="none" strike="noStrike" cap="none" spc="0">
              <a:ln>
                <a:noFill/>
              </a:ln>
              <a:solidFill>
                <a:prstClr val="white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536256790" name="TextBox 2"/>
          <p:cNvSpPr txBox="1"/>
          <p:nvPr/>
        </p:nvSpPr>
        <p:spPr bwMode="auto">
          <a:xfrm>
            <a:off x="777240" y="566928"/>
            <a:ext cx="100584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3200" b="0">
                <a:solidFill>
                  <a:srgbClr val="000000"/>
                </a:solidFill>
                <a:latin typeface="Calibri Light"/>
              </a:defRPr>
            </a:pPr>
            <a:r>
              <a:rPr sz="3200" b="0" i="0" u="none" strike="noStrike" cap="none" spc="0">
                <a:ln>
                  <a:noFill/>
                </a:ln>
                <a:solidFill>
                  <a:srgbClr val="000000"/>
                </a:solidFill>
                <a:latin typeface="Calibri Light"/>
                <a:ea typeface="+mn-ea"/>
                <a:cs typeface="+mn-cs"/>
              </a:rPr>
              <a:t>PODACI I UČITAVANJE</a:t>
            </a:r>
            <a:endParaRPr/>
          </a:p>
        </p:txBody>
      </p:sp>
      <p:sp>
        <p:nvSpPr>
          <p:cNvPr id="1005477973" name="Rectangle 3"/>
          <p:cNvSpPr/>
          <p:nvPr/>
        </p:nvSpPr>
        <p:spPr bwMode="auto">
          <a:xfrm>
            <a:off x="731520" y="1737360"/>
            <a:ext cx="1828800" cy="640080"/>
          </a:xfrm>
          <a:prstGeom prst="rect">
            <a:avLst/>
          </a:prstGeom>
          <a:solidFill>
            <a:srgbClr val="1FA7D6"/>
          </a:solidFill>
          <a:ln w="15875">
            <a:solidFill>
              <a:srgbClr val="1FA7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sz="2000" b="0" i="0" u="none" strike="noStrike" cap="none" spc="0">
                <a:ln>
                  <a:noFill/>
                </a:ln>
                <a:solidFill>
                  <a:srgbClr val="FFFFFF"/>
                </a:solidFill>
                <a:latin typeface="Calibri"/>
                <a:ea typeface="+mn-ea"/>
                <a:cs typeface="+mn-cs"/>
              </a:rPr>
              <a:t>Training/</a:t>
            </a:r>
            <a:endParaRPr/>
          </a:p>
        </p:txBody>
      </p:sp>
      <p:sp>
        <p:nvSpPr>
          <p:cNvPr id="961704266" name="Rectangle 4"/>
          <p:cNvSpPr/>
          <p:nvPr/>
        </p:nvSpPr>
        <p:spPr bwMode="auto">
          <a:xfrm>
            <a:off x="731520" y="2743200"/>
            <a:ext cx="1828800" cy="640080"/>
          </a:xfrm>
          <a:prstGeom prst="rect">
            <a:avLst/>
          </a:prstGeom>
          <a:solidFill>
            <a:srgbClr val="1FA7D6"/>
          </a:solidFill>
          <a:ln w="15875">
            <a:solidFill>
              <a:srgbClr val="1FA7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sz="2000" b="0" i="0" u="none" strike="noStrike" cap="none" spc="0">
                <a:ln>
                  <a:noFill/>
                </a:ln>
                <a:solidFill>
                  <a:srgbClr val="FFFFFF"/>
                </a:solidFill>
                <a:latin typeface="Calibri"/>
                <a:ea typeface="+mn-ea"/>
                <a:cs typeface="+mn-cs"/>
              </a:rPr>
              <a:t>Test/</a:t>
            </a:r>
            <a:endParaRPr/>
          </a:p>
        </p:txBody>
      </p:sp>
      <p:sp>
        <p:nvSpPr>
          <p:cNvPr id="1098196090" name="Rounded Rectangle 5"/>
          <p:cNvSpPr/>
          <p:nvPr/>
        </p:nvSpPr>
        <p:spPr bwMode="auto">
          <a:xfrm>
            <a:off x="3017519" y="1371600"/>
            <a:ext cx="3383280" cy="2560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1FA7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09728" rIns="109728" bIns="109728" rtlCol="0" anchor="ctr"/>
          <a:lstStyle/>
          <a:p>
            <a:pPr marL="0" marR="0" lvl="0" indent="0" algn="ctr" defTabSz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800" b="1">
                <a:solidFill>
                  <a:srgbClr val="000000"/>
                </a:solidFill>
                <a:latin typeface="Calibri"/>
              </a:defRPr>
            </a:pPr>
            <a:r>
              <a:rPr sz="1800" b="1" i="0" u="none" strike="noStrike" cap="none" spc="0">
                <a:ln>
                  <a:noFill/>
                </a:ln>
                <a:solidFill>
                  <a:srgbClr val="000000"/>
                </a:solidFill>
                <a:latin typeface="Calibri"/>
                <a:ea typeface="+mn-ea"/>
                <a:cs typeface="+mn-cs"/>
              </a:rPr>
              <a:t>Automatska mapa klasa</a:t>
            </a:r>
            <a:endParaRPr/>
          </a:p>
          <a:p>
            <a:pPr marL="0" marR="0" lvl="0" indent="0" algn="l" defTabSz="457200" rtl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Tx/>
              <a:buSzTx/>
              <a:buFontTx/>
              <a:buNone/>
              <a:defRPr sz="1600">
                <a:solidFill>
                  <a:srgbClr val="000000"/>
                </a:solidFill>
                <a:latin typeface="Calibri"/>
              </a:defRPr>
            </a:pPr>
            <a:r>
              <a:rPr sz="1600" b="0" i="0" u="none" strike="noStrike" cap="none" spc="0">
                <a:ln>
                  <a:noFill/>
                </a:ln>
                <a:solidFill>
                  <a:srgbClr val="000000"/>
                </a:solidFill>
                <a:latin typeface="Calibri"/>
                <a:ea typeface="+mn-ea"/>
                <a:cs typeface="+mn-cs"/>
              </a:rPr>
              <a:t>klase = nazivi foldera</a:t>
            </a:r>
            <a:endParaRPr/>
          </a:p>
          <a:p>
            <a:pPr marL="0" marR="0" lvl="0" indent="0" algn="l" defTabSz="457200" rtl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Tx/>
              <a:buSzTx/>
              <a:buFontTx/>
              <a:buNone/>
              <a:defRPr sz="1600">
                <a:solidFill>
                  <a:srgbClr val="000000"/>
                </a:solidFill>
                <a:latin typeface="Calibri"/>
              </a:defRPr>
            </a:pPr>
            <a:r>
              <a:rPr sz="1600" b="0" i="0" u="none" strike="noStrike" cap="none" spc="0">
                <a:ln>
                  <a:noFill/>
                </a:ln>
                <a:solidFill>
                  <a:srgbClr val="000000"/>
                </a:solidFill>
                <a:latin typeface="Calibri"/>
                <a:ea typeface="+mn-ea"/>
                <a:cs typeface="+mn-cs"/>
              </a:rPr>
              <a:t>sortiranje daje stabilne labele</a:t>
            </a:r>
            <a:endParaRPr/>
          </a:p>
          <a:p>
            <a:pPr marL="0" marR="0" lvl="0" indent="0" algn="l" defTabSz="457200" rtl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Tx/>
              <a:buSzTx/>
              <a:buFontTx/>
              <a:buNone/>
              <a:defRPr sz="1600">
                <a:solidFill>
                  <a:srgbClr val="000000"/>
                </a:solidFill>
                <a:latin typeface="Calibri"/>
              </a:defRPr>
            </a:pPr>
            <a:r>
              <a:rPr sz="1600" b="0" i="0" u="none" strike="noStrike" cap="none" spc="0">
                <a:ln>
                  <a:noFill/>
                </a:ln>
                <a:solidFill>
                  <a:srgbClr val="000000"/>
                </a:solidFill>
                <a:latin typeface="Calibri"/>
                <a:ea typeface="+mn-ea"/>
                <a:cs typeface="+mn-cs"/>
              </a:rPr>
              <a:t>broj klasa se ne hardkodira</a:t>
            </a:r>
            <a:endParaRPr/>
          </a:p>
        </p:txBody>
      </p:sp>
      <p:sp>
        <p:nvSpPr>
          <p:cNvPr id="1335830666" name="Rounded Rectangle 6"/>
          <p:cNvSpPr/>
          <p:nvPr/>
        </p:nvSpPr>
        <p:spPr bwMode="auto">
          <a:xfrm>
            <a:off x="6858000" y="1371600"/>
            <a:ext cx="3657600" cy="2560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1FA7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09728" rIns="109728" bIns="109728" rtlCol="0" anchor="ctr"/>
          <a:lstStyle/>
          <a:p>
            <a:pPr marL="0" marR="0" lvl="0" indent="0" algn="ctr" defTabSz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800" b="1">
                <a:solidFill>
                  <a:srgbClr val="000000"/>
                </a:solidFill>
                <a:latin typeface="Calibri"/>
              </a:defRPr>
            </a:pPr>
            <a:r>
              <a:rPr sz="1800" b="1" i="0" u="none" strike="noStrike" cap="none" spc="0">
                <a:ln>
                  <a:noFill/>
                </a:ln>
                <a:solidFill>
                  <a:srgbClr val="000000"/>
                </a:solidFill>
                <a:latin typeface="Calibri"/>
                <a:ea typeface="+mn-ea"/>
                <a:cs typeface="+mn-cs"/>
              </a:rPr>
              <a:t>Format za CNN</a:t>
            </a:r>
            <a:endParaRPr/>
          </a:p>
          <a:p>
            <a:pPr marL="0" marR="0" lvl="0" indent="0" algn="l" defTabSz="457200" rtl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Tx/>
              <a:buSzTx/>
              <a:buFontTx/>
              <a:buNone/>
              <a:defRPr sz="1600">
                <a:solidFill>
                  <a:srgbClr val="000000"/>
                </a:solidFill>
                <a:latin typeface="Calibri"/>
              </a:defRPr>
            </a:pPr>
            <a:r>
              <a:rPr sz="1600" b="0" i="0" u="none" strike="noStrike" cap="none" spc="0">
                <a:ln>
                  <a:noFill/>
                </a:ln>
                <a:solidFill>
                  <a:srgbClr val="000000"/>
                </a:solidFill>
                <a:latin typeface="Calibri"/>
                <a:ea typeface="+mn-ea"/>
                <a:cs typeface="+mn-cs"/>
              </a:rPr>
              <a:t>RGB 100x100</a:t>
            </a:r>
            <a:endParaRPr/>
          </a:p>
          <a:p>
            <a:pPr marL="0" marR="0" lvl="0" indent="0" algn="l" defTabSz="457200" rtl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Tx/>
              <a:buSzTx/>
              <a:buFontTx/>
              <a:buNone/>
              <a:defRPr sz="1600">
                <a:solidFill>
                  <a:srgbClr val="000000"/>
                </a:solidFill>
                <a:latin typeface="Calibri"/>
              </a:defRPr>
            </a:pPr>
            <a:r>
              <a:rPr sz="1600" b="0" i="0" u="none" strike="noStrike" cap="none" spc="0">
                <a:ln>
                  <a:noFill/>
                </a:ln>
                <a:solidFill>
                  <a:srgbClr val="000000"/>
                </a:solidFill>
                <a:latin typeface="Calibri"/>
                <a:ea typeface="+mn-ea"/>
                <a:cs typeface="+mn-cs"/>
              </a:rPr>
              <a:t>normalizacija: [0, 1]</a:t>
            </a:r>
            <a:endParaRPr/>
          </a:p>
          <a:p>
            <a:pPr marL="0" marR="0" lvl="0" indent="0" algn="l" defTabSz="457200" rtl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Tx/>
              <a:buSzTx/>
              <a:buFontTx/>
              <a:buNone/>
              <a:defRPr sz="1600">
                <a:solidFill>
                  <a:srgbClr val="000000"/>
                </a:solidFill>
                <a:latin typeface="Calibri"/>
              </a:defRPr>
            </a:pPr>
            <a:r>
              <a:rPr sz="1600" b="0" i="0" u="none" strike="noStrike" cap="none" spc="0">
                <a:ln>
                  <a:noFill/>
                </a:ln>
                <a:solidFill>
                  <a:srgbClr val="000000"/>
                </a:solidFill>
                <a:latin typeface="Calibri"/>
                <a:ea typeface="+mn-ea"/>
                <a:cs typeface="+mn-cs"/>
              </a:rPr>
              <a:t>format: (N, 3, 100, 100)</a:t>
            </a:r>
            <a:endParaRPr/>
          </a:p>
        </p:txBody>
      </p:sp>
      <p:sp>
        <p:nvSpPr>
          <p:cNvPr id="227658838" name="Rounded Rectangle 7"/>
          <p:cNvSpPr/>
          <p:nvPr/>
        </p:nvSpPr>
        <p:spPr bwMode="auto">
          <a:xfrm>
            <a:off x="1005840" y="4572000"/>
            <a:ext cx="9601200" cy="10058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1FA7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09728" rIns="109728" bIns="109728" rtlCol="0" anchor="ctr"/>
          <a:lstStyle/>
          <a:p>
            <a:pPr marL="0" marR="0" lvl="0" indent="0" algn="ctr" defTabSz="457200" rtl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Tx/>
              <a:buSzTx/>
              <a:buFontTx/>
              <a:buNone/>
              <a:defRPr sz="1800">
                <a:solidFill>
                  <a:srgbClr val="000000"/>
                </a:solidFill>
                <a:latin typeface="Calibri"/>
              </a:defRPr>
            </a:pPr>
            <a:r>
              <a:rPr sz="1800" b="0" i="0" u="none" strike="noStrike" cap="none" spc="0">
                <a:ln>
                  <a:noFill/>
                </a:ln>
                <a:solidFill>
                  <a:srgbClr val="000000"/>
                </a:solidFill>
                <a:latin typeface="Calibri"/>
                <a:ea typeface="+mn-ea"/>
                <a:cs typeface="+mn-cs"/>
              </a:rPr>
              <a:t>Glavni trening koristi path-based loader: u memoriji su putanje, a slike se učitavaju tek po mini-batchu.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4903360" name="Rectangle 1"/>
          <p:cNvSpPr/>
          <p:nvPr/>
        </p:nvSpPr>
        <p:spPr bwMode="auto">
          <a:xfrm>
            <a:off x="502920" y="576072"/>
            <a:ext cx="18288" cy="594360"/>
          </a:xfrm>
          <a:prstGeom prst="rect">
            <a:avLst/>
          </a:prstGeom>
          <a:solidFill>
            <a:srgbClr val="1FA7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sz="1800" b="0" i="0" u="none" strike="noStrike" cap="none" spc="0">
              <a:ln>
                <a:noFill/>
              </a:ln>
              <a:solidFill>
                <a:prstClr val="white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981253944" name="TextBox 2"/>
          <p:cNvSpPr txBox="1"/>
          <p:nvPr/>
        </p:nvSpPr>
        <p:spPr bwMode="auto">
          <a:xfrm>
            <a:off x="777240" y="566928"/>
            <a:ext cx="100584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3200" b="0">
                <a:solidFill>
                  <a:srgbClr val="000000"/>
                </a:solidFill>
                <a:latin typeface="Calibri Light"/>
              </a:defRPr>
            </a:pPr>
            <a:r>
              <a:rPr sz="3200" b="0" i="0" u="none" strike="noStrike" cap="none" spc="0">
                <a:ln>
                  <a:noFill/>
                </a:ln>
                <a:solidFill>
                  <a:srgbClr val="000000"/>
                </a:solidFill>
                <a:latin typeface="Calibri Light"/>
                <a:ea typeface="+mn-ea"/>
                <a:cs typeface="+mn-cs"/>
              </a:rPr>
              <a:t>TRAINING LOOP</a:t>
            </a:r>
            <a:endParaRPr/>
          </a:p>
        </p:txBody>
      </p:sp>
      <p:sp>
        <p:nvSpPr>
          <p:cNvPr id="89768091" name="Rectangle 3"/>
          <p:cNvSpPr/>
          <p:nvPr/>
        </p:nvSpPr>
        <p:spPr bwMode="auto">
          <a:xfrm>
            <a:off x="502920" y="1828800"/>
            <a:ext cx="1600200" cy="960120"/>
          </a:xfrm>
          <a:prstGeom prst="rect">
            <a:avLst/>
          </a:prstGeom>
          <a:solidFill>
            <a:srgbClr val="1FA7D6"/>
          </a:solidFill>
          <a:ln w="15875">
            <a:solidFill>
              <a:srgbClr val="1FA7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sz="1300" b="0" i="0" u="none" strike="noStrike" cap="none" spc="0">
                <a:ln>
                  <a:noFill/>
                </a:ln>
                <a:solidFill>
                  <a:srgbClr val="FFFFFF"/>
                </a:solidFill>
                <a:latin typeface="Calibri"/>
                <a:ea typeface="+mn-ea"/>
                <a:cs typeface="+mn-cs"/>
              </a:rPr>
              <a:t>1</a:t>
            </a:r>
            <a:br>
              <a:rPr sz="1300" b="0" i="0" u="none" strike="noStrike" cap="none" spc="0">
                <a:ln>
                  <a:noFill/>
                </a:ln>
                <a:solidFill>
                  <a:srgbClr val="FFFFFF"/>
                </a:solidFill>
                <a:latin typeface="Calibri"/>
                <a:ea typeface="+mn-ea"/>
                <a:cs typeface="+mn-cs"/>
              </a:rPr>
            </a:br>
            <a:r>
              <a:rPr sz="1300" b="0" i="0" u="none" strike="noStrike" cap="none" spc="0">
                <a:ln>
                  <a:noFill/>
                </a:ln>
                <a:solidFill>
                  <a:srgbClr val="FFFFFF"/>
                </a:solidFill>
                <a:latin typeface="Calibri"/>
                <a:ea typeface="+mn-ea"/>
                <a:cs typeface="+mn-cs"/>
              </a:rPr>
              <a:t>Forward</a:t>
            </a:r>
            <a:br>
              <a:rPr sz="1300" b="0" i="0" u="none" strike="noStrike" cap="none" spc="0">
                <a:ln>
                  <a:noFill/>
                </a:ln>
                <a:solidFill>
                  <a:srgbClr val="FFFFFF"/>
                </a:solidFill>
                <a:latin typeface="Calibri"/>
                <a:ea typeface="+mn-ea"/>
                <a:cs typeface="+mn-cs"/>
              </a:rPr>
            </a:br>
            <a:r>
              <a:rPr sz="1300" b="0" i="0" u="none" strike="noStrike" cap="none" spc="0">
                <a:ln>
                  <a:noFill/>
                </a:ln>
                <a:solidFill>
                  <a:srgbClr val="FFFFFF"/>
                </a:solidFill>
                <a:latin typeface="Calibri"/>
                <a:ea typeface="+mn-ea"/>
                <a:cs typeface="+mn-cs"/>
              </a:rPr>
              <a:t>model.forward</a:t>
            </a:r>
            <a:endParaRPr/>
          </a:p>
        </p:txBody>
      </p:sp>
      <p:cxnSp>
        <p:nvCxnSpPr>
          <p:cNvPr id="1632791898" name="Connector 4"/>
          <p:cNvCxnSpPr/>
          <p:nvPr/>
        </p:nvCxnSpPr>
        <p:spPr bwMode="auto">
          <a:xfrm>
            <a:off x="2103120" y="2304288"/>
            <a:ext cx="338328" cy="0"/>
          </a:xfrm>
          <a:prstGeom prst="line">
            <a:avLst/>
          </a:prstGeom>
          <a:ln w="25400">
            <a:solidFill>
              <a:srgbClr val="1FA7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81650201" name="Rectangle 5"/>
          <p:cNvSpPr/>
          <p:nvPr/>
        </p:nvSpPr>
        <p:spPr bwMode="auto">
          <a:xfrm>
            <a:off x="2377439" y="1828800"/>
            <a:ext cx="1600200" cy="960120"/>
          </a:xfrm>
          <a:prstGeom prst="rect">
            <a:avLst/>
          </a:prstGeom>
          <a:solidFill>
            <a:srgbClr val="FFFFFF"/>
          </a:solidFill>
          <a:ln w="15875">
            <a:solidFill>
              <a:srgbClr val="1FA7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sz="1300" b="0" i="0" u="none" strike="noStrike" cap="none" spc="0">
                <a:ln>
                  <a:noFill/>
                </a:ln>
                <a:solidFill>
                  <a:srgbClr val="000000"/>
                </a:solidFill>
                <a:latin typeface="Calibri"/>
                <a:ea typeface="+mn-ea"/>
                <a:cs typeface="+mn-cs"/>
              </a:rPr>
              <a:t>2</a:t>
            </a:r>
            <a:br>
              <a:rPr sz="1300" b="0" i="0" u="none" strike="noStrike" cap="none" spc="0">
                <a:ln>
                  <a:noFill/>
                </a:ln>
                <a:solidFill>
                  <a:srgbClr val="000000"/>
                </a:solidFill>
                <a:latin typeface="Calibri"/>
                <a:ea typeface="+mn-ea"/>
                <a:cs typeface="+mn-cs"/>
              </a:rPr>
            </a:br>
            <a:r>
              <a:rPr sz="1300" b="0" i="0" u="none" strike="noStrike" cap="none" spc="0">
                <a:ln>
                  <a:noFill/>
                </a:ln>
                <a:solidFill>
                  <a:srgbClr val="000000"/>
                </a:solidFill>
                <a:latin typeface="Calibri"/>
                <a:ea typeface="+mn-ea"/>
                <a:cs typeface="+mn-cs"/>
              </a:rPr>
              <a:t>Train acc</a:t>
            </a:r>
            <a:br>
              <a:rPr sz="1300" b="0" i="0" u="none" strike="noStrike" cap="none" spc="0">
                <a:ln>
                  <a:noFill/>
                </a:ln>
                <a:solidFill>
                  <a:srgbClr val="000000"/>
                </a:solidFill>
                <a:latin typeface="Calibri"/>
                <a:ea typeface="+mn-ea"/>
                <a:cs typeface="+mn-cs"/>
              </a:rPr>
            </a:br>
            <a:r>
              <a:rPr sz="1300" b="0" i="0" u="none" strike="noStrike" cap="none" spc="0">
                <a:ln>
                  <a:noFill/>
                </a:ln>
                <a:solidFill>
                  <a:srgbClr val="000000"/>
                </a:solidFill>
                <a:latin typeface="Calibri"/>
                <a:ea typeface="+mn-ea"/>
                <a:cs typeface="+mn-cs"/>
              </a:rPr>
              <a:t>iz istog outputa</a:t>
            </a:r>
            <a:endParaRPr/>
          </a:p>
        </p:txBody>
      </p:sp>
      <p:cxnSp>
        <p:nvCxnSpPr>
          <p:cNvPr id="220358925" name="Connector 6"/>
          <p:cNvCxnSpPr/>
          <p:nvPr/>
        </p:nvCxnSpPr>
        <p:spPr bwMode="auto">
          <a:xfrm>
            <a:off x="3977639" y="2304288"/>
            <a:ext cx="338329" cy="0"/>
          </a:xfrm>
          <a:prstGeom prst="line">
            <a:avLst/>
          </a:prstGeom>
          <a:ln w="25400">
            <a:solidFill>
              <a:srgbClr val="1FA7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25554381" name="Rectangle 7"/>
          <p:cNvSpPr/>
          <p:nvPr/>
        </p:nvSpPr>
        <p:spPr bwMode="auto">
          <a:xfrm>
            <a:off x="4251959" y="1828800"/>
            <a:ext cx="1600200" cy="960120"/>
          </a:xfrm>
          <a:prstGeom prst="rect">
            <a:avLst/>
          </a:prstGeom>
          <a:solidFill>
            <a:srgbClr val="FFFFFF"/>
          </a:solidFill>
          <a:ln w="15875">
            <a:solidFill>
              <a:srgbClr val="1FA7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sz="1300" b="0" i="0" u="none" strike="noStrike" cap="none" spc="0">
                <a:ln>
                  <a:noFill/>
                </a:ln>
                <a:solidFill>
                  <a:srgbClr val="000000"/>
                </a:solidFill>
                <a:latin typeface="Calibri"/>
                <a:ea typeface="+mn-ea"/>
                <a:cs typeface="+mn-cs"/>
              </a:rPr>
              <a:t>3</a:t>
            </a:r>
            <a:br>
              <a:rPr sz="1300" b="0" i="0" u="none" strike="noStrike" cap="none" spc="0">
                <a:ln>
                  <a:noFill/>
                </a:ln>
                <a:solidFill>
                  <a:srgbClr val="000000"/>
                </a:solidFill>
                <a:latin typeface="Calibri"/>
                <a:ea typeface="+mn-ea"/>
                <a:cs typeface="+mn-cs"/>
              </a:rPr>
            </a:br>
            <a:r>
              <a:rPr sz="1300" b="0" i="0" u="none" strike="noStrike" cap="none" spc="0">
                <a:ln>
                  <a:noFill/>
                </a:ln>
                <a:solidFill>
                  <a:srgbClr val="000000"/>
                </a:solidFill>
                <a:latin typeface="Calibri"/>
                <a:ea typeface="+mn-ea"/>
                <a:cs typeface="+mn-cs"/>
              </a:rPr>
              <a:t>Cross-entropy</a:t>
            </a:r>
            <a:br>
              <a:rPr sz="1300" b="0" i="0" u="none" strike="noStrike" cap="none" spc="0">
                <a:ln>
                  <a:noFill/>
                </a:ln>
                <a:solidFill>
                  <a:srgbClr val="000000"/>
                </a:solidFill>
                <a:latin typeface="Calibri"/>
                <a:ea typeface="+mn-ea"/>
                <a:cs typeface="+mn-cs"/>
              </a:rPr>
            </a:br>
            <a:r>
              <a:rPr sz="1300" b="0" i="0" u="none" strike="noStrike" cap="none" spc="0">
                <a:ln>
                  <a:noFill/>
                </a:ln>
                <a:solidFill>
                  <a:srgbClr val="000000"/>
                </a:solidFill>
                <a:latin typeface="Calibri"/>
                <a:ea typeface="+mn-ea"/>
                <a:cs typeface="+mn-cs"/>
              </a:rPr>
              <a:t>loss + gradijent</a:t>
            </a:r>
            <a:endParaRPr/>
          </a:p>
        </p:txBody>
      </p:sp>
      <p:cxnSp>
        <p:nvCxnSpPr>
          <p:cNvPr id="953404833" name="Connector 8"/>
          <p:cNvCxnSpPr/>
          <p:nvPr/>
        </p:nvCxnSpPr>
        <p:spPr bwMode="auto">
          <a:xfrm>
            <a:off x="5852159" y="2304288"/>
            <a:ext cx="338329" cy="0"/>
          </a:xfrm>
          <a:prstGeom prst="line">
            <a:avLst/>
          </a:prstGeom>
          <a:ln w="25400">
            <a:solidFill>
              <a:srgbClr val="1FA7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6495720" name="Rectangle 9"/>
          <p:cNvSpPr/>
          <p:nvPr/>
        </p:nvSpPr>
        <p:spPr bwMode="auto">
          <a:xfrm>
            <a:off x="6126479" y="1828800"/>
            <a:ext cx="1600200" cy="960120"/>
          </a:xfrm>
          <a:prstGeom prst="rect">
            <a:avLst/>
          </a:prstGeom>
          <a:solidFill>
            <a:srgbClr val="FFFFFF"/>
          </a:solidFill>
          <a:ln w="15875">
            <a:solidFill>
              <a:srgbClr val="1FA7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sz="1300" b="0" i="0" u="none" strike="noStrike" cap="none" spc="0">
                <a:ln>
                  <a:noFill/>
                </a:ln>
                <a:solidFill>
                  <a:srgbClr val="000000"/>
                </a:solidFill>
                <a:latin typeface="Calibri"/>
                <a:ea typeface="+mn-ea"/>
                <a:cs typeface="+mn-cs"/>
              </a:rPr>
              <a:t>4</a:t>
            </a:r>
            <a:br>
              <a:rPr sz="1300" b="0" i="0" u="none" strike="noStrike" cap="none" spc="0">
                <a:ln>
                  <a:noFill/>
                </a:ln>
                <a:solidFill>
                  <a:srgbClr val="000000"/>
                </a:solidFill>
                <a:latin typeface="Calibri"/>
                <a:ea typeface="+mn-ea"/>
                <a:cs typeface="+mn-cs"/>
              </a:rPr>
            </a:br>
            <a:r>
              <a:rPr sz="1300" b="0" i="0" u="none" strike="noStrike" cap="none" spc="0">
                <a:ln>
                  <a:noFill/>
                </a:ln>
                <a:solidFill>
                  <a:srgbClr val="000000"/>
                </a:solidFill>
                <a:latin typeface="Calibri"/>
                <a:ea typeface="+mn-ea"/>
                <a:cs typeface="+mn-cs"/>
              </a:rPr>
              <a:t>Backward</a:t>
            </a:r>
            <a:br>
              <a:rPr sz="1300" b="0" i="0" u="none" strike="noStrike" cap="none" spc="0">
                <a:ln>
                  <a:noFill/>
                </a:ln>
                <a:solidFill>
                  <a:srgbClr val="000000"/>
                </a:solidFill>
                <a:latin typeface="Calibri"/>
                <a:ea typeface="+mn-ea"/>
                <a:cs typeface="+mn-cs"/>
              </a:rPr>
            </a:br>
            <a:r>
              <a:rPr sz="1300" b="0" i="0" u="none" strike="noStrike" cap="none" spc="0">
                <a:ln>
                  <a:noFill/>
                </a:ln>
                <a:solidFill>
                  <a:srgbClr val="000000"/>
                </a:solidFill>
                <a:latin typeface="Calibri"/>
                <a:ea typeface="+mn-ea"/>
                <a:cs typeface="+mn-cs"/>
              </a:rPr>
              <a:t>model.backward</a:t>
            </a:r>
            <a:endParaRPr/>
          </a:p>
        </p:txBody>
      </p:sp>
      <p:cxnSp>
        <p:nvCxnSpPr>
          <p:cNvPr id="1328618560" name="Connector 10"/>
          <p:cNvCxnSpPr/>
          <p:nvPr/>
        </p:nvCxnSpPr>
        <p:spPr bwMode="auto">
          <a:xfrm>
            <a:off x="7726679" y="2304288"/>
            <a:ext cx="338329" cy="0"/>
          </a:xfrm>
          <a:prstGeom prst="line">
            <a:avLst/>
          </a:prstGeom>
          <a:ln w="25400">
            <a:solidFill>
              <a:srgbClr val="1FA7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0209360" name="Rectangle 11"/>
          <p:cNvSpPr/>
          <p:nvPr/>
        </p:nvSpPr>
        <p:spPr bwMode="auto">
          <a:xfrm>
            <a:off x="8001000" y="1828800"/>
            <a:ext cx="1600200" cy="960120"/>
          </a:xfrm>
          <a:prstGeom prst="rect">
            <a:avLst/>
          </a:prstGeom>
          <a:solidFill>
            <a:srgbClr val="FFFFFF"/>
          </a:solidFill>
          <a:ln w="15875">
            <a:solidFill>
              <a:srgbClr val="1FA7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sz="1300" b="0" i="0" u="none" strike="noStrike" cap="none" spc="0">
                <a:ln>
                  <a:noFill/>
                </a:ln>
                <a:solidFill>
                  <a:srgbClr val="000000"/>
                </a:solidFill>
                <a:latin typeface="Calibri"/>
                <a:ea typeface="+mn-ea"/>
                <a:cs typeface="+mn-cs"/>
              </a:rPr>
              <a:t>5</a:t>
            </a:r>
            <a:br>
              <a:rPr sz="1300" b="0" i="0" u="none" strike="noStrike" cap="none" spc="0">
                <a:ln>
                  <a:noFill/>
                </a:ln>
                <a:solidFill>
                  <a:srgbClr val="000000"/>
                </a:solidFill>
                <a:latin typeface="Calibri"/>
                <a:ea typeface="+mn-ea"/>
                <a:cs typeface="+mn-cs"/>
              </a:rPr>
            </a:br>
            <a:r>
              <a:rPr sz="1300" b="0" i="0" u="none" strike="noStrike" cap="none" spc="0">
                <a:ln>
                  <a:noFill/>
                </a:ln>
                <a:solidFill>
                  <a:srgbClr val="000000"/>
                </a:solidFill>
                <a:latin typeface="Calibri"/>
                <a:ea typeface="+mn-ea"/>
                <a:cs typeface="+mn-cs"/>
              </a:rPr>
              <a:t>SGD momentum</a:t>
            </a:r>
            <a:br>
              <a:rPr sz="1300" b="0" i="0" u="none" strike="noStrike" cap="none" spc="0">
                <a:ln>
                  <a:noFill/>
                </a:ln>
                <a:solidFill>
                  <a:srgbClr val="000000"/>
                </a:solidFill>
                <a:latin typeface="Calibri"/>
                <a:ea typeface="+mn-ea"/>
                <a:cs typeface="+mn-cs"/>
              </a:rPr>
            </a:br>
            <a:r>
              <a:rPr sz="1300" b="0" i="0" u="none" strike="noStrike" cap="none" spc="0">
                <a:ln>
                  <a:noFill/>
                </a:ln>
                <a:solidFill>
                  <a:srgbClr val="000000"/>
                </a:solidFill>
                <a:latin typeface="Calibri"/>
                <a:ea typeface="+mn-ea"/>
                <a:cs typeface="+mn-cs"/>
              </a:rPr>
              <a:t>update</a:t>
            </a:r>
            <a:endParaRPr/>
          </a:p>
        </p:txBody>
      </p:sp>
      <p:cxnSp>
        <p:nvCxnSpPr>
          <p:cNvPr id="705469916" name="Connector 12"/>
          <p:cNvCxnSpPr/>
          <p:nvPr/>
        </p:nvCxnSpPr>
        <p:spPr bwMode="auto">
          <a:xfrm>
            <a:off x="9601200" y="2304288"/>
            <a:ext cx="338328" cy="0"/>
          </a:xfrm>
          <a:prstGeom prst="line">
            <a:avLst/>
          </a:prstGeom>
          <a:ln w="25400">
            <a:solidFill>
              <a:srgbClr val="1FA7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5829278" name="Rectangle 13"/>
          <p:cNvSpPr/>
          <p:nvPr/>
        </p:nvSpPr>
        <p:spPr bwMode="auto">
          <a:xfrm>
            <a:off x="9875520" y="1828800"/>
            <a:ext cx="1600200" cy="960120"/>
          </a:xfrm>
          <a:prstGeom prst="rect">
            <a:avLst/>
          </a:prstGeom>
          <a:solidFill>
            <a:srgbClr val="FFFFFF"/>
          </a:solidFill>
          <a:ln w="15875">
            <a:solidFill>
              <a:srgbClr val="1FA7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sz="1300" b="0" i="0" u="none" strike="noStrike" cap="none" spc="0">
                <a:ln>
                  <a:noFill/>
                </a:ln>
                <a:solidFill>
                  <a:srgbClr val="000000"/>
                </a:solidFill>
                <a:latin typeface="Calibri"/>
                <a:ea typeface="+mn-ea"/>
                <a:cs typeface="+mn-cs"/>
              </a:rPr>
              <a:t>6</a:t>
            </a:r>
            <a:br>
              <a:rPr sz="1300" b="0" i="0" u="none" strike="noStrike" cap="none" spc="0">
                <a:ln>
                  <a:noFill/>
                </a:ln>
                <a:solidFill>
                  <a:srgbClr val="000000"/>
                </a:solidFill>
                <a:latin typeface="Calibri"/>
                <a:ea typeface="+mn-ea"/>
                <a:cs typeface="+mn-cs"/>
              </a:rPr>
            </a:br>
            <a:r>
              <a:rPr sz="1300" b="0" i="0" u="none" strike="noStrike" cap="none" spc="0">
                <a:ln>
                  <a:noFill/>
                </a:ln>
                <a:solidFill>
                  <a:srgbClr val="000000"/>
                </a:solidFill>
                <a:latin typeface="Calibri"/>
                <a:ea typeface="+mn-ea"/>
                <a:cs typeface="+mn-cs"/>
              </a:rPr>
              <a:t>Test acc</a:t>
            </a:r>
            <a:br>
              <a:rPr sz="1300" b="0" i="0" u="none" strike="noStrike" cap="none" spc="0">
                <a:ln>
                  <a:noFill/>
                </a:ln>
                <a:solidFill>
                  <a:srgbClr val="000000"/>
                </a:solidFill>
                <a:latin typeface="Calibri"/>
                <a:ea typeface="+mn-ea"/>
                <a:cs typeface="+mn-cs"/>
              </a:rPr>
            </a:br>
            <a:r>
              <a:rPr sz="1300" b="0" i="0" u="none" strike="noStrike" cap="none" spc="0">
                <a:ln>
                  <a:noFill/>
                </a:ln>
                <a:solidFill>
                  <a:srgbClr val="000000"/>
                </a:solidFill>
                <a:latin typeface="Calibri"/>
                <a:ea typeface="+mn-ea"/>
                <a:cs typeface="+mn-cs"/>
              </a:rPr>
              <a:t>+ save best</a:t>
            </a:r>
            <a:endParaRPr/>
          </a:p>
        </p:txBody>
      </p:sp>
      <p:sp>
        <p:nvSpPr>
          <p:cNvPr id="358540890" name="Rounded Rectangle 14"/>
          <p:cNvSpPr/>
          <p:nvPr/>
        </p:nvSpPr>
        <p:spPr bwMode="auto">
          <a:xfrm>
            <a:off x="1005840" y="3749039"/>
            <a:ext cx="9509760" cy="1371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1FA7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09728" rIns="109728" bIns="109728" rtlCol="0" anchor="ctr"/>
          <a:lstStyle/>
          <a:p>
            <a:pPr marL="0" marR="0" lvl="0" indent="0" algn="ctr" defTabSz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800" b="1">
                <a:solidFill>
                  <a:srgbClr val="000000"/>
                </a:solidFill>
                <a:latin typeface="Calibri"/>
              </a:defRPr>
            </a:pPr>
            <a:r>
              <a:rPr sz="1800" b="1" i="0" u="none" strike="noStrike" cap="none" spc="0">
                <a:ln>
                  <a:noFill/>
                </a:ln>
                <a:solidFill>
                  <a:srgbClr val="000000"/>
                </a:solidFill>
                <a:latin typeface="Calibri"/>
                <a:ea typeface="+mn-ea"/>
                <a:cs typeface="+mn-cs"/>
              </a:rPr>
              <a:t>Zašto save best?</a:t>
            </a:r>
            <a:endParaRPr/>
          </a:p>
          <a:p>
            <a:pPr marL="0" marR="0" lvl="0" indent="0" algn="l" defTabSz="457200" rtl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Tx/>
              <a:buSzTx/>
              <a:buFontTx/>
              <a:buNone/>
              <a:defRPr sz="1600">
                <a:solidFill>
                  <a:srgbClr val="000000"/>
                </a:solidFill>
                <a:latin typeface="Calibri"/>
              </a:defRPr>
            </a:pPr>
            <a:r>
              <a:rPr sz="1600" b="0" i="0" u="none" strike="noStrike" cap="none" spc="0">
                <a:ln>
                  <a:noFill/>
                </a:ln>
                <a:solidFill>
                  <a:srgbClr val="000000"/>
                </a:solidFill>
                <a:latin typeface="Calibri"/>
                <a:ea typeface="+mn-ea"/>
                <a:cs typeface="+mn-cs"/>
              </a:rPr>
              <a:t>Model se sprema samo kada je test accuracy bolji od dosadašnjeg najboljeg rezultata.</a:t>
            </a:r>
            <a:endParaRPr/>
          </a:p>
          <a:p>
            <a:pPr marL="0" marR="0" lvl="0" indent="0" algn="l" defTabSz="457200" rtl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Tx/>
              <a:buSzTx/>
              <a:buFontTx/>
              <a:buNone/>
              <a:defRPr sz="1600">
                <a:solidFill>
                  <a:srgbClr val="000000"/>
                </a:solidFill>
                <a:latin typeface="Calibri"/>
              </a:defRPr>
            </a:pPr>
            <a:r>
              <a:rPr sz="1600" b="0" i="0" u="none" strike="noStrike" cap="none" spc="0">
                <a:ln>
                  <a:noFill/>
                </a:ln>
                <a:solidFill>
                  <a:srgbClr val="000000"/>
                </a:solidFill>
                <a:latin typeface="Calibri"/>
                <a:ea typeface="+mn-ea"/>
                <a:cs typeface="+mn-cs"/>
              </a:rPr>
              <a:t>Time Silvija i Jakov dobivaju najbolju dostupnu referentnu verziju modela.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1719911" name="Rectangle 1"/>
          <p:cNvSpPr/>
          <p:nvPr/>
        </p:nvSpPr>
        <p:spPr bwMode="auto">
          <a:xfrm>
            <a:off x="502920" y="576072"/>
            <a:ext cx="18288" cy="594360"/>
          </a:xfrm>
          <a:prstGeom prst="rect">
            <a:avLst/>
          </a:prstGeom>
          <a:solidFill>
            <a:srgbClr val="1FA7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sz="1800" b="0" i="0" u="none" strike="noStrike" cap="none" spc="0">
              <a:ln>
                <a:noFill/>
              </a:ln>
              <a:solidFill>
                <a:prstClr val="white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907538610" name="TextBox 2"/>
          <p:cNvSpPr txBox="1"/>
          <p:nvPr/>
        </p:nvSpPr>
        <p:spPr bwMode="auto">
          <a:xfrm>
            <a:off x="777240" y="566928"/>
            <a:ext cx="100584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3200" b="0">
                <a:solidFill>
                  <a:srgbClr val="000000"/>
                </a:solidFill>
                <a:latin typeface="Calibri Light"/>
              </a:defRPr>
            </a:pPr>
            <a:r>
              <a:rPr sz="3200" b="0" i="0" u="none" strike="noStrike" cap="none" spc="0">
                <a:ln>
                  <a:noFill/>
                </a:ln>
                <a:solidFill>
                  <a:srgbClr val="000000"/>
                </a:solidFill>
                <a:latin typeface="Calibri Light"/>
                <a:ea typeface="+mn-ea"/>
                <a:cs typeface="+mn-cs"/>
              </a:rPr>
              <a:t>LOSS I OPTIMIZER</a:t>
            </a:r>
            <a:endParaRPr/>
          </a:p>
        </p:txBody>
      </p:sp>
      <p:sp>
        <p:nvSpPr>
          <p:cNvPr id="2054010751" name="Rounded Rectangle 3"/>
          <p:cNvSpPr/>
          <p:nvPr/>
        </p:nvSpPr>
        <p:spPr bwMode="auto">
          <a:xfrm>
            <a:off x="914400" y="1508759"/>
            <a:ext cx="4663440" cy="2057400"/>
          </a:xfrm>
          <a:prstGeom prst="roundRect">
            <a:avLst>
              <a:gd name="adj" fmla="val 16667"/>
            </a:avLst>
          </a:prstGeom>
          <a:solidFill>
            <a:srgbClr val="F5F8FA"/>
          </a:solidFill>
          <a:ln>
            <a:solidFill>
              <a:srgbClr val="1FA7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09728" rIns="109728" rtlCol="0" anchor="ctr"/>
          <a:lstStyle/>
          <a:p>
            <a:pPr marL="0" marR="0" lvl="0" indent="0" algn="ctr" defTabSz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800" b="1">
                <a:latin typeface="Calibri"/>
              </a:defRPr>
            </a:pPr>
            <a:r>
              <a:rPr sz="1800" b="1" i="0" u="none" strike="noStrike" cap="none" spc="0">
                <a:ln>
                  <a:noFill/>
                </a:ln>
                <a:solidFill>
                  <a:schemeClr val="tx1"/>
                </a:solidFill>
                <a:latin typeface="Calibri"/>
                <a:ea typeface="+mn-ea"/>
                <a:cs typeface="+mn-cs"/>
              </a:rPr>
              <a:t>Cross-entropy</a:t>
            </a:r>
            <a:endParaRPr/>
          </a:p>
          <a:p>
            <a:pPr marL="0" marR="0" lvl="0" indent="0" algn="l" defTabSz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400">
                <a:solidFill>
                  <a:srgbClr val="000000"/>
                </a:solidFill>
                <a:latin typeface="Consolas"/>
              </a:defRPr>
            </a:pPr>
            <a:r>
              <a:rPr sz="1400" b="0" i="0" u="none" strike="noStrike" cap="none" spc="0">
                <a:ln>
                  <a:noFill/>
                </a:ln>
                <a:solidFill>
                  <a:srgbClr val="000000"/>
                </a:solidFill>
                <a:latin typeface="Consolas"/>
                <a:ea typeface="+mn-ea"/>
                <a:cs typeface="+mn-cs"/>
              </a:rPr>
              <a:t>L = -mean(log(p_true + 1e-9))</a:t>
            </a:r>
            <a:endParaRPr/>
          </a:p>
          <a:p>
            <a:pPr marL="0" marR="0" lvl="0" indent="0" algn="l" defTabSz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400">
                <a:solidFill>
                  <a:srgbClr val="000000"/>
                </a:solidFill>
                <a:latin typeface="Consolas"/>
              </a:defRPr>
            </a:pPr>
            <a:r>
              <a:rPr sz="1400" b="0" i="0" u="none" strike="noStrike" cap="none" spc="0">
                <a:ln>
                  <a:noFill/>
                </a:ln>
                <a:solidFill>
                  <a:srgbClr val="000000"/>
                </a:solidFill>
                <a:latin typeface="Consolas"/>
                <a:ea typeface="+mn-ea"/>
                <a:cs typeface="+mn-cs"/>
              </a:rPr>
              <a:t>d_probs = probs - one_hot(y)</a:t>
            </a:r>
            <a:endParaRPr/>
          </a:p>
          <a:p>
            <a:pPr marL="0" marR="0" lvl="0" indent="0" algn="l" defTabSz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400">
                <a:solidFill>
                  <a:srgbClr val="000000"/>
                </a:solidFill>
                <a:latin typeface="Consolas"/>
              </a:defRPr>
            </a:pPr>
            <a:r>
              <a:rPr sz="1400" b="0" i="0" u="none" strike="noStrike" cap="none" spc="0">
                <a:ln>
                  <a:noFill/>
                </a:ln>
                <a:solidFill>
                  <a:srgbClr val="000000"/>
                </a:solidFill>
                <a:latin typeface="Consolas"/>
                <a:ea typeface="+mn-ea"/>
                <a:cs typeface="+mn-cs"/>
              </a:rPr>
              <a:t>d_probs = d_probs / batch_size</a:t>
            </a:r>
            <a:endParaRPr/>
          </a:p>
        </p:txBody>
      </p:sp>
      <p:sp>
        <p:nvSpPr>
          <p:cNvPr id="1398925388" name="Rounded Rectangle 4"/>
          <p:cNvSpPr/>
          <p:nvPr/>
        </p:nvSpPr>
        <p:spPr bwMode="auto">
          <a:xfrm>
            <a:off x="6217920" y="1508759"/>
            <a:ext cx="4480560" cy="2057400"/>
          </a:xfrm>
          <a:prstGeom prst="roundRect">
            <a:avLst>
              <a:gd name="adj" fmla="val 16667"/>
            </a:avLst>
          </a:prstGeom>
          <a:solidFill>
            <a:srgbClr val="F5F8FA"/>
          </a:solidFill>
          <a:ln>
            <a:solidFill>
              <a:srgbClr val="1FA7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09728" rIns="109728" rtlCol="0" anchor="ctr"/>
          <a:lstStyle/>
          <a:p>
            <a:pPr marL="0" marR="0" lvl="0" indent="0" algn="ctr" defTabSz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800" b="1">
                <a:latin typeface="Calibri"/>
              </a:defRPr>
            </a:pPr>
            <a:r>
              <a:rPr sz="1800" b="1" i="0" u="none" strike="noStrike" cap="none" spc="0">
                <a:ln>
                  <a:noFill/>
                </a:ln>
                <a:solidFill>
                  <a:schemeClr val="tx1"/>
                </a:solidFill>
                <a:latin typeface="Calibri"/>
                <a:ea typeface="+mn-ea"/>
                <a:cs typeface="+mn-cs"/>
              </a:rPr>
              <a:t>SGD s momentumom</a:t>
            </a:r>
            <a:endParaRPr/>
          </a:p>
          <a:p>
            <a:pPr marL="0" marR="0" lvl="0" indent="0" algn="l" defTabSz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400">
                <a:solidFill>
                  <a:srgbClr val="000000"/>
                </a:solidFill>
                <a:latin typeface="Consolas"/>
              </a:defRPr>
            </a:pPr>
            <a:r>
              <a:rPr sz="1400" b="0" i="0" u="none" strike="noStrike" cap="none" spc="0">
                <a:ln>
                  <a:noFill/>
                </a:ln>
                <a:solidFill>
                  <a:srgbClr val="000000"/>
                </a:solidFill>
                <a:latin typeface="Consolas"/>
                <a:ea typeface="+mn-ea"/>
                <a:cs typeface="+mn-cs"/>
              </a:rPr>
              <a:t>v = momentum * v - lr * grad</a:t>
            </a:r>
            <a:endParaRPr/>
          </a:p>
          <a:p>
            <a:pPr marL="0" marR="0" lvl="0" indent="0" algn="l" defTabSz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400">
                <a:solidFill>
                  <a:srgbClr val="000000"/>
                </a:solidFill>
                <a:latin typeface="Consolas"/>
              </a:defRPr>
            </a:pPr>
            <a:r>
              <a:rPr sz="1400" b="0" i="0" u="none" strike="noStrike" cap="none" spc="0">
                <a:ln>
                  <a:noFill/>
                </a:ln>
                <a:solidFill>
                  <a:srgbClr val="000000"/>
                </a:solidFill>
                <a:latin typeface="Consolas"/>
                <a:ea typeface="+mn-ea"/>
                <a:cs typeface="+mn-cs"/>
              </a:rPr>
              <a:t>w = w + v</a:t>
            </a:r>
            <a:endParaRPr/>
          </a:p>
          <a:p>
            <a:pPr marL="0" marR="0" lvl="0" indent="0" algn="l" defTabSz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400">
                <a:solidFill>
                  <a:srgbClr val="000000"/>
                </a:solidFill>
                <a:latin typeface="Consolas"/>
              </a:defRPr>
            </a:pPr>
            <a:r>
              <a:rPr sz="1400" b="0" i="0" u="none" strike="noStrike" cap="none" spc="0">
                <a:ln>
                  <a:noFill/>
                </a:ln>
                <a:solidFill>
                  <a:srgbClr val="000000"/>
                </a:solidFill>
                <a:latin typeface="Consolas"/>
                <a:ea typeface="+mn-ea"/>
                <a:cs typeface="+mn-cs"/>
              </a:rPr>
              <a:t>default: lr=0.01, m=0.9</a:t>
            </a:r>
            <a:endParaRPr/>
          </a:p>
        </p:txBody>
      </p:sp>
      <p:sp>
        <p:nvSpPr>
          <p:cNvPr id="1223102049" name="Rounded Rectangle 5"/>
          <p:cNvSpPr/>
          <p:nvPr/>
        </p:nvSpPr>
        <p:spPr bwMode="auto">
          <a:xfrm>
            <a:off x="914400" y="4343400"/>
            <a:ext cx="9784079" cy="1097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1FA7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09728" rIns="109728" bIns="109728" rtlCol="0" anchor="ctr"/>
          <a:lstStyle/>
          <a:p>
            <a:pPr marL="0" marR="0" lvl="0" indent="0" algn="ctr" defTabSz="457200" rtl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Tx/>
              <a:buSzTx/>
              <a:buFontTx/>
              <a:buNone/>
              <a:defRPr sz="1800">
                <a:solidFill>
                  <a:srgbClr val="000000"/>
                </a:solidFill>
                <a:latin typeface="Calibri"/>
              </a:defRPr>
            </a:pPr>
            <a:r>
              <a:rPr sz="1800" b="0" i="0" u="none" strike="noStrike" cap="none" spc="0">
                <a:ln>
                  <a:noFill/>
                </a:ln>
                <a:solidFill>
                  <a:srgbClr val="000000"/>
                </a:solidFill>
                <a:latin typeface="Calibri"/>
                <a:ea typeface="+mn-ea"/>
                <a:cs typeface="+mn-cs"/>
              </a:rPr>
              <a:t>Cross-entropy odgovara višeklasnoj klasifikaciji, a momentum stabilizira učenje kroz mini-batcheve.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9891461" name="Rectangle 1"/>
          <p:cNvSpPr/>
          <p:nvPr/>
        </p:nvSpPr>
        <p:spPr bwMode="auto">
          <a:xfrm>
            <a:off x="502920" y="576072"/>
            <a:ext cx="18288" cy="594360"/>
          </a:xfrm>
          <a:prstGeom prst="rect">
            <a:avLst/>
          </a:prstGeom>
          <a:solidFill>
            <a:srgbClr val="1FA7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sz="1800" b="0" i="0" u="none" strike="noStrike" cap="none" spc="0">
              <a:ln>
                <a:noFill/>
              </a:ln>
              <a:solidFill>
                <a:prstClr val="white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802566497" name="TextBox 2"/>
          <p:cNvSpPr txBox="1"/>
          <p:nvPr/>
        </p:nvSpPr>
        <p:spPr bwMode="auto">
          <a:xfrm>
            <a:off x="777240" y="566928"/>
            <a:ext cx="100584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3200" b="0">
                <a:solidFill>
                  <a:srgbClr val="000000"/>
                </a:solidFill>
                <a:latin typeface="Calibri Light"/>
              </a:defRPr>
            </a:pPr>
            <a:r>
              <a:rPr sz="3200" b="0" i="0" u="none" strike="noStrike" cap="none" spc="0">
                <a:ln>
                  <a:noFill/>
                </a:ln>
                <a:solidFill>
                  <a:srgbClr val="000000"/>
                </a:solidFill>
                <a:latin typeface="Calibri Light"/>
                <a:ea typeface="+mn-ea"/>
                <a:cs typeface="+mn-cs"/>
              </a:rPr>
              <a:t>PRAĆENJE METRIKA</a:t>
            </a:r>
            <a:endParaRPr/>
          </a:p>
        </p:txBody>
      </p:sp>
      <p:sp>
        <p:nvSpPr>
          <p:cNvPr id="874630132" name="Rectangle 3"/>
          <p:cNvSpPr/>
          <p:nvPr/>
        </p:nvSpPr>
        <p:spPr bwMode="auto">
          <a:xfrm>
            <a:off x="822960" y="1645920"/>
            <a:ext cx="2926080" cy="914400"/>
          </a:xfrm>
          <a:prstGeom prst="rect">
            <a:avLst/>
          </a:prstGeom>
          <a:solidFill>
            <a:srgbClr val="1FA7D6"/>
          </a:solidFill>
          <a:ln w="15875">
            <a:solidFill>
              <a:srgbClr val="1FA7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sz="1800" b="0" i="0" u="none" strike="noStrike" cap="none" spc="0">
                <a:ln>
                  <a:noFill/>
                </a:ln>
                <a:solidFill>
                  <a:srgbClr val="FFFFFF"/>
                </a:solidFill>
                <a:latin typeface="Calibri"/>
                <a:ea typeface="+mn-ea"/>
                <a:cs typeface="+mn-cs"/>
              </a:rPr>
              <a:t>Train Loss</a:t>
            </a:r>
            <a:br>
              <a:rPr sz="1800" b="0" i="0" u="none" strike="noStrike" cap="none" spc="0">
                <a:ln>
                  <a:noFill/>
                </a:ln>
                <a:solidFill>
                  <a:srgbClr val="FFFFFF"/>
                </a:solidFill>
                <a:latin typeface="Calibri"/>
                <a:ea typeface="+mn-ea"/>
                <a:cs typeface="+mn-cs"/>
              </a:rPr>
            </a:br>
            <a:r>
              <a:rPr sz="1800" b="0" i="0" u="none" strike="noStrike" cap="none" spc="0">
                <a:ln>
                  <a:noFill/>
                </a:ln>
                <a:solidFill>
                  <a:srgbClr val="FFFFFF"/>
                </a:solidFill>
                <a:latin typeface="Calibri"/>
                <a:ea typeface="+mn-ea"/>
                <a:cs typeface="+mn-cs"/>
              </a:rPr>
              <a:t>koliko model griješi</a:t>
            </a:r>
            <a:endParaRPr/>
          </a:p>
        </p:txBody>
      </p:sp>
      <p:sp>
        <p:nvSpPr>
          <p:cNvPr id="1746047972" name="Rectangle 4"/>
          <p:cNvSpPr/>
          <p:nvPr/>
        </p:nvSpPr>
        <p:spPr bwMode="auto">
          <a:xfrm>
            <a:off x="4389120" y="1645920"/>
            <a:ext cx="2926080" cy="914400"/>
          </a:xfrm>
          <a:prstGeom prst="rect">
            <a:avLst/>
          </a:prstGeom>
          <a:solidFill>
            <a:srgbClr val="FFFFFF"/>
          </a:solidFill>
          <a:ln w="15875">
            <a:solidFill>
              <a:srgbClr val="1FA7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sz="1700" b="0" i="0" u="none" strike="noStrike" cap="none" spc="0">
                <a:ln>
                  <a:noFill/>
                </a:ln>
                <a:solidFill>
                  <a:srgbClr val="000000"/>
                </a:solidFill>
                <a:latin typeface="Calibri"/>
                <a:ea typeface="+mn-ea"/>
                <a:cs typeface="+mn-cs"/>
              </a:rPr>
              <a:t>Train Accuracy</a:t>
            </a:r>
            <a:br>
              <a:rPr sz="1700" b="0" i="0" u="none" strike="noStrike" cap="none" spc="0">
                <a:ln>
                  <a:noFill/>
                </a:ln>
                <a:solidFill>
                  <a:srgbClr val="000000"/>
                </a:solidFill>
                <a:latin typeface="Calibri"/>
                <a:ea typeface="+mn-ea"/>
                <a:cs typeface="+mn-cs"/>
              </a:rPr>
            </a:br>
            <a:r>
              <a:rPr sz="1700" b="0" i="0" u="none" strike="noStrike" cap="none" spc="0">
                <a:ln>
                  <a:noFill/>
                </a:ln>
                <a:solidFill>
                  <a:srgbClr val="000000"/>
                </a:solidFill>
                <a:latin typeface="Calibri"/>
                <a:ea typeface="+mn-ea"/>
                <a:cs typeface="+mn-cs"/>
              </a:rPr>
              <a:t>running, bez dodatnog prolaza</a:t>
            </a:r>
            <a:endParaRPr/>
          </a:p>
        </p:txBody>
      </p:sp>
      <p:sp>
        <p:nvSpPr>
          <p:cNvPr id="683929447" name="Rectangle 5"/>
          <p:cNvSpPr/>
          <p:nvPr/>
        </p:nvSpPr>
        <p:spPr bwMode="auto">
          <a:xfrm>
            <a:off x="7955279" y="1645920"/>
            <a:ext cx="2926080" cy="914400"/>
          </a:xfrm>
          <a:prstGeom prst="rect">
            <a:avLst/>
          </a:prstGeom>
          <a:solidFill>
            <a:srgbClr val="FFFFFF"/>
          </a:solidFill>
          <a:ln w="15875">
            <a:solidFill>
              <a:srgbClr val="1FA7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sz="1800" b="0" i="0" u="none" strike="noStrike" cap="none" spc="0">
                <a:ln>
                  <a:noFill/>
                </a:ln>
                <a:solidFill>
                  <a:srgbClr val="000000"/>
                </a:solidFill>
                <a:latin typeface="Calibri"/>
                <a:ea typeface="+mn-ea"/>
                <a:cs typeface="+mn-cs"/>
              </a:rPr>
              <a:t>Test Accuracy</a:t>
            </a:r>
            <a:br>
              <a:rPr sz="1800" b="0" i="0" u="none" strike="noStrike" cap="none" spc="0">
                <a:ln>
                  <a:noFill/>
                </a:ln>
                <a:solidFill>
                  <a:srgbClr val="000000"/>
                </a:solidFill>
                <a:latin typeface="Calibri"/>
                <a:ea typeface="+mn-ea"/>
                <a:cs typeface="+mn-cs"/>
              </a:rPr>
            </a:br>
            <a:r>
              <a:rPr sz="1800" b="0" i="0" u="none" strike="noStrike" cap="none" spc="0">
                <a:ln>
                  <a:noFill/>
                </a:ln>
                <a:solidFill>
                  <a:srgbClr val="000000"/>
                </a:solidFill>
                <a:latin typeface="Calibri"/>
                <a:ea typeface="+mn-ea"/>
                <a:cs typeface="+mn-cs"/>
              </a:rPr>
              <a:t>generalizacija</a:t>
            </a:r>
            <a:endParaRPr/>
          </a:p>
        </p:txBody>
      </p:sp>
      <p:sp>
        <p:nvSpPr>
          <p:cNvPr id="671686217" name="Rounded Rectangle 6"/>
          <p:cNvSpPr/>
          <p:nvPr/>
        </p:nvSpPr>
        <p:spPr bwMode="auto">
          <a:xfrm>
            <a:off x="914400" y="3474720"/>
            <a:ext cx="9875520" cy="18288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1FA7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09728" rIns="109728" bIns="109728" rtlCol="0" anchor="ctr"/>
          <a:lstStyle/>
          <a:p>
            <a:pPr marL="0" marR="0" lvl="0" indent="0" algn="ctr" defTabSz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800" b="1">
                <a:solidFill>
                  <a:srgbClr val="000000"/>
                </a:solidFill>
                <a:latin typeface="Calibri"/>
              </a:defRPr>
            </a:pPr>
            <a:r>
              <a:rPr sz="1800" b="1" i="0" u="none" strike="noStrike" cap="none" spc="0">
                <a:ln>
                  <a:noFill/>
                </a:ln>
                <a:solidFill>
                  <a:srgbClr val="000000"/>
                </a:solidFill>
                <a:latin typeface="Calibri"/>
                <a:ea typeface="+mn-ea"/>
                <a:cs typeface="+mn-cs"/>
              </a:rPr>
              <a:t>Zašto sam dodao running train accuracy?</a:t>
            </a:r>
            <a:endParaRPr/>
          </a:p>
          <a:p>
            <a:pPr marL="0" marR="0" lvl="0" indent="0" algn="l" defTabSz="457200" rtl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Tx/>
              <a:buSzTx/>
              <a:buFontTx/>
              <a:buNone/>
              <a:defRPr sz="1600">
                <a:solidFill>
                  <a:srgbClr val="000000"/>
                </a:solidFill>
                <a:latin typeface="Calibri"/>
              </a:defRPr>
            </a:pPr>
            <a:r>
              <a:rPr sz="1600" b="0" i="0" u="none" strike="noStrike" cap="none" spc="0">
                <a:ln>
                  <a:noFill/>
                </a:ln>
                <a:solidFill>
                  <a:srgbClr val="000000"/>
                </a:solidFill>
                <a:latin typeface="Calibri"/>
                <a:ea typeface="+mn-ea"/>
                <a:cs typeface="+mn-cs"/>
              </a:rPr>
              <a:t>Train visok + Test nizak → mogući overfitting</a:t>
            </a:r>
            <a:endParaRPr/>
          </a:p>
          <a:p>
            <a:pPr marL="0" marR="0" lvl="0" indent="0" algn="l" defTabSz="457200" rtl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Tx/>
              <a:buSzTx/>
              <a:buFontTx/>
              <a:buNone/>
              <a:defRPr sz="1600">
                <a:solidFill>
                  <a:srgbClr val="000000"/>
                </a:solidFill>
                <a:latin typeface="Calibri"/>
              </a:defRPr>
            </a:pPr>
            <a:r>
              <a:rPr sz="1600" b="0" i="0" u="none" strike="noStrike" cap="none" spc="0">
                <a:ln>
                  <a:noFill/>
                </a:ln>
                <a:solidFill>
                  <a:srgbClr val="000000"/>
                </a:solidFill>
                <a:latin typeface="Calibri"/>
                <a:ea typeface="+mn-ea"/>
                <a:cs typeface="+mn-cs"/>
              </a:rPr>
              <a:t>Train nizak + Test nizak → mogući underfitting</a:t>
            </a:r>
            <a:endParaRPr/>
          </a:p>
          <a:p>
            <a:pPr marL="0" marR="0" lvl="0" indent="0" algn="l" defTabSz="457200" rtl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Tx/>
              <a:buSzTx/>
              <a:buFontTx/>
              <a:buNone/>
              <a:defRPr sz="1600">
                <a:solidFill>
                  <a:srgbClr val="000000"/>
                </a:solidFill>
                <a:latin typeface="Calibri"/>
              </a:defRPr>
            </a:pPr>
            <a:r>
              <a:rPr sz="1600" b="0" i="0" u="none" strike="noStrike" cap="none" spc="0">
                <a:ln>
                  <a:noFill/>
                </a:ln>
                <a:solidFill>
                  <a:srgbClr val="000000"/>
                </a:solidFill>
                <a:latin typeface="Calibri"/>
                <a:ea typeface="+mn-ea"/>
                <a:cs typeface="+mn-cs"/>
              </a:rPr>
              <a:t>Train i Test rastu zajedno → model uči korisne uzorke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8718403" name="Rectangle 1"/>
          <p:cNvSpPr/>
          <p:nvPr/>
        </p:nvSpPr>
        <p:spPr bwMode="auto">
          <a:xfrm>
            <a:off x="502920" y="576072"/>
            <a:ext cx="18288" cy="594360"/>
          </a:xfrm>
          <a:prstGeom prst="rect">
            <a:avLst/>
          </a:prstGeom>
          <a:solidFill>
            <a:srgbClr val="1FA7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sz="1800" b="0" i="0" u="none" strike="noStrike" cap="none" spc="0">
              <a:ln>
                <a:noFill/>
              </a:ln>
              <a:solidFill>
                <a:prstClr val="white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1026207227" name="TextBox 2"/>
          <p:cNvSpPr txBox="1"/>
          <p:nvPr/>
        </p:nvSpPr>
        <p:spPr bwMode="auto">
          <a:xfrm>
            <a:off x="822960" y="483513"/>
            <a:ext cx="1865382" cy="86177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3200" b="0">
                <a:solidFill>
                  <a:srgbClr val="000000"/>
                </a:solidFill>
                <a:latin typeface="Calibri Light"/>
              </a:defRPr>
            </a:pPr>
            <a:r>
              <a:rPr lang="hr-HR" sz="5000">
                <a:solidFill>
                  <a:srgbClr val="000000"/>
                </a:solidFill>
                <a:latin typeface="Tw Cen MT Condensed"/>
              </a:rPr>
              <a:t>PRUNING</a:t>
            </a:r>
            <a:endParaRPr sz="5000" b="0" i="0" u="none" strike="noStrike" cap="none" spc="0">
              <a:ln>
                <a:noFill/>
              </a:ln>
              <a:solidFill>
                <a:srgbClr val="000000"/>
              </a:solidFill>
              <a:latin typeface="Tw Cen MT Condensed"/>
            </a:endParaRPr>
          </a:p>
        </p:txBody>
      </p:sp>
      <p:sp>
        <p:nvSpPr>
          <p:cNvPr id="1958140359" name="Rectangle 3"/>
          <p:cNvSpPr/>
          <p:nvPr/>
        </p:nvSpPr>
        <p:spPr bwMode="auto">
          <a:xfrm>
            <a:off x="1097280" y="1828800"/>
            <a:ext cx="2743200" cy="1097280"/>
          </a:xfrm>
          <a:prstGeom prst="rect">
            <a:avLst/>
          </a:prstGeom>
          <a:solidFill>
            <a:srgbClr val="1FA7D6"/>
          </a:solidFill>
          <a:ln w="15875">
            <a:solidFill>
              <a:srgbClr val="1FA7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457200">
              <a:defRPr/>
            </a:pPr>
            <a:r>
              <a:rPr sz="1800" b="0" i="0" u="none" strike="noStrike" cap="none" spc="0">
                <a:ln>
                  <a:noFill/>
                </a:ln>
                <a:solidFill>
                  <a:srgbClr val="FFFFFF"/>
                </a:solidFill>
                <a:latin typeface="Tw Cen MT"/>
              </a:rPr>
              <a:t>INPUT</a:t>
            </a:r>
            <a:br>
              <a:rPr sz="1800" b="0" i="0" u="none" strike="noStrike" cap="none" spc="0">
                <a:ln>
                  <a:noFill/>
                </a:ln>
                <a:solidFill>
                  <a:srgbClr val="FFFFFF"/>
                </a:solidFill>
                <a:latin typeface="Tw Cen MT"/>
              </a:rPr>
            </a:br>
            <a:r>
              <a:rPr lang="en-US">
                <a:latin typeface="Tw Cen MT"/>
              </a:rPr>
              <a:t>cnn_fruits.npz</a:t>
            </a:r>
            <a:br>
              <a:rPr lang="en-US">
                <a:latin typeface="Tw Cen MT"/>
              </a:rPr>
            </a:br>
            <a:r>
              <a:rPr lang="en-US">
                <a:latin typeface="Tw Cen MT"/>
              </a:rPr>
              <a:t>(trained model)</a:t>
            </a:r>
            <a:endParaRPr sz="1800" b="0" i="0" u="none" strike="noStrike" cap="none" spc="0">
              <a:ln>
                <a:noFill/>
              </a:ln>
              <a:solidFill>
                <a:srgbClr val="FFFFFF"/>
              </a:solidFill>
              <a:latin typeface="Tw Cen MT"/>
            </a:endParaRPr>
          </a:p>
        </p:txBody>
      </p:sp>
      <p:sp>
        <p:nvSpPr>
          <p:cNvPr id="1045167752" name="Rectangle 5"/>
          <p:cNvSpPr/>
          <p:nvPr/>
        </p:nvSpPr>
        <p:spPr bwMode="auto">
          <a:xfrm>
            <a:off x="4434840" y="1828800"/>
            <a:ext cx="3017519" cy="1097280"/>
          </a:xfrm>
          <a:prstGeom prst="rect">
            <a:avLst/>
          </a:prstGeom>
          <a:solidFill>
            <a:srgbClr val="FFFFFF"/>
          </a:solidFill>
          <a:ln w="15875">
            <a:solidFill>
              <a:srgbClr val="1FA7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1800" b="0" i="0" u="none" strike="noStrike" cap="none" spc="0">
                <a:ln>
                  <a:noFill/>
                </a:ln>
                <a:solidFill>
                  <a:srgbClr val="000000"/>
                </a:solidFill>
                <a:latin typeface="Tw Cen MT"/>
              </a:rPr>
              <a:t>person3_pruning.py</a:t>
            </a:r>
            <a:endParaRPr lang="hr-HR" sz="1800" b="0" i="0" u="none" strike="noStrike" cap="none" spc="0">
              <a:ln>
                <a:noFill/>
              </a:ln>
              <a:solidFill>
                <a:srgbClr val="000000"/>
              </a:solidFill>
              <a:latin typeface="Tw Cen MT"/>
            </a:endParaRPr>
          </a:p>
          <a:p>
            <a:pPr marL="0" marR="0" lvl="0" indent="0" algn="ctr" defTabSz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1800" b="0" i="0" u="none" strike="noStrike" cap="none" spc="0">
                <a:ln>
                  <a:noFill/>
                </a:ln>
                <a:solidFill>
                  <a:srgbClr val="000000"/>
                </a:solidFill>
                <a:latin typeface="Tw Cen MT"/>
              </a:rPr>
              <a:t>• Global</a:t>
            </a:r>
            <a:r>
              <a:rPr lang="hr-HR">
                <a:solidFill>
                  <a:srgbClr val="000000"/>
                </a:solidFill>
                <a:latin typeface="Tw Cen MT"/>
              </a:rPr>
              <a:t> +</a:t>
            </a:r>
            <a:r>
              <a:rPr lang="en-US" sz="1800" b="0" i="0" u="none" strike="noStrike" cap="none" spc="0">
                <a:ln>
                  <a:noFill/>
                </a:ln>
                <a:solidFill>
                  <a:srgbClr val="000000"/>
                </a:solidFill>
                <a:latin typeface="Tw Cen MT"/>
              </a:rPr>
              <a:t> Per-layer pruning</a:t>
            </a:r>
            <a:endParaRPr lang="hr-HR" sz="1800" b="0" i="0" u="none" strike="noStrike" cap="none" spc="0">
              <a:ln>
                <a:noFill/>
              </a:ln>
              <a:solidFill>
                <a:srgbClr val="000000"/>
              </a:solidFill>
              <a:latin typeface="Tw Cen MT"/>
            </a:endParaRPr>
          </a:p>
          <a:p>
            <a:pPr marL="0" marR="0" lvl="0" indent="0" algn="ctr" defTabSz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1800" b="0" i="0" u="none" strike="noStrike" cap="none" spc="0">
                <a:ln>
                  <a:noFill/>
                </a:ln>
                <a:solidFill>
                  <a:srgbClr val="000000"/>
                </a:solidFill>
                <a:latin typeface="Tw Cen MT"/>
              </a:rPr>
              <a:t>• Fine-tuning</a:t>
            </a:r>
            <a:endParaRPr sz="1800" b="0" i="0" u="none" strike="noStrike" cap="none" spc="0">
              <a:ln>
                <a:noFill/>
              </a:ln>
              <a:solidFill>
                <a:srgbClr val="000000"/>
              </a:solidFill>
              <a:latin typeface="Tw Cen MT"/>
            </a:endParaRPr>
          </a:p>
        </p:txBody>
      </p:sp>
      <p:sp>
        <p:nvSpPr>
          <p:cNvPr id="1944702953" name="Rectangle 7"/>
          <p:cNvSpPr/>
          <p:nvPr/>
        </p:nvSpPr>
        <p:spPr bwMode="auto">
          <a:xfrm>
            <a:off x="8046720" y="1828800"/>
            <a:ext cx="2743200" cy="1097280"/>
          </a:xfrm>
          <a:prstGeom prst="rect">
            <a:avLst/>
          </a:prstGeom>
          <a:solidFill>
            <a:srgbClr val="FFFFFF"/>
          </a:solidFill>
          <a:ln w="15875">
            <a:solidFill>
              <a:srgbClr val="1FA7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sz="1700" b="0" i="0" u="none" strike="noStrike" cap="none" spc="0">
                <a:ln>
                  <a:noFill/>
                </a:ln>
                <a:solidFill>
                  <a:srgbClr val="000000"/>
                </a:solidFill>
                <a:latin typeface="Tw Cen MT"/>
              </a:rPr>
              <a:t>OUTPUT</a:t>
            </a:r>
            <a:br>
              <a:rPr sz="1700" b="0" i="0" u="none" strike="noStrike" cap="none" spc="0">
                <a:ln>
                  <a:noFill/>
                </a:ln>
                <a:solidFill>
                  <a:srgbClr val="000000"/>
                </a:solidFill>
                <a:latin typeface="Tw Cen MT"/>
              </a:rPr>
            </a:br>
            <a:r>
              <a:rPr lang="hr-HR" sz="1700" b="0" i="0" u="none" strike="noStrike" cap="none" spc="0">
                <a:ln>
                  <a:noFill/>
                </a:ln>
                <a:solidFill>
                  <a:srgbClr val="000000"/>
                </a:solidFill>
                <a:latin typeface="Tw Cen MT"/>
              </a:rPr>
              <a:t>cnn_fruits_pruned.npz</a:t>
            </a:r>
            <a:endParaRPr sz="1700" b="0" i="0" u="none" strike="noStrike" cap="none" spc="0">
              <a:ln>
                <a:noFill/>
              </a:ln>
              <a:solidFill>
                <a:srgbClr val="000000"/>
              </a:solidFill>
              <a:latin typeface="Tw Cen MT"/>
            </a:endParaRPr>
          </a:p>
        </p:txBody>
      </p:sp>
      <p:sp>
        <p:nvSpPr>
          <p:cNvPr id="495836470" name="Rounded Rectangle 8"/>
          <p:cNvSpPr/>
          <p:nvPr/>
        </p:nvSpPr>
        <p:spPr bwMode="auto">
          <a:xfrm>
            <a:off x="988827" y="3931920"/>
            <a:ext cx="9909544" cy="12801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1FA7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09728" rIns="109728" bIns="109728" rtlCol="0" anchor="ctr"/>
          <a:lstStyle/>
          <a:p>
            <a:pPr lvl="0" algn="ctr" defTabSz="457200">
              <a:spcAft>
                <a:spcPts val="400"/>
              </a:spcAft>
              <a:defRPr sz="1800">
                <a:solidFill>
                  <a:srgbClr val="000000"/>
                </a:solidFill>
                <a:latin typeface="Calibri"/>
              </a:defRPr>
            </a:pPr>
            <a:r>
              <a:rPr sz="2400" b="1" i="0" u="none" strike="noStrike" cap="none" spc="0">
                <a:ln>
                  <a:noFill/>
                </a:ln>
                <a:solidFill>
                  <a:srgbClr val="000000"/>
                </a:solidFill>
                <a:latin typeface="Tw Cen MT"/>
              </a:rPr>
              <a:t>Uloga</a:t>
            </a:r>
            <a:r>
              <a:rPr sz="2400" b="0" i="0" u="none" strike="noStrike" cap="none" spc="0">
                <a:ln>
                  <a:noFill/>
                </a:ln>
                <a:solidFill>
                  <a:srgbClr val="000000"/>
                </a:solidFill>
                <a:latin typeface="Tw Cen MT"/>
              </a:rPr>
              <a:t>: </a:t>
            </a:r>
            <a:r>
              <a:rPr lang="hr-HR" sz="2400">
                <a:latin typeface="Tw Cen MT"/>
              </a:rPr>
              <a:t>smanjiti broj aktivnih težina modela uz minimalan gubitak točnosti.</a:t>
            </a:r>
            <a:endParaRPr sz="2400" b="0" i="0" u="none" strike="noStrike" cap="none" spc="0">
              <a:ln>
                <a:noFill/>
              </a:ln>
              <a:solidFill>
                <a:srgbClr val="000000"/>
              </a:solidFill>
              <a:latin typeface="Tw Cen MT"/>
            </a:endParaRPr>
          </a:p>
        </p:txBody>
      </p:sp>
      <p:cxnSp>
        <p:nvCxnSpPr>
          <p:cNvPr id="149004099" name="Straight Arrow Connector 10"/>
          <p:cNvCxnSpPr>
            <a:stCxn id="1958140359" idx="3"/>
            <a:endCxn id="1045167752" idx="1"/>
          </p:cNvCxnSpPr>
          <p:nvPr/>
        </p:nvCxnSpPr>
        <p:spPr bwMode="auto">
          <a:xfrm>
            <a:off x="3840480" y="2377440"/>
            <a:ext cx="59436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095260401" name="Straight Arrow Connector 11"/>
          <p:cNvCxnSpPr>
            <a:stCxn id="1045167752" idx="3"/>
            <a:endCxn id="1944702953" idx="1"/>
          </p:cNvCxnSpPr>
          <p:nvPr/>
        </p:nvCxnSpPr>
        <p:spPr bwMode="auto">
          <a:xfrm>
            <a:off x="7452360" y="2377440"/>
            <a:ext cx="59436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7621460" name="Rectangle 1"/>
          <p:cNvSpPr/>
          <p:nvPr/>
        </p:nvSpPr>
        <p:spPr bwMode="auto">
          <a:xfrm>
            <a:off x="502920" y="279758"/>
            <a:ext cx="18288" cy="594360"/>
          </a:xfrm>
          <a:prstGeom prst="rect">
            <a:avLst/>
          </a:prstGeom>
          <a:solidFill>
            <a:srgbClr val="1FA7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sz="1800" b="0" i="0" u="none" strike="noStrike" cap="none" spc="0">
              <a:ln>
                <a:noFill/>
              </a:ln>
              <a:solidFill>
                <a:prstClr val="white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1772183774" name="TextBox 2"/>
          <p:cNvSpPr txBox="1"/>
          <p:nvPr/>
        </p:nvSpPr>
        <p:spPr bwMode="auto">
          <a:xfrm>
            <a:off x="596210" y="146051"/>
            <a:ext cx="3356881" cy="86177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3200" b="0">
                <a:solidFill>
                  <a:srgbClr val="000000"/>
                </a:solidFill>
                <a:latin typeface="Calibri Light"/>
              </a:defRPr>
            </a:pPr>
            <a:r>
              <a:rPr lang="hr-HR" sz="5000">
                <a:solidFill>
                  <a:srgbClr val="000000"/>
                </a:solidFill>
                <a:latin typeface="Tw Cen MT Condensed"/>
              </a:rPr>
              <a:t>IMPLEMENTACIJA</a:t>
            </a:r>
            <a:endParaRPr sz="5000" b="0" i="0" u="none" strike="noStrike" cap="none" spc="0">
              <a:ln>
                <a:noFill/>
              </a:ln>
              <a:solidFill>
                <a:srgbClr val="000000"/>
              </a:solidFill>
              <a:latin typeface="Tw Cen MT Condensed"/>
            </a:endParaRPr>
          </a:p>
        </p:txBody>
      </p:sp>
      <p:sp>
        <p:nvSpPr>
          <p:cNvPr id="1324047762" name="Rounded Rectangle 5"/>
          <p:cNvSpPr/>
          <p:nvPr/>
        </p:nvSpPr>
        <p:spPr bwMode="auto">
          <a:xfrm>
            <a:off x="1472002" y="1257300"/>
            <a:ext cx="3383280" cy="164538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1FA7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09728" rIns="109728" bIns="109728" rtlCol="0" anchor="ctr"/>
          <a:lstStyle/>
          <a:p>
            <a:pPr marL="0" marR="0" lvl="0" indent="0" algn="ctr" defTabSz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800" b="1">
                <a:solidFill>
                  <a:srgbClr val="000000"/>
                </a:solidFill>
                <a:latin typeface="Calibri"/>
              </a:defRPr>
            </a:pPr>
            <a:r>
              <a:rPr lang="hr-HR" sz="2000" b="1">
                <a:solidFill>
                  <a:schemeClr val="accent5">
                    <a:lumMod val="75000"/>
                  </a:schemeClr>
                </a:solidFill>
                <a:latin typeface="Tw Cen MT"/>
              </a:rPr>
              <a:t>Global pruning</a:t>
            </a:r>
            <a:endParaRPr sz="2000" b="1" i="0" u="none" strike="noStrike" cap="none" spc="0">
              <a:ln>
                <a:noFill/>
              </a:ln>
              <a:solidFill>
                <a:schemeClr val="accent5">
                  <a:lumMod val="75000"/>
                </a:schemeClr>
              </a:solidFill>
              <a:latin typeface="Tw Cen MT"/>
            </a:endParaRPr>
          </a:p>
          <a:p>
            <a:pPr marL="285750" lvl="0" indent="-285750" algn="ctr" defTabSz="457200">
              <a:spcAft>
                <a:spcPts val="400"/>
              </a:spcAft>
              <a:buFont typeface="Arial"/>
              <a:buChar char="•"/>
              <a:defRPr sz="1600">
                <a:solidFill>
                  <a:srgbClr val="000000"/>
                </a:solidFill>
                <a:latin typeface="Calibri"/>
              </a:defRPr>
            </a:pPr>
            <a:r>
              <a:rPr lang="hr-HR" sz="1700">
                <a:solidFill>
                  <a:srgbClr val="000000"/>
                </a:solidFill>
                <a:latin typeface="Tw Cen MT"/>
              </a:rPr>
              <a:t>Sve težine iz svih slojeva spajaju se u jedan skup.</a:t>
            </a:r>
            <a:endParaRPr/>
          </a:p>
          <a:p>
            <a:pPr marL="285750" lvl="0" indent="-285750" algn="ctr" defTabSz="457200">
              <a:spcAft>
                <a:spcPts val="400"/>
              </a:spcAft>
              <a:buFont typeface="Arial"/>
              <a:buChar char="•"/>
              <a:defRPr sz="1600">
                <a:solidFill>
                  <a:srgbClr val="000000"/>
                </a:solidFill>
                <a:latin typeface="Calibri"/>
              </a:defRPr>
            </a:pPr>
            <a:r>
              <a:rPr lang="hr-HR" sz="1700">
                <a:solidFill>
                  <a:srgbClr val="000000"/>
                </a:solidFill>
                <a:latin typeface="Tw Cen MT"/>
              </a:rPr>
              <a:t>Uklanjaju se najmanje važne težine globalno.</a:t>
            </a:r>
            <a:endParaRPr sz="1700" b="0" i="0" u="none" strike="noStrike" cap="none" spc="0">
              <a:ln>
                <a:noFill/>
              </a:ln>
              <a:solidFill>
                <a:srgbClr val="000000"/>
              </a:solidFill>
              <a:latin typeface="Tw Cen MT"/>
            </a:endParaRPr>
          </a:p>
        </p:txBody>
      </p:sp>
      <p:sp>
        <p:nvSpPr>
          <p:cNvPr id="1360255356" name="Rounded Rectangle 6"/>
          <p:cNvSpPr/>
          <p:nvPr/>
        </p:nvSpPr>
        <p:spPr bwMode="auto">
          <a:xfrm>
            <a:off x="7336718" y="1257300"/>
            <a:ext cx="3383280" cy="164538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1FA7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09728" rIns="109728" bIns="109728" rtlCol="0" anchor="ctr"/>
          <a:lstStyle/>
          <a:p>
            <a:pPr marL="0" marR="0" lvl="0" indent="0" algn="ctr" defTabSz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800" b="1">
                <a:solidFill>
                  <a:srgbClr val="000000"/>
                </a:solidFill>
                <a:latin typeface="Calibri"/>
              </a:defRPr>
            </a:pPr>
            <a:r>
              <a:rPr lang="hr-HR" sz="2000" b="1">
                <a:solidFill>
                  <a:schemeClr val="accent5">
                    <a:lumMod val="75000"/>
                  </a:schemeClr>
                </a:solidFill>
                <a:latin typeface="Tw Cen MT"/>
              </a:rPr>
              <a:t>Per-layer pruning</a:t>
            </a:r>
            <a:endParaRPr sz="2000" b="1" i="0" u="none" strike="noStrike" cap="none" spc="0">
              <a:ln>
                <a:noFill/>
              </a:ln>
              <a:solidFill>
                <a:schemeClr val="accent5">
                  <a:lumMod val="75000"/>
                </a:schemeClr>
              </a:solidFill>
              <a:latin typeface="Tw Cen MT"/>
            </a:endParaRPr>
          </a:p>
          <a:p>
            <a:pPr marL="285750" lvl="0" indent="-285750" algn="ctr" defTabSz="457200">
              <a:spcAft>
                <a:spcPts val="400"/>
              </a:spcAft>
              <a:buFont typeface="Arial"/>
              <a:buChar char="•"/>
              <a:defRPr sz="1600">
                <a:solidFill>
                  <a:srgbClr val="000000"/>
                </a:solidFill>
                <a:latin typeface="Calibri"/>
              </a:defRPr>
            </a:pPr>
            <a:r>
              <a:rPr lang="hr-HR" sz="1700">
                <a:solidFill>
                  <a:srgbClr val="000000"/>
                </a:solidFill>
                <a:latin typeface="Tw Cen MT"/>
              </a:rPr>
              <a:t>Svaki sloj se obrađuje zasebno.</a:t>
            </a:r>
            <a:endParaRPr/>
          </a:p>
          <a:p>
            <a:pPr marL="285750" lvl="0" indent="-285750" algn="ctr" defTabSz="457200">
              <a:spcAft>
                <a:spcPts val="400"/>
              </a:spcAft>
              <a:buFont typeface="Arial"/>
              <a:buChar char="•"/>
              <a:defRPr sz="1600">
                <a:solidFill>
                  <a:srgbClr val="000000"/>
                </a:solidFill>
                <a:latin typeface="Calibri"/>
              </a:defRPr>
            </a:pPr>
            <a:r>
              <a:rPr lang="hr-HR" sz="1700">
                <a:solidFill>
                  <a:srgbClr val="000000"/>
                </a:solidFill>
                <a:latin typeface="Tw Cen MT"/>
              </a:rPr>
              <a:t>Isti postotak težina uklanja se iz svakog sloja.</a:t>
            </a:r>
            <a:endParaRPr sz="1700" b="0" i="0" u="none" strike="noStrike" cap="none" spc="0">
              <a:ln>
                <a:noFill/>
              </a:ln>
              <a:solidFill>
                <a:srgbClr val="000000"/>
              </a:solidFill>
              <a:latin typeface="Tw Cen MT"/>
            </a:endParaRPr>
          </a:p>
        </p:txBody>
      </p:sp>
      <p:pic>
        <p:nvPicPr>
          <p:cNvPr id="503309109" name="Picture 16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6233255" y="3518342"/>
            <a:ext cx="5658300" cy="261152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72164663" name="Picture 18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464167" y="3277488"/>
            <a:ext cx="5398949" cy="309323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4396862" name="Rectangle 1"/>
          <p:cNvSpPr/>
          <p:nvPr/>
        </p:nvSpPr>
        <p:spPr bwMode="auto">
          <a:xfrm>
            <a:off x="502920" y="576072"/>
            <a:ext cx="18288" cy="594360"/>
          </a:xfrm>
          <a:prstGeom prst="rect">
            <a:avLst/>
          </a:prstGeom>
          <a:solidFill>
            <a:srgbClr val="1FA7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sz="1800" b="0" i="0" u="none" strike="noStrike" cap="none" spc="0">
              <a:ln>
                <a:noFill/>
              </a:ln>
              <a:solidFill>
                <a:prstClr val="white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1305962446" name="TextBox 2"/>
          <p:cNvSpPr txBox="1"/>
          <p:nvPr/>
        </p:nvSpPr>
        <p:spPr bwMode="auto">
          <a:xfrm>
            <a:off x="777240" y="566928"/>
            <a:ext cx="5787162" cy="7277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>
              <a:lnSpc>
                <a:spcPct val="80000"/>
              </a:lnSpc>
              <a:spcBef>
                <a:spcPts val="0"/>
              </a:spcBef>
              <a:defRPr sz="3200" b="0">
                <a:solidFill>
                  <a:srgbClr val="000000"/>
                </a:solidFill>
                <a:latin typeface="Calibri Light"/>
              </a:defRPr>
            </a:pPr>
            <a:r>
              <a:rPr lang="hr-HR" sz="5000" cap="all" spc="100">
                <a:solidFill>
                  <a:schemeClr val="tx1">
                    <a:lumMod val="95000"/>
                    <a:lumOff val="5000"/>
                  </a:schemeClr>
                </a:solidFill>
                <a:latin typeface="Tw Cen MT Condensed"/>
                <a:ea typeface="+mj-ea"/>
                <a:cs typeface="+mj-cs"/>
              </a:rPr>
              <a:t>MASKIRANJE &amp; FINE-TUNING</a:t>
            </a:r>
            <a:endParaRPr sz="5000" cap="all" spc="100">
              <a:solidFill>
                <a:schemeClr val="tx1">
                  <a:lumMod val="95000"/>
                  <a:lumOff val="5000"/>
                </a:schemeClr>
              </a:solidFill>
              <a:latin typeface="Tw Cen MT Condensed"/>
              <a:ea typeface="+mj-ea"/>
              <a:cs typeface="+mj-cs"/>
            </a:endParaRPr>
          </a:p>
        </p:txBody>
      </p:sp>
      <p:sp>
        <p:nvSpPr>
          <p:cNvPr id="47776750" name="Rectangle 3"/>
          <p:cNvSpPr/>
          <p:nvPr/>
        </p:nvSpPr>
        <p:spPr bwMode="auto">
          <a:xfrm>
            <a:off x="1872469" y="1811866"/>
            <a:ext cx="1600200" cy="960120"/>
          </a:xfrm>
          <a:prstGeom prst="rect">
            <a:avLst/>
          </a:prstGeom>
          <a:solidFill>
            <a:srgbClr val="1FA7D6"/>
          </a:solidFill>
          <a:ln w="15875">
            <a:solidFill>
              <a:srgbClr val="1FA7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hr-HR" b="1" i="0" u="none" strike="noStrike" cap="none" spc="0">
                <a:ln>
                  <a:noFill/>
                </a:ln>
                <a:solidFill>
                  <a:srgbClr val="FFFFFF"/>
                </a:solidFill>
                <a:latin typeface="Tw Cen MT"/>
              </a:rPr>
              <a:t>Pruning</a:t>
            </a:r>
            <a:endParaRPr b="1" i="0" u="none" strike="noStrike" cap="none" spc="0">
              <a:ln>
                <a:noFill/>
              </a:ln>
              <a:solidFill>
                <a:srgbClr val="FFFFFF"/>
              </a:solidFill>
              <a:latin typeface="Tw Cen MT"/>
            </a:endParaRPr>
          </a:p>
        </p:txBody>
      </p:sp>
      <p:sp>
        <p:nvSpPr>
          <p:cNvPr id="1698743017" name="Rectangle 5"/>
          <p:cNvSpPr/>
          <p:nvPr/>
        </p:nvSpPr>
        <p:spPr bwMode="auto">
          <a:xfrm>
            <a:off x="3977997" y="1811866"/>
            <a:ext cx="1600200" cy="960120"/>
          </a:xfrm>
          <a:prstGeom prst="rect">
            <a:avLst/>
          </a:prstGeom>
          <a:solidFill>
            <a:srgbClr val="FFFFFF"/>
          </a:solidFill>
          <a:ln w="15875">
            <a:solidFill>
              <a:srgbClr val="1FA7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hr-HR" b="1" i="0" u="none" strike="noStrike" cap="none" spc="0">
                <a:ln>
                  <a:noFill/>
                </a:ln>
                <a:solidFill>
                  <a:srgbClr val="000000"/>
                </a:solidFill>
                <a:latin typeface="Tw Cen MT"/>
              </a:rPr>
              <a:t>Mask creation</a:t>
            </a:r>
            <a:endParaRPr b="1" i="0" u="none" strike="noStrike" cap="none" spc="0">
              <a:ln>
                <a:noFill/>
              </a:ln>
              <a:solidFill>
                <a:srgbClr val="000000"/>
              </a:solidFill>
              <a:latin typeface="Tw Cen MT"/>
            </a:endParaRPr>
          </a:p>
        </p:txBody>
      </p:sp>
      <p:sp>
        <p:nvSpPr>
          <p:cNvPr id="1568702242" name="Rectangle 7"/>
          <p:cNvSpPr/>
          <p:nvPr/>
        </p:nvSpPr>
        <p:spPr bwMode="auto">
          <a:xfrm>
            <a:off x="6108475" y="1811866"/>
            <a:ext cx="1600200" cy="960120"/>
          </a:xfrm>
          <a:prstGeom prst="rect">
            <a:avLst/>
          </a:prstGeom>
          <a:solidFill>
            <a:srgbClr val="FFFFFF"/>
          </a:solidFill>
          <a:ln w="15875">
            <a:solidFill>
              <a:srgbClr val="1FA7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hr-HR" b="1" i="0" u="none" strike="noStrike" cap="none" spc="0">
                <a:ln>
                  <a:noFill/>
                </a:ln>
                <a:solidFill>
                  <a:srgbClr val="000000"/>
                </a:solidFill>
                <a:latin typeface="Tw Cen MT"/>
              </a:rPr>
              <a:t>Fine-tuning</a:t>
            </a:r>
            <a:endParaRPr b="1" i="0" u="none" strike="noStrike" cap="none" spc="0">
              <a:ln>
                <a:noFill/>
              </a:ln>
              <a:solidFill>
                <a:srgbClr val="000000"/>
              </a:solidFill>
              <a:latin typeface="Tw Cen MT"/>
            </a:endParaRPr>
          </a:p>
        </p:txBody>
      </p:sp>
      <p:sp>
        <p:nvSpPr>
          <p:cNvPr id="1039377854" name="Rectangle 9"/>
          <p:cNvSpPr/>
          <p:nvPr/>
        </p:nvSpPr>
        <p:spPr bwMode="auto">
          <a:xfrm>
            <a:off x="8214003" y="1811866"/>
            <a:ext cx="1600200" cy="960120"/>
          </a:xfrm>
          <a:prstGeom prst="rect">
            <a:avLst/>
          </a:prstGeom>
          <a:solidFill>
            <a:srgbClr val="FFFFFF"/>
          </a:solidFill>
          <a:ln w="15875">
            <a:solidFill>
              <a:srgbClr val="1FA7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hr-HR" b="1" i="0" u="none" strike="noStrike" cap="none" spc="0">
                <a:ln>
                  <a:noFill/>
                </a:ln>
                <a:solidFill>
                  <a:srgbClr val="000000"/>
                </a:solidFill>
                <a:latin typeface="Tw Cen MT"/>
              </a:rPr>
              <a:t>Re-apply masks</a:t>
            </a:r>
            <a:endParaRPr b="1" i="0" u="none" strike="noStrike" cap="none" spc="0">
              <a:ln>
                <a:noFill/>
              </a:ln>
              <a:solidFill>
                <a:srgbClr val="000000"/>
              </a:solidFill>
              <a:latin typeface="Tw Cen MT"/>
            </a:endParaRPr>
          </a:p>
        </p:txBody>
      </p:sp>
      <p:sp>
        <p:nvSpPr>
          <p:cNvPr id="746992364" name="Rounded Rectangle 14"/>
          <p:cNvSpPr/>
          <p:nvPr/>
        </p:nvSpPr>
        <p:spPr bwMode="auto">
          <a:xfrm>
            <a:off x="1035329" y="4157768"/>
            <a:ext cx="9616013" cy="2205189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1FA7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09728" rIns="109728" bIns="109728" rtlCol="0" anchor="ctr"/>
          <a:lstStyle/>
          <a:p>
            <a:pPr lvl="0" defTabSz="457200">
              <a:defRPr sz="1800" b="1">
                <a:solidFill>
                  <a:srgbClr val="000000"/>
                </a:solidFill>
                <a:latin typeface="Calibri"/>
              </a:defRPr>
            </a:pPr>
            <a:r>
              <a:rPr lang="hr-HR" sz="2200">
                <a:solidFill>
                  <a:srgbClr val="000000"/>
                </a:solidFill>
                <a:latin typeface="Tw Cen MT"/>
              </a:rPr>
              <a:t>Očuvanje maske tijekom fine-tuninga</a:t>
            </a:r>
            <a:endParaRPr/>
          </a:p>
          <a:p>
            <a:pPr marL="285750" lvl="0" indent="-285750" defTabSz="457200">
              <a:buFont typeface="Arial"/>
              <a:buChar char="•"/>
              <a:defRPr sz="1800" b="1">
                <a:solidFill>
                  <a:srgbClr val="000000"/>
                </a:solidFill>
                <a:latin typeface="Calibri"/>
              </a:defRPr>
            </a:pPr>
            <a:endParaRPr lang="hr-HR" sz="2000">
              <a:solidFill>
                <a:srgbClr val="000000"/>
              </a:solidFill>
              <a:latin typeface="Tw Cen MT"/>
            </a:endParaRPr>
          </a:p>
          <a:p>
            <a:pPr marL="285750" indent="-285750" defTabSz="457200">
              <a:buFont typeface="Arial"/>
              <a:buChar char="•"/>
              <a:defRPr/>
            </a:pPr>
            <a:r>
              <a:rPr lang="hr-HR" sz="2000">
                <a:solidFill>
                  <a:srgbClr val="000000"/>
                </a:solidFill>
                <a:latin typeface="Tw Cen MT"/>
              </a:rPr>
              <a:t>Pruning stvara binarnu masku (0 = ukloni, 1 = zadrži)</a:t>
            </a:r>
            <a:endParaRPr/>
          </a:p>
          <a:p>
            <a:pPr marL="285750" indent="-285750" defTabSz="457200">
              <a:buFont typeface="Arial"/>
              <a:buChar char="•"/>
              <a:defRPr/>
            </a:pPr>
            <a:r>
              <a:rPr lang="hr-HR" sz="2000">
                <a:solidFill>
                  <a:srgbClr val="000000"/>
                </a:solidFill>
                <a:latin typeface="Tw Cen MT"/>
              </a:rPr>
              <a:t>SGD ažurira sve težine, uključujući i one koje su uklonjene pruningom</a:t>
            </a:r>
            <a:endParaRPr/>
          </a:p>
          <a:p>
            <a:pPr marL="285750" indent="-285750" defTabSz="457200">
              <a:buFont typeface="Arial"/>
              <a:buChar char="•"/>
              <a:defRPr/>
            </a:pPr>
            <a:r>
              <a:rPr lang="hr-HR" sz="2000">
                <a:solidFill>
                  <a:srgbClr val="000000"/>
                </a:solidFill>
                <a:latin typeface="Tw Cen MT"/>
              </a:rPr>
              <a:t>Nakon svakog koraka optimizatora, maska se ponovno primjenjuje</a:t>
            </a:r>
            <a:endParaRPr/>
          </a:p>
          <a:p>
            <a:pPr marL="285750" indent="-285750" defTabSz="457200">
              <a:buFont typeface="Arial"/>
              <a:buChar char="•"/>
              <a:defRPr/>
            </a:pPr>
            <a:r>
              <a:rPr lang="hr-HR" sz="2000">
                <a:solidFill>
                  <a:srgbClr val="000000"/>
                </a:solidFill>
                <a:latin typeface="Tw Cen MT"/>
              </a:rPr>
              <a:t>Time se osigurava da uklonjene težine ostanu na nuli i ne mogu ponovno narasti</a:t>
            </a:r>
            <a:endParaRPr/>
          </a:p>
        </p:txBody>
      </p:sp>
      <p:cxnSp>
        <p:nvCxnSpPr>
          <p:cNvPr id="74493034" name="Straight Arrow Connector 22"/>
          <p:cNvCxnSpPr>
            <a:stCxn id="47776750" idx="3"/>
            <a:endCxn id="1698743017" idx="1"/>
          </p:cNvCxnSpPr>
          <p:nvPr/>
        </p:nvCxnSpPr>
        <p:spPr bwMode="auto">
          <a:xfrm>
            <a:off x="3472669" y="2291926"/>
            <a:ext cx="50532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488247590" name="Straight Arrow Connector 23"/>
          <p:cNvCxnSpPr/>
          <p:nvPr/>
        </p:nvCxnSpPr>
        <p:spPr bwMode="auto">
          <a:xfrm>
            <a:off x="5590672" y="2291926"/>
            <a:ext cx="50532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824405286" name="Straight Arrow Connector 26"/>
          <p:cNvCxnSpPr/>
          <p:nvPr/>
        </p:nvCxnSpPr>
        <p:spPr bwMode="auto">
          <a:xfrm>
            <a:off x="7708674" y="2291926"/>
            <a:ext cx="50532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1112301732" name="Rounded Rectangle 14"/>
          <p:cNvSpPr/>
          <p:nvPr/>
        </p:nvSpPr>
        <p:spPr bwMode="auto">
          <a:xfrm>
            <a:off x="7756451" y="3335383"/>
            <a:ext cx="3530009" cy="18196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1FA7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09728" rIns="109728" bIns="109728" rtlCol="0" anchor="ctr"/>
          <a:lstStyle/>
          <a:p>
            <a:pPr lvl="0" defTabSz="457200">
              <a:defRPr sz="1800" b="1">
                <a:solidFill>
                  <a:srgbClr val="000000"/>
                </a:solidFill>
                <a:latin typeface="Calibri"/>
              </a:defRPr>
            </a:pPr>
            <a:endParaRPr lang="hr-HR">
              <a:solidFill>
                <a:srgbClr val="000000"/>
              </a:solidFill>
              <a:latin typeface="Tw Cen MT"/>
            </a:endParaRPr>
          </a:p>
        </p:txBody>
      </p:sp>
      <p:pic>
        <p:nvPicPr>
          <p:cNvPr id="1168799152" name="Picture 31"/>
          <p:cNvPicPr>
            <a:picLocks noChangeAspect="1"/>
          </p:cNvPicPr>
          <p:nvPr/>
        </p:nvPicPr>
        <p:blipFill rotWithShape="1">
          <a:blip r:embed="rId3"/>
          <a:srcRect l="3363" t="0" r="2962" b="0"/>
          <a:stretch/>
        </p:blipFill>
        <p:spPr bwMode="auto">
          <a:xfrm>
            <a:off x="7900341" y="3441805"/>
            <a:ext cx="3279793" cy="159879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4399222" name="Rectangle 1"/>
          <p:cNvSpPr/>
          <p:nvPr/>
        </p:nvSpPr>
        <p:spPr bwMode="auto">
          <a:xfrm>
            <a:off x="502920" y="576072"/>
            <a:ext cx="18288" cy="594360"/>
          </a:xfrm>
          <a:prstGeom prst="rect">
            <a:avLst/>
          </a:prstGeom>
          <a:solidFill>
            <a:srgbClr val="1FA7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sz="1800" b="0" i="0" u="none" strike="noStrike" cap="none" spc="0">
              <a:ln>
                <a:noFill/>
              </a:ln>
              <a:solidFill>
                <a:prstClr val="white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166424942" name="TextBox 2"/>
          <p:cNvSpPr txBox="1"/>
          <p:nvPr/>
        </p:nvSpPr>
        <p:spPr bwMode="auto">
          <a:xfrm>
            <a:off x="777240" y="566928"/>
            <a:ext cx="2203039" cy="7277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>
              <a:lnSpc>
                <a:spcPct val="80000"/>
              </a:lnSpc>
              <a:spcBef>
                <a:spcPts val="0"/>
              </a:spcBef>
              <a:defRPr sz="3200" b="0">
                <a:solidFill>
                  <a:srgbClr val="000000"/>
                </a:solidFill>
                <a:latin typeface="Calibri Light"/>
              </a:defRPr>
            </a:pPr>
            <a:r>
              <a:rPr lang="hr-HR" sz="5000" cap="all" spc="100">
                <a:solidFill>
                  <a:schemeClr val="tx1">
                    <a:lumMod val="95000"/>
                    <a:lumOff val="5000"/>
                  </a:schemeClr>
                </a:solidFill>
                <a:latin typeface="Tw Cen MT Condensed"/>
                <a:ea typeface="+mj-ea"/>
                <a:cs typeface="+mj-cs"/>
              </a:rPr>
              <a:t>REZULTATI</a:t>
            </a:r>
            <a:endParaRPr sz="5000" cap="all" spc="100">
              <a:solidFill>
                <a:schemeClr val="tx1">
                  <a:lumMod val="95000"/>
                  <a:lumOff val="5000"/>
                </a:schemeClr>
              </a:solidFill>
              <a:latin typeface="Tw Cen MT Condensed"/>
              <a:ea typeface="+mj-ea"/>
              <a:cs typeface="+mj-cs"/>
            </a:endParaRPr>
          </a:p>
        </p:txBody>
      </p:sp>
      <p:sp>
        <p:nvSpPr>
          <p:cNvPr id="1420581441" name="Rounded Rectangle 14"/>
          <p:cNvSpPr/>
          <p:nvPr/>
        </p:nvSpPr>
        <p:spPr bwMode="auto">
          <a:xfrm>
            <a:off x="777240" y="4954772"/>
            <a:ext cx="10705923" cy="1433841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1FA7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09728" rIns="109728" bIns="109728" rtlCol="0" anchor="ctr"/>
          <a:lstStyle/>
          <a:p>
            <a:pPr defTabSz="457200">
              <a:defRPr/>
            </a:pPr>
            <a:r>
              <a:rPr lang="hr-HR" sz="2000">
                <a:solidFill>
                  <a:srgbClr val="000000"/>
                </a:solidFill>
                <a:latin typeface="Tw Cen MT"/>
              </a:rPr>
              <a:t>Global pruning postiže znatno bolje rezultate od per-layer pruninga na ovom modelu. </a:t>
            </a:r>
            <a:endParaRPr/>
          </a:p>
          <a:p>
            <a:pPr defTabSz="457200">
              <a:defRPr/>
            </a:pPr>
            <a:r>
              <a:rPr lang="hr-HR" sz="2000">
                <a:solidFill>
                  <a:srgbClr val="000000"/>
                </a:solidFill>
                <a:latin typeface="Tw Cen MT"/>
              </a:rPr>
              <a:t>Zadržava gotovo nepromijenjenu točnost čak i pri 80% sparsnosti. </a:t>
            </a:r>
            <a:endParaRPr/>
          </a:p>
          <a:p>
            <a:pPr defTabSz="457200">
              <a:defRPr/>
            </a:pPr>
            <a:r>
              <a:rPr lang="hr-HR" sz="2000">
                <a:solidFill>
                  <a:srgbClr val="000000"/>
                </a:solidFill>
                <a:latin typeface="Tw Cen MT"/>
              </a:rPr>
              <a:t>Pruning po slojevima je agresivniji jer svaki sloj gubi isti postotak težina, uključujući i osjetljive slojeve.</a:t>
            </a:r>
            <a:endParaRPr/>
          </a:p>
        </p:txBody>
      </p:sp>
      <p:graphicFrame>
        <p:nvGraphicFramePr>
          <p:cNvPr id="588377026" name="Table 8"/>
          <p:cNvGraphicFramePr>
            <a:graphicFrameLocks xmlns:a="http://schemas.openxmlformats.org/drawingml/2006/main" noGrp="1"/>
          </p:cNvGraphicFramePr>
          <p:nvPr/>
        </p:nvGraphicFramePr>
        <p:xfrm rot="0">
          <a:off x="1532151" y="1513550"/>
          <a:ext cx="9313056" cy="3078480"/>
        </p:xfrm>
        <a:graphic>
          <a:graphicData uri="http://schemas.openxmlformats.org/drawingml/2006/table">
            <a:tbl>
              <a:tblPr firstRow="1" firstCol="0" lastRow="0" lastCol="0" bandRow="0" bandCol="0">
                <a:tableStyleId>{5FD0F851-EC5A-4D38-B0AD-8093EC10F338}</a:tableStyleId>
              </a:tblPr>
              <a:tblGrid>
                <a:gridCol w="1552176"/>
                <a:gridCol w="1552176"/>
                <a:gridCol w="1552176"/>
                <a:gridCol w="1552176"/>
                <a:gridCol w="1552176"/>
                <a:gridCol w="1552176"/>
              </a:tblGrid>
              <a:tr h="0">
                <a:tc>
                  <a:txBody>
                    <a:bodyPr/>
                    <a:p>
                      <a:pPr algn="l">
                        <a:buNone/>
                        <a:defRPr/>
                      </a:pPr>
                      <a:r>
                        <a:rPr lang="hr-HR" sz="2000">
                          <a:latin typeface="Tw Cen MT"/>
                        </a:rPr>
                        <a:t>Strategy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l">
                        <a:buNone/>
                        <a:defRPr/>
                      </a:pPr>
                      <a:r>
                        <a:rPr lang="hr-HR" sz="2000">
                          <a:latin typeface="Tw Cen MT"/>
                        </a:rPr>
                        <a:t>Pruning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l">
                        <a:buNone/>
                        <a:defRPr/>
                      </a:pPr>
                      <a:r>
                        <a:rPr lang="hr-HR" sz="2000">
                          <a:latin typeface="Tw Cen MT"/>
                        </a:rPr>
                        <a:t>Original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l">
                        <a:buNone/>
                        <a:defRPr/>
                      </a:pPr>
                      <a:r>
                        <a:rPr lang="hr-HR" sz="2000">
                          <a:latin typeface="Tw Cen MT"/>
                        </a:rPr>
                        <a:t>After pruning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l">
                        <a:buNone/>
                        <a:defRPr/>
                      </a:pPr>
                      <a:r>
                        <a:rPr lang="hr-HR" sz="2000">
                          <a:latin typeface="Tw Cen MT"/>
                        </a:rPr>
                        <a:t>After fine-tune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l">
                        <a:buNone/>
                        <a:defRPr/>
                      </a:pPr>
                      <a:r>
                        <a:rPr lang="hr-HR" sz="2000">
                          <a:latin typeface="Tw Cen MT"/>
                        </a:rPr>
                        <a:t>Final change</a:t>
                      </a:r>
                      <a:endParaRPr/>
                    </a:p>
                  </a:txBody>
                  <a:tcPr anchor="ctr"/>
                </a:tc>
              </a:tr>
              <a:tr h="0">
                <a:tc>
                  <a:txBody>
                    <a:bodyPr/>
                    <a:p>
                      <a:pPr algn="l">
                        <a:buNone/>
                        <a:defRPr/>
                      </a:pPr>
                      <a:r>
                        <a:rPr lang="hr-HR" sz="2000">
                          <a:latin typeface="Tw Cen MT"/>
                        </a:rPr>
                        <a:t>Global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l">
                        <a:buNone/>
                        <a:defRPr/>
                      </a:pPr>
                      <a:r>
                        <a:rPr lang="hr-HR" sz="2000">
                          <a:latin typeface="Tw Cen MT"/>
                        </a:rPr>
                        <a:t>20%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l">
                        <a:buNone/>
                        <a:defRPr/>
                      </a:pPr>
                      <a:r>
                        <a:rPr lang="hr-HR" sz="2000">
                          <a:latin typeface="Tw Cen MT"/>
                        </a:rPr>
                        <a:t>75.58%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l">
                        <a:buNone/>
                        <a:defRPr/>
                      </a:pPr>
                      <a:r>
                        <a:rPr lang="hr-HR" sz="2000">
                          <a:latin typeface="Tw Cen MT"/>
                        </a:rPr>
                        <a:t>75.63%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l">
                        <a:buNone/>
                        <a:defRPr/>
                      </a:pPr>
                      <a:r>
                        <a:rPr lang="hr-HR" sz="2000">
                          <a:latin typeface="Tw Cen MT"/>
                        </a:rPr>
                        <a:t>76.52%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l">
                        <a:buNone/>
                        <a:defRPr/>
                      </a:pPr>
                      <a:r>
                        <a:rPr lang="hr-HR" sz="2000">
                          <a:latin typeface="Tw Cen MT"/>
                        </a:rPr>
                        <a:t>+0.94%</a:t>
                      </a:r>
                      <a:endParaRPr/>
                    </a:p>
                  </a:txBody>
                  <a:tcPr anchor="ctr"/>
                </a:tc>
              </a:tr>
              <a:tr h="0">
                <a:tc>
                  <a:txBody>
                    <a:bodyPr/>
                    <a:p>
                      <a:pPr algn="l">
                        <a:buNone/>
                        <a:defRPr/>
                      </a:pPr>
                      <a:r>
                        <a:rPr lang="hr-HR" sz="2000">
                          <a:latin typeface="Tw Cen MT"/>
                        </a:rPr>
                        <a:t>Per-layer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l">
                        <a:buNone/>
                        <a:defRPr/>
                      </a:pPr>
                      <a:r>
                        <a:rPr lang="hr-HR" sz="2000">
                          <a:latin typeface="Tw Cen MT"/>
                        </a:rPr>
                        <a:t>20%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l">
                        <a:buNone/>
                        <a:defRPr/>
                      </a:pPr>
                      <a:r>
                        <a:rPr lang="hr-HR" sz="2000">
                          <a:latin typeface="Tw Cen MT"/>
                        </a:rPr>
                        <a:t>75.58%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l">
                        <a:buNone/>
                        <a:defRPr/>
                      </a:pPr>
                      <a:r>
                        <a:rPr lang="hr-HR" sz="2000">
                          <a:latin typeface="Tw Cen MT"/>
                        </a:rPr>
                        <a:t>74.92%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l">
                        <a:buNone/>
                        <a:defRPr/>
                      </a:pPr>
                      <a:r>
                        <a:rPr lang="hr-HR" sz="2000">
                          <a:latin typeface="Tw Cen MT"/>
                        </a:rPr>
                        <a:t>76.27%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l">
                        <a:buNone/>
                        <a:defRPr/>
                      </a:pPr>
                      <a:r>
                        <a:rPr lang="hr-HR" sz="2000">
                          <a:latin typeface="Tw Cen MT"/>
                        </a:rPr>
                        <a:t>+0.69%</a:t>
                      </a:r>
                      <a:endParaRPr/>
                    </a:p>
                  </a:txBody>
                  <a:tcPr anchor="ctr"/>
                </a:tc>
              </a:tr>
              <a:tr h="0">
                <a:tc>
                  <a:txBody>
                    <a:bodyPr/>
                    <a:p>
                      <a:pPr algn="l">
                        <a:buNone/>
                        <a:defRPr/>
                      </a:pPr>
                      <a:r>
                        <a:rPr lang="hr-HR" sz="2000">
                          <a:latin typeface="Tw Cen MT"/>
                        </a:rPr>
                        <a:t>Global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l">
                        <a:buNone/>
                        <a:defRPr/>
                      </a:pPr>
                      <a:r>
                        <a:rPr lang="hr-HR" sz="2000">
                          <a:latin typeface="Tw Cen MT"/>
                        </a:rPr>
                        <a:t>50%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l">
                        <a:buNone/>
                        <a:defRPr/>
                      </a:pPr>
                      <a:r>
                        <a:rPr lang="hr-HR" sz="2000">
                          <a:latin typeface="Tw Cen MT"/>
                        </a:rPr>
                        <a:t>75.58%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l">
                        <a:buNone/>
                        <a:defRPr/>
                      </a:pPr>
                      <a:r>
                        <a:rPr lang="hr-HR" sz="2000">
                          <a:latin typeface="Tw Cen MT"/>
                        </a:rPr>
                        <a:t>75.67%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l">
                        <a:buNone/>
                        <a:defRPr/>
                      </a:pPr>
                      <a:r>
                        <a:rPr lang="hr-HR" sz="2000">
                          <a:latin typeface="Tw Cen MT"/>
                        </a:rPr>
                        <a:t>76.36%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l">
                        <a:buNone/>
                        <a:defRPr/>
                      </a:pPr>
                      <a:r>
                        <a:rPr lang="hr-HR" sz="2000">
                          <a:latin typeface="Tw Cen MT"/>
                        </a:rPr>
                        <a:t>+0.79%</a:t>
                      </a:r>
                      <a:endParaRPr/>
                    </a:p>
                  </a:txBody>
                  <a:tcPr anchor="ctr"/>
                </a:tc>
              </a:tr>
              <a:tr h="0">
                <a:tc>
                  <a:txBody>
                    <a:bodyPr/>
                    <a:p>
                      <a:pPr algn="l">
                        <a:buNone/>
                        <a:defRPr/>
                      </a:pPr>
                      <a:r>
                        <a:rPr lang="hr-HR" sz="2000">
                          <a:latin typeface="Tw Cen MT"/>
                        </a:rPr>
                        <a:t>Per-layer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l">
                        <a:buNone/>
                        <a:defRPr/>
                      </a:pPr>
                      <a:r>
                        <a:rPr lang="hr-HR" sz="2000">
                          <a:latin typeface="Tw Cen MT"/>
                        </a:rPr>
                        <a:t>50%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l">
                        <a:buNone/>
                        <a:defRPr/>
                      </a:pPr>
                      <a:r>
                        <a:rPr lang="hr-HR" sz="2000">
                          <a:latin typeface="Tw Cen MT"/>
                        </a:rPr>
                        <a:t>75.58%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l">
                        <a:buNone/>
                        <a:defRPr/>
                      </a:pPr>
                      <a:r>
                        <a:rPr lang="hr-HR" sz="2000">
                          <a:latin typeface="Tw Cen MT"/>
                        </a:rPr>
                        <a:t>70.74%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l">
                        <a:buNone/>
                        <a:defRPr/>
                      </a:pPr>
                      <a:r>
                        <a:rPr lang="hr-HR" sz="2000">
                          <a:latin typeface="Tw Cen MT"/>
                        </a:rPr>
                        <a:t>74.45%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l">
                        <a:buNone/>
                        <a:defRPr/>
                      </a:pPr>
                      <a:r>
                        <a:rPr lang="hr-HR" sz="2000">
                          <a:latin typeface="Tw Cen MT"/>
                        </a:rPr>
                        <a:t>-1.13%</a:t>
                      </a:r>
                      <a:endParaRPr/>
                    </a:p>
                  </a:txBody>
                  <a:tcPr anchor="ctr"/>
                </a:tc>
              </a:tr>
              <a:tr h="0">
                <a:tc>
                  <a:txBody>
                    <a:bodyPr/>
                    <a:p>
                      <a:pPr algn="l">
                        <a:buNone/>
                        <a:defRPr/>
                      </a:pPr>
                      <a:r>
                        <a:rPr lang="hr-HR" sz="2000">
                          <a:latin typeface="Tw Cen MT"/>
                        </a:rPr>
                        <a:t>Global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l">
                        <a:buNone/>
                        <a:defRPr/>
                      </a:pPr>
                      <a:r>
                        <a:rPr lang="hr-HR" sz="2000">
                          <a:latin typeface="Tw Cen MT"/>
                        </a:rPr>
                        <a:t>80%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l">
                        <a:buNone/>
                        <a:defRPr/>
                      </a:pPr>
                      <a:r>
                        <a:rPr lang="hr-HR" sz="2000">
                          <a:latin typeface="Tw Cen MT"/>
                        </a:rPr>
                        <a:t>75.58%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l">
                        <a:buNone/>
                        <a:defRPr/>
                      </a:pPr>
                      <a:r>
                        <a:rPr lang="hr-HR" sz="2000">
                          <a:latin typeface="Tw Cen MT"/>
                        </a:rPr>
                        <a:t>73.78%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l">
                        <a:buNone/>
                        <a:defRPr/>
                      </a:pPr>
                      <a:r>
                        <a:rPr lang="hr-HR" sz="2000">
                          <a:latin typeface="Tw Cen MT"/>
                        </a:rPr>
                        <a:t>75.41%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l">
                        <a:buNone/>
                        <a:defRPr/>
                      </a:pPr>
                      <a:r>
                        <a:rPr lang="hr-HR" sz="2000">
                          <a:latin typeface="Tw Cen MT"/>
                        </a:rPr>
                        <a:t>-0.17%</a:t>
                      </a:r>
                      <a:endParaRPr/>
                    </a:p>
                  </a:txBody>
                  <a:tcPr anchor="ctr"/>
                </a:tc>
              </a:tr>
              <a:tr h="0">
                <a:tc>
                  <a:txBody>
                    <a:bodyPr/>
                    <a:p>
                      <a:pPr algn="l">
                        <a:buNone/>
                        <a:defRPr/>
                      </a:pPr>
                      <a:r>
                        <a:rPr lang="hr-HR" sz="2000">
                          <a:latin typeface="Tw Cen MT"/>
                        </a:rPr>
                        <a:t>Per-layer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l">
                        <a:buNone/>
                        <a:defRPr/>
                      </a:pPr>
                      <a:r>
                        <a:rPr lang="hr-HR" sz="2000">
                          <a:latin typeface="Tw Cen MT"/>
                        </a:rPr>
                        <a:t>80%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l">
                        <a:buNone/>
                        <a:defRPr/>
                      </a:pPr>
                      <a:r>
                        <a:rPr lang="hr-HR" sz="2000">
                          <a:latin typeface="Tw Cen MT"/>
                        </a:rPr>
                        <a:t>75.58%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l">
                        <a:buNone/>
                        <a:defRPr/>
                      </a:pPr>
                      <a:r>
                        <a:rPr lang="hr-HR" sz="2000">
                          <a:latin typeface="Tw Cen MT"/>
                        </a:rPr>
                        <a:t>15.10%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l">
                        <a:buNone/>
                        <a:defRPr/>
                      </a:pPr>
                      <a:r>
                        <a:rPr lang="hr-HR" sz="2000">
                          <a:latin typeface="Tw Cen MT"/>
                        </a:rPr>
                        <a:t>69.23%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l">
                        <a:buNone/>
                        <a:defRPr/>
                      </a:pPr>
                      <a:r>
                        <a:rPr lang="hr-HR" sz="2000">
                          <a:latin typeface="Tw Cen MT"/>
                        </a:rPr>
                        <a:t>-6.35%</a:t>
                      </a:r>
                      <a:endParaRPr/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3339718" name="Rectangle 1"/>
          <p:cNvSpPr/>
          <p:nvPr/>
        </p:nvSpPr>
        <p:spPr bwMode="auto">
          <a:xfrm>
            <a:off x="502920" y="576072"/>
            <a:ext cx="18288" cy="594360"/>
          </a:xfrm>
          <a:prstGeom prst="rect">
            <a:avLst/>
          </a:prstGeom>
          <a:solidFill>
            <a:srgbClr val="1FA7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sz="1800" b="0" i="0" u="none" strike="noStrike" cap="none" spc="0">
              <a:ln>
                <a:noFill/>
              </a:ln>
              <a:solidFill>
                <a:prstClr val="white"/>
              </a:solidFill>
              <a:latin typeface="Calibri"/>
              <a:ea typeface="Arial"/>
              <a:cs typeface="Arial"/>
            </a:endParaRPr>
          </a:p>
        </p:txBody>
      </p:sp>
      <p:sp>
        <p:nvSpPr>
          <p:cNvPr id="1916166445" name="TextBox 2"/>
          <p:cNvSpPr txBox="1"/>
          <p:nvPr/>
        </p:nvSpPr>
        <p:spPr bwMode="auto">
          <a:xfrm>
            <a:off x="773914" y="442365"/>
            <a:ext cx="2841291" cy="861773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defTabSz="457200">
              <a:defRPr sz="3200" b="0">
                <a:solidFill>
                  <a:srgbClr val="000000"/>
                </a:solidFill>
                <a:latin typeface="Calibri Light"/>
              </a:defRPr>
            </a:pPr>
            <a:r>
              <a:rPr lang="en-US" sz="5000">
                <a:latin typeface="Tw Cen MT Condensed"/>
                <a:ea typeface="Calibri Light"/>
                <a:cs typeface="Calibri Light"/>
              </a:rPr>
              <a:t>KVANTIZACIJA</a:t>
            </a:r>
            <a:endParaRPr/>
          </a:p>
        </p:txBody>
      </p:sp>
      <p:sp>
        <p:nvSpPr>
          <p:cNvPr id="1184713322" name="Rectangle 3"/>
          <p:cNvSpPr/>
          <p:nvPr/>
        </p:nvSpPr>
        <p:spPr bwMode="auto">
          <a:xfrm>
            <a:off x="822960" y="1828800"/>
            <a:ext cx="2743200" cy="1097280"/>
          </a:xfrm>
          <a:prstGeom prst="rect">
            <a:avLst/>
          </a:prstGeom>
          <a:solidFill>
            <a:srgbClr val="1FA7D6"/>
          </a:solidFill>
          <a:ln w="15875">
            <a:solidFill>
              <a:srgbClr val="1FA7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457200">
              <a:defRPr/>
            </a:pPr>
            <a:r>
              <a:rPr sz="1800" b="0" i="0" u="none" strike="noStrike" cap="none" spc="0">
                <a:ln>
                  <a:noFill/>
                </a:ln>
                <a:solidFill>
                  <a:srgbClr val="FFFFFF"/>
                </a:solidFill>
                <a:latin typeface="Calibri"/>
                <a:ea typeface="Arial"/>
                <a:cs typeface="Arial"/>
              </a:rPr>
              <a:t>INPUT</a:t>
            </a:r>
            <a:br>
              <a:rPr sz="1800" b="0" i="0" u="none" strike="noStrike" cap="none" spc="0">
                <a:ln>
                  <a:noFill/>
                </a:ln>
                <a:solidFill>
                  <a:srgbClr val="FFFFFF"/>
                </a:solidFill>
                <a:latin typeface="Calibri"/>
                <a:ea typeface="Arial"/>
                <a:cs typeface="Arial"/>
              </a:rPr>
            </a:br>
            <a:r>
              <a:rPr sz="1800" b="0" i="0" u="none" strike="noStrike" cap="none" spc="0">
                <a:ln>
                  <a:noFill/>
                </a:ln>
                <a:solidFill>
                  <a:srgbClr val="FFFFFF"/>
                </a:solidFill>
                <a:latin typeface="Calibri"/>
                <a:ea typeface="Arial"/>
                <a:cs typeface="Arial"/>
              </a:rPr>
              <a:t>Fruits-360 </a:t>
            </a:r>
            <a:r>
              <a:rPr sz="1800" b="0" i="0" u="none" strike="noStrike" cap="none" spc="0">
                <a:ln>
                  <a:noFill/>
                </a:ln>
                <a:solidFill>
                  <a:srgbClr val="FFFFFF"/>
                </a:solidFill>
                <a:latin typeface="Calibri"/>
                <a:ea typeface="Arial"/>
                <a:cs typeface="Arial"/>
              </a:rPr>
              <a:t>slike</a:t>
            </a:r>
            <a:endParaRPr lang="en-US">
              <a:solidFill>
                <a:srgbClr val="FFFFFF"/>
              </a:solidFill>
              <a:latin typeface="Calibri"/>
            </a:endParaRPr>
          </a:p>
          <a:p>
            <a:pPr algn="ctr" defTabSz="457200">
              <a:defRPr/>
            </a:pPr>
            <a:r>
              <a:rPr lang="en-US">
                <a:solidFill>
                  <a:srgbClr val="FFFFFF"/>
                </a:solidFill>
                <a:latin typeface="Calibri"/>
              </a:rPr>
              <a:t>cnn_fruits.npz</a:t>
            </a:r>
            <a:endParaRPr lang="en-US" b="0" i="0" u="none" strike="noStrike" cap="none" spc="0">
              <a:ln>
                <a:noFill/>
              </a:ln>
              <a:solidFill>
                <a:srgbClr val="FFFFFF"/>
              </a:solidFill>
              <a:latin typeface="Calibri"/>
              <a:ea typeface="Calibri"/>
              <a:cs typeface="Calibri"/>
            </a:endParaRPr>
          </a:p>
        </p:txBody>
      </p:sp>
      <p:cxnSp>
        <p:nvCxnSpPr>
          <p:cNvPr id="945814281" name="Connector 4"/>
          <p:cNvCxnSpPr/>
          <p:nvPr/>
        </p:nvCxnSpPr>
        <p:spPr bwMode="auto">
          <a:xfrm>
            <a:off x="3566160" y="2377440"/>
            <a:ext cx="594360" cy="0"/>
          </a:xfrm>
          <a:prstGeom prst="line">
            <a:avLst/>
          </a:prstGeom>
          <a:ln w="25400">
            <a:solidFill>
              <a:srgbClr val="1FA7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9976388" name="Rectangle 5"/>
          <p:cNvSpPr/>
          <p:nvPr/>
        </p:nvSpPr>
        <p:spPr bwMode="auto">
          <a:xfrm>
            <a:off x="4160518" y="1828800"/>
            <a:ext cx="3017518" cy="1097280"/>
          </a:xfrm>
          <a:prstGeom prst="rect">
            <a:avLst/>
          </a:prstGeom>
          <a:solidFill>
            <a:srgbClr val="FFFFFF"/>
          </a:solidFill>
          <a:ln w="15875">
            <a:solidFill>
              <a:srgbClr val="1FA7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457200">
              <a:defRPr/>
            </a:pPr>
            <a:r>
              <a:rPr lang="en-US">
                <a:solidFill>
                  <a:srgbClr val="000000"/>
                </a:solidFill>
                <a:latin typeface="Calibri"/>
              </a:rPr>
              <a:t>person4</a:t>
            </a:r>
            <a:r>
              <a:rPr sz="1800" b="0" i="0" u="none" strike="noStrike" cap="none" spc="0">
                <a:ln>
                  <a:noFill/>
                </a:ln>
                <a:solidFill>
                  <a:srgbClr val="000000"/>
                </a:solidFill>
                <a:latin typeface="Calibri"/>
                <a:ea typeface="Arial"/>
                <a:cs typeface="Arial"/>
              </a:rPr>
              <a:t>_</a:t>
            </a:r>
            <a:r>
              <a:rPr lang="en-US">
                <a:solidFill>
                  <a:srgbClr val="000000"/>
                </a:solidFill>
                <a:latin typeface="Calibri"/>
              </a:rPr>
              <a:t>quantization</a:t>
            </a:r>
            <a:r>
              <a:rPr sz="1800" b="0" i="0" u="none" strike="noStrike" cap="none" spc="0">
                <a:ln>
                  <a:noFill/>
                </a:ln>
                <a:solidFill>
                  <a:srgbClr val="000000"/>
                </a:solidFill>
                <a:latin typeface="Calibri"/>
                <a:ea typeface="Arial"/>
                <a:cs typeface="Arial"/>
              </a:rPr>
              <a:t>.py</a:t>
            </a:r>
            <a:br>
              <a:rPr sz="1800" b="0" i="0" u="none" strike="noStrike" cap="none" spc="0">
                <a:ln>
                  <a:noFill/>
                </a:ln>
                <a:solidFill>
                  <a:srgbClr val="000000"/>
                </a:solidFill>
                <a:latin typeface="Calibri"/>
                <a:ea typeface="Arial"/>
                <a:cs typeface="Arial"/>
              </a:rPr>
            </a:br>
            <a:r>
              <a:rPr lang="en-US">
                <a:solidFill>
                  <a:srgbClr val="000000"/>
                </a:solidFill>
                <a:latin typeface="Calibri"/>
              </a:rPr>
              <a:t>kvantizacija</a:t>
            </a:r>
            <a:r>
              <a:rPr lang="en-US">
                <a:solidFill>
                  <a:srgbClr val="000000"/>
                </a:solidFill>
                <a:latin typeface="Calibri"/>
              </a:rPr>
              <a:t> </a:t>
            </a:r>
            <a:r>
              <a:rPr lang="en-US">
                <a:solidFill>
                  <a:srgbClr val="000000"/>
                </a:solidFill>
                <a:latin typeface="Calibri"/>
              </a:rPr>
              <a:t>modela</a:t>
            </a:r>
            <a:br>
              <a:rPr sz="1800" b="0" i="0" u="none" strike="noStrike" cap="none" spc="0">
                <a:ln>
                  <a:noFill/>
                </a:ln>
                <a:solidFill>
                  <a:srgbClr val="000000"/>
                </a:solidFill>
                <a:latin typeface="Calibri"/>
                <a:ea typeface="Arial"/>
                <a:cs typeface="Arial"/>
              </a:rPr>
            </a:br>
            <a:r>
              <a:rPr lang="en-US">
                <a:solidFill>
                  <a:srgbClr val="000000"/>
                </a:solidFill>
                <a:latin typeface="Calibri"/>
              </a:rPr>
              <a:t>provjera</a:t>
            </a:r>
            <a:r>
              <a:rPr lang="en-US">
                <a:solidFill>
                  <a:srgbClr val="000000"/>
                </a:solidFill>
                <a:latin typeface="Calibri"/>
              </a:rPr>
              <a:t> </a:t>
            </a:r>
            <a:r>
              <a:rPr lang="en-US">
                <a:solidFill>
                  <a:srgbClr val="000000"/>
                </a:solidFill>
                <a:latin typeface="Calibri"/>
              </a:rPr>
              <a:t>performansi</a:t>
            </a:r>
            <a:endParaRPr lang="en-US" sz="1800" b="0" i="0" u="none" strike="noStrike" cap="none" spc="0">
              <a:ln>
                <a:noFill/>
              </a:ln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  <p:cxnSp>
        <p:nvCxnSpPr>
          <p:cNvPr id="1222565090" name="Connector 6"/>
          <p:cNvCxnSpPr/>
          <p:nvPr/>
        </p:nvCxnSpPr>
        <p:spPr bwMode="auto">
          <a:xfrm>
            <a:off x="7178038" y="2377440"/>
            <a:ext cx="594360" cy="0"/>
          </a:xfrm>
          <a:prstGeom prst="line">
            <a:avLst/>
          </a:prstGeom>
          <a:ln w="25400">
            <a:solidFill>
              <a:srgbClr val="1FA7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9830909" name="Rectangle 7"/>
          <p:cNvSpPr/>
          <p:nvPr/>
        </p:nvSpPr>
        <p:spPr bwMode="auto">
          <a:xfrm>
            <a:off x="7772400" y="1828800"/>
            <a:ext cx="2743200" cy="1097280"/>
          </a:xfrm>
          <a:prstGeom prst="rect">
            <a:avLst/>
          </a:prstGeom>
          <a:solidFill>
            <a:srgbClr val="FFFFFF"/>
          </a:solidFill>
          <a:ln w="15875">
            <a:solidFill>
              <a:srgbClr val="1FA7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marL="0" marR="0" lvl="0" indent="0" algn="ctr" defTabSz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sz="1700" b="0" i="0" u="none" strike="noStrike" cap="none" spc="0">
                <a:ln>
                  <a:noFill/>
                </a:ln>
                <a:solidFill>
                  <a:srgbClr val="000000"/>
                </a:solidFill>
                <a:latin typeface="Calibri"/>
                <a:ea typeface="Arial"/>
                <a:cs typeface="Arial"/>
              </a:rPr>
              <a:t>OUTPUT</a:t>
            </a:r>
            <a:br>
              <a:rPr sz="1700" b="0" i="0" u="none" strike="noStrike" cap="none" spc="0">
                <a:ln>
                  <a:noFill/>
                </a:ln>
                <a:solidFill>
                  <a:srgbClr val="000000"/>
                </a:solidFill>
                <a:latin typeface="Calibri"/>
                <a:ea typeface="Arial"/>
                <a:cs typeface="Arial"/>
              </a:rPr>
            </a:br>
            <a:r>
              <a:rPr sz="1700" b="0" i="0" u="none" strike="noStrike" cap="none" spc="0">
                <a:ln>
                  <a:noFill/>
                </a:ln>
                <a:solidFill>
                  <a:srgbClr val="000000"/>
                </a:solidFill>
                <a:latin typeface="Calibri"/>
                <a:ea typeface="Arial"/>
                <a:cs typeface="Arial"/>
              </a:rPr>
              <a:t>cnn_</a:t>
            </a:r>
            <a:r>
              <a:rPr lang="en-US" sz="1700">
                <a:solidFill>
                  <a:srgbClr val="000000"/>
                </a:solidFill>
                <a:latin typeface="Calibri"/>
              </a:rPr>
              <a:t>quantized</a:t>
            </a:r>
            <a:r>
              <a:rPr sz="1700" b="0" i="0" u="none" strike="noStrike" cap="none" spc="0">
                <a:ln>
                  <a:noFill/>
                </a:ln>
                <a:solidFill>
                  <a:srgbClr val="000000"/>
                </a:solidFill>
                <a:latin typeface="Calibri"/>
                <a:ea typeface="Arial"/>
                <a:cs typeface="Arial"/>
              </a:rPr>
              <a:t>.npz</a:t>
            </a:r>
            <a:endParaRPr lang="en-US" sz="1700" b="0" i="0" u="none" strike="noStrike" cap="none" spc="0">
              <a:ln>
                <a:noFill/>
              </a:ln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473832084" name="Rounded Rectangle 8"/>
          <p:cNvSpPr/>
          <p:nvPr/>
        </p:nvSpPr>
        <p:spPr bwMode="auto">
          <a:xfrm>
            <a:off x="914400" y="3840480"/>
            <a:ext cx="9875520" cy="12801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1FA7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09728" rIns="109728" bIns="109728" rtlCol="0" anchor="ctr"/>
          <a:lstStyle/>
          <a:p>
            <a:pPr algn="ctr" defTabSz="457200">
              <a:spcAft>
                <a:spcPts val="398"/>
              </a:spcAft>
              <a:defRPr sz="1800">
                <a:solidFill>
                  <a:srgbClr val="000000"/>
                </a:solidFill>
                <a:latin typeface="Calibri"/>
              </a:defRPr>
            </a:pPr>
            <a:r>
              <a:rPr sz="2000" b="1" i="0" u="none" strike="noStrike" cap="none" spc="0">
                <a:ln>
                  <a:noFill/>
                </a:ln>
                <a:solidFill>
                  <a:srgbClr val="000000"/>
                </a:solidFill>
                <a:latin typeface="Calibri"/>
                <a:ea typeface="Arial"/>
                <a:cs typeface="Arial"/>
              </a:rPr>
              <a:t>Uloga</a:t>
            </a:r>
            <a:r>
              <a:rPr sz="2000" b="0" i="0" u="none" strike="noStrike" cap="none" spc="0">
                <a:ln>
                  <a:noFill/>
                </a:ln>
                <a:solidFill>
                  <a:srgbClr val="000000"/>
                </a:solidFill>
                <a:latin typeface="Calibri"/>
                <a:ea typeface="Arial"/>
                <a:cs typeface="Arial"/>
              </a:rPr>
              <a:t>: </a:t>
            </a:r>
            <a:r>
              <a:rPr lang="en-US" sz="2000">
                <a:solidFill>
                  <a:srgbClr val="000000"/>
                </a:solidFill>
                <a:latin typeface="Calibri"/>
              </a:rPr>
              <a:t>smanjiti</a:t>
            </a:r>
            <a:r>
              <a:rPr lang="en-US" sz="2000">
                <a:solidFill>
                  <a:srgbClr val="000000"/>
                </a:solidFill>
                <a:latin typeface="Calibri"/>
              </a:rPr>
              <a:t> </a:t>
            </a:r>
            <a:r>
              <a:rPr lang="en-US" sz="2000">
                <a:solidFill>
                  <a:srgbClr val="000000"/>
                </a:solidFill>
                <a:latin typeface="Calibri"/>
              </a:rPr>
              <a:t>veličinu</a:t>
            </a:r>
            <a:r>
              <a:rPr lang="en-US" sz="2000">
                <a:solidFill>
                  <a:srgbClr val="000000"/>
                </a:solidFill>
                <a:latin typeface="Calibri"/>
              </a:rPr>
              <a:t> </a:t>
            </a:r>
            <a:r>
              <a:rPr lang="en-US" sz="2000">
                <a:solidFill>
                  <a:srgbClr val="000000"/>
                </a:solidFill>
                <a:latin typeface="Calibri"/>
              </a:rPr>
              <a:t>modela</a:t>
            </a:r>
            <a:r>
              <a:rPr lang="en-US" sz="2000">
                <a:solidFill>
                  <a:srgbClr val="000000"/>
                </a:solidFill>
                <a:latin typeface="Calibri"/>
              </a:rPr>
              <a:t> s </a:t>
            </a:r>
            <a:r>
              <a:rPr lang="en-US" sz="2000">
                <a:solidFill>
                  <a:srgbClr val="000000"/>
                </a:solidFill>
                <a:latin typeface="Calibri"/>
              </a:rPr>
              <a:t>kvantizacijom</a:t>
            </a:r>
            <a:r>
              <a:rPr lang="en-US" sz="2000">
                <a:solidFill>
                  <a:srgbClr val="000000"/>
                </a:solidFill>
                <a:latin typeface="Calibri"/>
              </a:rPr>
              <a:t> </a:t>
            </a:r>
            <a:r>
              <a:rPr lang="en-US" sz="2000">
                <a:solidFill>
                  <a:srgbClr val="000000"/>
                </a:solidFill>
                <a:latin typeface="Calibri"/>
              </a:rPr>
              <a:t>uz</a:t>
            </a:r>
            <a:r>
              <a:rPr lang="en-US" sz="2000">
                <a:solidFill>
                  <a:srgbClr val="000000"/>
                </a:solidFill>
                <a:latin typeface="Calibri"/>
              </a:rPr>
              <a:t> </a:t>
            </a:r>
            <a:r>
              <a:rPr lang="en-US" sz="2000">
                <a:solidFill>
                  <a:srgbClr val="000000"/>
                </a:solidFill>
                <a:latin typeface="Calibri"/>
              </a:rPr>
              <a:t>minimalan</a:t>
            </a:r>
            <a:r>
              <a:rPr lang="en-US" sz="2000">
                <a:solidFill>
                  <a:srgbClr val="000000"/>
                </a:solidFill>
                <a:latin typeface="Calibri"/>
              </a:rPr>
              <a:t> </a:t>
            </a:r>
            <a:r>
              <a:rPr lang="en-US" sz="2000">
                <a:solidFill>
                  <a:srgbClr val="000000"/>
                </a:solidFill>
                <a:latin typeface="Calibri"/>
              </a:rPr>
              <a:t>gubitak</a:t>
            </a:r>
            <a:r>
              <a:rPr lang="en-US" sz="2000">
                <a:solidFill>
                  <a:srgbClr val="000000"/>
                </a:solidFill>
                <a:latin typeface="Calibri"/>
              </a:rPr>
              <a:t> </a:t>
            </a:r>
            <a:r>
              <a:rPr lang="en-US" sz="2000">
                <a:solidFill>
                  <a:srgbClr val="000000"/>
                </a:solidFill>
                <a:latin typeface="Calibri"/>
              </a:rPr>
              <a:t>točnosti</a:t>
            </a:r>
            <a:r>
              <a:rPr lang="en-US" sz="2000">
                <a:solidFill>
                  <a:srgbClr val="000000"/>
                </a:solidFill>
                <a:latin typeface="Calibri"/>
              </a:rPr>
              <a:t> </a:t>
            </a:r>
            <a:endParaRPr lang="en-US" sz="2000" b="0" i="0" u="none" strike="noStrike" cap="none" spc="0">
              <a:ln>
                <a:noFill/>
              </a:ln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842382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 sz="5000" b="0" i="0" u="none" strike="noStrike" cap="all" spc="99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+mj-ea"/>
                <a:cs typeface="+mj-cs"/>
              </a:rPr>
              <a:t>Algoritam</a:t>
            </a:r>
            <a:endParaRPr/>
          </a:p>
        </p:txBody>
      </p:sp>
      <p:sp>
        <p:nvSpPr>
          <p:cNvPr id="18258931" name="Content Placeholder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45720" tIns="45720" rIns="45720" bIns="45720" numCol="1" spcCol="0" rtlCol="0" fromWordArt="0" anchor="t" anchorCtr="0" forceAA="0" upright="0" compatLnSpc="0">
            <a:normAutofit fontScale="95000" lnSpcReduction="1000"/>
          </a:bodyPr>
          <a:lstStyle/>
          <a:p>
            <a:pPr>
              <a:buClr>
                <a:schemeClr val="accent1"/>
              </a:buClr>
              <a:buSzPct val="100000"/>
              <a:buFont typeface="Arial"/>
              <a:buChar char="•"/>
              <a:defRPr/>
            </a:pPr>
            <a:r>
              <a:rPr lang="en-US" sz="2200" b="1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 Korak 1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: 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Prebrojiti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 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odgovarajuće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 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min_value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 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i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 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max_value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 u 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ulaznim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 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podacima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 (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težine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 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ili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 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aktivacijske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 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vrijednosti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)</a:t>
            </a:r>
            <a:endParaRPr sz="2200"/>
          </a:p>
          <a:p>
            <a:pPr>
              <a:buClr>
                <a:schemeClr val="accent1"/>
              </a:buClr>
              <a:buSzPct val="100000"/>
              <a:buFont typeface="Arial"/>
              <a:buChar char="•"/>
              <a:defRPr/>
            </a:pPr>
            <a:r>
              <a:rPr lang="en-US" sz="2200" b="1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 Korak 2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: 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Odabrati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 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odgovarajuću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 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vrstu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 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kvantizacije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, 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simetričnu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 (int-8) 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ili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 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asimetričnu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 (uint-8);</a:t>
            </a:r>
            <a:endParaRPr sz="2200"/>
          </a:p>
          <a:p>
            <a:pPr>
              <a:buClr>
                <a:schemeClr val="accent1"/>
              </a:buClr>
              <a:buSzPct val="100000"/>
              <a:buFont typeface="Arial"/>
              <a:buChar char="•"/>
              <a:defRPr/>
            </a:pPr>
            <a:r>
              <a:rPr lang="en-US" sz="2200" b="1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 Korak 3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: 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Izračunati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 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parametre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 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kvantizacije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 Z (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Nulta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 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točka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) 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i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 S (Skala) 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prema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 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vrsti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 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kvantizacije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, 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min_value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 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i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 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max_value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;</a:t>
            </a:r>
            <a:endParaRPr sz="2200"/>
          </a:p>
          <a:p>
            <a:pPr>
              <a:buClr>
                <a:schemeClr val="accent1"/>
              </a:buClr>
              <a:buSzPct val="100000"/>
              <a:buFont typeface="Arial"/>
              <a:buChar char="•"/>
              <a:defRPr/>
            </a:pPr>
            <a:r>
              <a:rPr lang="en-US" sz="2200" b="1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 Korak 4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: 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Kvantizirati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 model 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na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 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temelju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 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kalibracijskih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 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podataka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, 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pretvorenih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 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iz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 FP32 u INT-8;</a:t>
            </a:r>
            <a:endParaRPr sz="2200"/>
          </a:p>
          <a:p>
            <a:pPr>
              <a:buClr>
                <a:schemeClr val="accent1"/>
              </a:buClr>
              <a:buSzPct val="100000"/>
              <a:buFont typeface="Arial"/>
              <a:buChar char="•"/>
              <a:defRPr/>
            </a:pPr>
            <a:r>
              <a:rPr lang="en-US" sz="2200" b="1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 Korak 5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: 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Provjeriti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 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performanse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 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kvantiziranog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 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modela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 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i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 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ako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 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rezultat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 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nije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 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dobar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, 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pokušati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 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koristiti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 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drugi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 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način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 za 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izračun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 S 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i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 Z 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te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 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ponavljati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 do 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dobrog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 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rezultata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Tw Cen MT"/>
                <a:cs typeface="Tw Cen MT"/>
              </a:rPr>
              <a:t>.</a:t>
            </a:r>
            <a:endParaRPr sz="2200"/>
          </a:p>
          <a:p>
            <a:pPr>
              <a:buClr>
                <a:schemeClr val="accent1"/>
              </a:buClr>
              <a:buSzPct val="100000"/>
              <a:buFont typeface="Arial"/>
              <a:buChar char="•"/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296475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 sz="5000" b="0" i="0" u="none" strike="noStrike" cap="all" spc="99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+mj-ea"/>
                <a:cs typeface="+mj-cs"/>
              </a:rPr>
              <a:t>Implementacija</a:t>
            </a:r>
            <a:r>
              <a:rPr/>
              <a:t> 1/2</a:t>
            </a:r>
            <a:endParaRPr/>
          </a:p>
        </p:txBody>
      </p:sp>
      <p:pic>
        <p:nvPicPr>
          <p:cNvPr id="1188565603" name="Picture 5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3841749" y="1810066"/>
            <a:ext cx="6438897" cy="962023"/>
          </a:xfrm>
          <a:prstGeom prst="rect">
            <a:avLst/>
          </a:prstGeom>
        </p:spPr>
      </p:pic>
      <p:pic>
        <p:nvPicPr>
          <p:cNvPr id="1878569560" name="Picture 7" descr="A screen shot of a computer program&#10;&#10;AI-generated content may be incorrect.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3608388" y="2920998"/>
            <a:ext cx="6905624" cy="3352798"/>
          </a:xfrm>
          <a:prstGeom prst="rect">
            <a:avLst/>
          </a:prstGeom>
        </p:spPr>
      </p:pic>
      <p:sp>
        <p:nvSpPr>
          <p:cNvPr id="1547228081" name="Rounded Rectangle 8"/>
          <p:cNvSpPr/>
          <p:nvPr/>
        </p:nvSpPr>
        <p:spPr bwMode="auto">
          <a:xfrm>
            <a:off x="690878" y="2011680"/>
            <a:ext cx="2631438" cy="55879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1FA7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09728" rIns="109728" bIns="109728" rtlCol="0" anchor="ctr"/>
          <a:lstStyle/>
          <a:p>
            <a:pPr algn="ctr" defTabSz="457200">
              <a:spcAft>
                <a:spcPts val="397"/>
              </a:spcAft>
              <a:defRPr sz="1800">
                <a:solidFill>
                  <a:srgbClr val="000000"/>
                </a:solidFill>
                <a:latin typeface="Calibri"/>
              </a:defRPr>
            </a:pPr>
            <a:r>
              <a:rPr lang="en-US" b="1">
                <a:solidFill>
                  <a:srgbClr val="000000"/>
                </a:solidFill>
                <a:latin typeface="Calibri"/>
              </a:rPr>
              <a:t>Kvantizacija</a:t>
            </a:r>
            <a:r>
              <a:rPr lang="en-US" b="1">
                <a:solidFill>
                  <a:srgbClr val="000000"/>
                </a:solidFill>
                <a:latin typeface="Calibri"/>
              </a:rPr>
              <a:t> </a:t>
            </a:r>
            <a:r>
              <a:rPr lang="en-US" b="1">
                <a:solidFill>
                  <a:srgbClr val="000000"/>
                </a:solidFill>
                <a:latin typeface="Calibri"/>
              </a:rPr>
              <a:t>modela</a:t>
            </a:r>
            <a:endParaRPr lang="en-US"/>
          </a:p>
        </p:txBody>
      </p:sp>
      <p:sp>
        <p:nvSpPr>
          <p:cNvPr id="2015631865" name="Rounded Rectangle 8"/>
          <p:cNvSpPr/>
          <p:nvPr/>
        </p:nvSpPr>
        <p:spPr bwMode="auto">
          <a:xfrm>
            <a:off x="690878" y="2997198"/>
            <a:ext cx="2631438" cy="55879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1FA7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09728" rIns="109728" bIns="109728" rtlCol="0" anchor="ctr"/>
          <a:lstStyle/>
          <a:p>
            <a:pPr algn="ctr" defTabSz="457200">
              <a:spcAft>
                <a:spcPts val="397"/>
              </a:spcAft>
              <a:defRPr sz="1800">
                <a:solidFill>
                  <a:srgbClr val="000000"/>
                </a:solidFill>
                <a:latin typeface="Calibri"/>
              </a:defRPr>
            </a:pPr>
            <a:r>
              <a:rPr lang="en-US" b="1">
                <a:solidFill>
                  <a:srgbClr val="000000"/>
                </a:solidFill>
                <a:latin typeface="Calibri"/>
              </a:rPr>
              <a:t>Kvantizacija</a:t>
            </a:r>
            <a:r>
              <a:rPr lang="en-US" b="1">
                <a:solidFill>
                  <a:srgbClr val="000000"/>
                </a:solidFill>
                <a:latin typeface="Calibri"/>
              </a:rPr>
              <a:t> </a:t>
            </a:r>
            <a:r>
              <a:rPr lang="en-US" b="1">
                <a:solidFill>
                  <a:srgbClr val="000000"/>
                </a:solidFill>
                <a:latin typeface="Calibri"/>
              </a:rPr>
              <a:t>sloja</a:t>
            </a: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208107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 sz="5000" b="0" i="0" u="none" strike="noStrike" cap="all" spc="99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+mj-ea"/>
                <a:cs typeface="+mj-cs"/>
              </a:rPr>
              <a:t>Implementacija</a:t>
            </a:r>
            <a:r>
              <a:rPr/>
              <a:t> 2/2</a:t>
            </a:r>
            <a:endParaRPr/>
          </a:p>
        </p:txBody>
      </p:sp>
      <p:pic>
        <p:nvPicPr>
          <p:cNvPr id="604393247" name="Picture 2" descr="A computer screen shot of a program&#10;&#10;AI-generated content may be incorrect.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884227" y="1684653"/>
            <a:ext cx="5686425" cy="4362448"/>
          </a:xfrm>
          <a:prstGeom prst="rect">
            <a:avLst/>
          </a:prstGeom>
        </p:spPr>
      </p:pic>
      <p:pic>
        <p:nvPicPr>
          <p:cNvPr id="1971925023" name="Picture 4" descr="A screen shot of a computer program&#10;&#10;AI-generated content may be incorrect.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602613" y="2461258"/>
            <a:ext cx="5276848" cy="3581398"/>
          </a:xfrm>
          <a:prstGeom prst="rect">
            <a:avLst/>
          </a:prstGeom>
        </p:spPr>
      </p:pic>
      <p:sp>
        <p:nvSpPr>
          <p:cNvPr id="2098180410" name="Rounded Rectangle 8"/>
          <p:cNvSpPr/>
          <p:nvPr/>
        </p:nvSpPr>
        <p:spPr bwMode="auto">
          <a:xfrm>
            <a:off x="1727199" y="1798317"/>
            <a:ext cx="2631438" cy="55879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1FA7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09728" rIns="109728" bIns="109728" rtlCol="0" anchor="ctr"/>
          <a:lstStyle/>
          <a:p>
            <a:pPr algn="ctr" defTabSz="457200">
              <a:spcAft>
                <a:spcPts val="397"/>
              </a:spcAft>
              <a:defRPr sz="1800">
                <a:solidFill>
                  <a:srgbClr val="000000"/>
                </a:solidFill>
                <a:latin typeface="Calibri"/>
              </a:defRPr>
            </a:pPr>
            <a:r>
              <a:rPr lang="en-US" b="1">
                <a:solidFill>
                  <a:srgbClr val="000000"/>
                </a:solidFill>
                <a:latin typeface="Calibri"/>
              </a:rPr>
              <a:t>Parametri</a:t>
            </a:r>
            <a:r>
              <a:rPr lang="en-US" b="1">
                <a:solidFill>
                  <a:srgbClr val="000000"/>
                </a:solidFill>
                <a:latin typeface="Calibri"/>
              </a:rPr>
              <a:t> </a:t>
            </a:r>
            <a:r>
              <a:rPr lang="en-US" b="1">
                <a:solidFill>
                  <a:srgbClr val="000000"/>
                </a:solidFill>
                <a:latin typeface="Calibri"/>
              </a:rPr>
              <a:t>kvantizacije</a:t>
            </a: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578088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 sz="5000" b="0" i="0" u="none" strike="noStrike" cap="all" spc="99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+mj-ea"/>
                <a:cs typeface="+mj-cs"/>
              </a:rPr>
              <a:t>Rezultati</a:t>
            </a:r>
            <a:endParaRPr/>
          </a:p>
        </p:txBody>
      </p:sp>
      <p:graphicFrame>
        <p:nvGraphicFramePr>
          <p:cNvPr id="2140023755" name="Content Placeholder 3"/>
          <p:cNvGraphicFramePr>
            <a:graphicFrameLocks xmlns:a="http://schemas.openxmlformats.org/drawingml/2006/main"/>
          </p:cNvGraphicFramePr>
          <p:nvPr/>
        </p:nvGraphicFramePr>
        <p:xfrm rot="0">
          <a:off x="1235874" y="1935500"/>
          <a:ext cx="9720252" cy="4089488"/>
        </p:xfrm>
        <a:graphic>
          <a:graphicData uri="http://schemas.openxmlformats.org/drawingml/2006/table">
            <a:tbl>
              <a:tblPr firstRow="1" firstCol="0" lastRow="0" lastCol="0" bandRow="1" bandCol="0">
                <a:tableStyleId>{35758FB7-9AC5-4552-8A53-C91805E547FA}</a:tableStyleId>
              </a:tblPr>
              <a:tblGrid>
                <a:gridCol w="4538867"/>
                <a:gridCol w="2573127"/>
                <a:gridCol w="2608255"/>
              </a:tblGrid>
              <a:tr h="584213">
                <a:tc>
                  <a:txBody>
                    <a:bodyPr/>
                    <a:p>
                      <a:pPr>
                        <a:defRPr/>
                      </a:pPr>
                      <a:endParaRPr>
                        <a:solidFill>
                          <a:srgbClr val="00B0F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US" sz="2400"/>
                        <a:t>Original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US" sz="2400"/>
                        <a:t>Quantized</a:t>
                      </a:r>
                      <a:endParaRPr/>
                    </a:p>
                  </a:txBody>
                  <a:tcPr/>
                </a:tc>
              </a:tr>
              <a:tr h="584213">
                <a:tc>
                  <a:txBody>
                    <a:bodyPr/>
                    <a:p>
                      <a:pPr>
                        <a:defRPr/>
                      </a:pPr>
                      <a:r>
                        <a:rPr lang="en-US" sz="2400"/>
                        <a:t>Točnost</a:t>
                      </a:r>
                      <a:r>
                        <a:rPr lang="en-US" sz="2400"/>
                        <a:t> / Accuracy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US" sz="2400"/>
                        <a:t>71.97%</a:t>
                      </a:r>
                      <a:endParaRPr lang="en-US" sz="2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US" sz="2400"/>
                        <a:t>71.90%</a:t>
                      </a:r>
                      <a:endParaRPr lang="en-US" sz="2400"/>
                    </a:p>
                  </a:txBody>
                  <a:tcPr/>
                </a:tc>
              </a:tr>
              <a:tr h="584213">
                <a:tc>
                  <a:txBody>
                    <a:bodyPr/>
                    <a:p>
                      <a:pPr lvl="0">
                        <a:buNone/>
                        <a:defRPr/>
                      </a:pPr>
                      <a:r>
                        <a:rPr lang="en-US" sz="2400"/>
                        <a:t>Gubitak</a:t>
                      </a:r>
                      <a:r>
                        <a:rPr lang="en-US" sz="2400"/>
                        <a:t> </a:t>
                      </a:r>
                      <a:r>
                        <a:rPr lang="en-US" sz="2400"/>
                        <a:t>Točnosti</a:t>
                      </a:r>
                      <a:r>
                        <a:rPr lang="en-US" sz="2400"/>
                        <a:t> / Accuracy Loss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 lvl="0">
                        <a:buNone/>
                        <a:defRPr/>
                      </a:pPr>
                      <a:r>
                        <a:rPr lang="en-US" sz="2400"/>
                        <a:t>baseline</a:t>
                      </a:r>
                      <a:endParaRPr lang="en-US" sz="2400"/>
                    </a:p>
                  </a:txBody>
                  <a:tcPr/>
                </a:tc>
                <a:tc>
                  <a:txBody>
                    <a:bodyPr/>
                    <a:p>
                      <a:pPr lvl="0">
                        <a:buNone/>
                        <a:defRPr/>
                      </a:pPr>
                      <a:r>
                        <a:rPr lang="en-US" sz="2400"/>
                        <a:t> -0.07%</a:t>
                      </a:r>
                      <a:endParaRPr lang="en-US" sz="2400"/>
                    </a:p>
                  </a:txBody>
                  <a:tcPr/>
                </a:tc>
              </a:tr>
              <a:tr h="584213">
                <a:tc>
                  <a:txBody>
                    <a:bodyPr/>
                    <a:p>
                      <a:pPr>
                        <a:defRPr/>
                      </a:pPr>
                      <a:r>
                        <a:rPr lang="en-US" sz="2400"/>
                        <a:t>Veličina</a:t>
                      </a:r>
                      <a:r>
                        <a:rPr lang="en-US" sz="2400"/>
                        <a:t> / Size (KB)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US" sz="2400"/>
                        <a:t>10274.3</a:t>
                      </a:r>
                      <a:endParaRPr lang="en-US" sz="2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US" sz="2400"/>
                        <a:t>5139.0</a:t>
                      </a:r>
                      <a:endParaRPr lang="en-US" sz="2400"/>
                    </a:p>
                  </a:txBody>
                  <a:tcPr/>
                </a:tc>
              </a:tr>
              <a:tr h="584212">
                <a:tc>
                  <a:txBody>
                    <a:bodyPr/>
                    <a:p>
                      <a:pPr lvl="0">
                        <a:buNone/>
                        <a:defRPr/>
                      </a:pPr>
                      <a:r>
                        <a:rPr lang="en-US" sz="2400" b="0" i="0" u="none" strike="noStrike">
                          <a:latin typeface="Tw Cen MT"/>
                        </a:rPr>
                        <a:t>Veličine</a:t>
                      </a:r>
                      <a:r>
                        <a:rPr lang="en-US" sz="2400" b="0" i="0" u="none" strike="noStrike">
                          <a:latin typeface="Tw Cen MT"/>
                        </a:rPr>
                        <a:t> / </a:t>
                      </a:r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latin typeface="Tw Cen MT"/>
                        </a:rPr>
                        <a:t>Size</a:t>
                      </a:r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latin typeface="Tw Cen MT"/>
                        </a:rPr>
                        <a:t> (KB)</a:t>
                      </a:r>
                      <a:endParaRPr lang="en-US" sz="2400" b="0" i="0" u="none" strike="noStrike">
                        <a:latin typeface="Tw Cen MT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lvl="0">
                        <a:buNone/>
                        <a:defRPr/>
                      </a:pPr>
                      <a:r>
                        <a:rPr lang="en-US" sz="2400"/>
                        <a:t>baseline</a:t>
                      </a:r>
                      <a:endParaRPr lang="en-US" sz="2400"/>
                    </a:p>
                  </a:txBody>
                  <a:tcPr/>
                </a:tc>
                <a:tc>
                  <a:txBody>
                    <a:bodyPr/>
                    <a:p>
                      <a:pPr lvl="0">
                        <a:buNone/>
                        <a:defRPr/>
                      </a:pPr>
                      <a:r>
                        <a:rPr lang="en-US" sz="2400"/>
                        <a:t>5135.3 (0.5x)</a:t>
                      </a:r>
                      <a:endParaRPr lang="en-US" sz="2400"/>
                    </a:p>
                  </a:txBody>
                  <a:tcPr/>
                </a:tc>
              </a:tr>
              <a:tr h="584213">
                <a:tc>
                  <a:txBody>
                    <a:bodyPr/>
                    <a:p>
                      <a:pPr>
                        <a:defRPr/>
                      </a:pPr>
                      <a:r>
                        <a:rPr lang="en-US" sz="2400"/>
                        <a:t>Zaključivanje</a:t>
                      </a:r>
                      <a:r>
                        <a:rPr lang="en-US" sz="2400"/>
                        <a:t> / Inference (</a:t>
                      </a:r>
                      <a:r>
                        <a:rPr lang="en-US" sz="2400"/>
                        <a:t>ms</a:t>
                      </a:r>
                      <a:r>
                        <a:rPr lang="en-US" sz="2400"/>
                        <a:t>)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US" sz="2400"/>
                        <a:t>98.50</a:t>
                      </a:r>
                      <a:endParaRPr lang="en-US" sz="2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US" sz="2400"/>
                        <a:t>90.12</a:t>
                      </a:r>
                      <a:endParaRPr lang="en-US" sz="2400"/>
                    </a:p>
                  </a:txBody>
                  <a:tcPr/>
                </a:tc>
              </a:tr>
              <a:tr h="584213">
                <a:tc>
                  <a:txBody>
                    <a:bodyPr/>
                    <a:p>
                      <a:pPr>
                        <a:defRPr/>
                      </a:pPr>
                      <a:r>
                        <a:rPr lang="en-US" sz="2400"/>
                        <a:t>Ubrzanje</a:t>
                      </a:r>
                      <a:r>
                        <a:rPr lang="en-US" sz="2400"/>
                        <a:t> / Speedup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US" sz="2400"/>
                        <a:t>baseline</a:t>
                      </a:r>
                      <a:endParaRPr lang="en-US" sz="2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US" sz="2400"/>
                        <a:t>1.09x</a:t>
                      </a:r>
                      <a:endParaRPr lang="en-US" sz="2400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0414910" name="Title 1"/>
          <p:cNvSpPr>
            <a:spLocks noGrp="1"/>
          </p:cNvSpPr>
          <p:nvPr>
            <p:ph type="ctrTitle"/>
          </p:nvPr>
        </p:nvSpPr>
        <p:spPr bwMode="auto"/>
        <p:txBody>
          <a:bodyPr>
            <a:normAutofit/>
          </a:bodyPr>
          <a:lstStyle/>
          <a:p>
            <a:pPr>
              <a:defRPr/>
            </a:pPr>
            <a:r>
              <a:rPr lang="en-US" sz="5500"/>
              <a:t>HVALA NA PAŽNJI!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525522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??  Pitanja ??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Relationship Id="rId1" Type="http://schemas.openxmlformats.org/officeDocument/2006/relationships/image" Target="../media/image1.jpg"/></Relationships>
</file>

<file path=ppt/theme/_rels/theme2.xml.rels><?xml version="1.0" encoding="UTF-8" standalone="yes"?><Relationships xmlns="http://schemas.openxmlformats.org/package/2006/relationships"></Relationships>
</file>

<file path=ppt/theme/_rels/theme3.xml.rels><?xml version="1.0" encoding="UTF-8" standalone="yes"?><Relationships xmlns="http://schemas.openxmlformats.org/package/2006/relationships"><Relationship Id="rId1" Type="http://schemas.openxmlformats.org/officeDocument/2006/relationships/image" Target="../media/image1.jpg"/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Integral">
  <a:themeElements>
    <a:clrScheme name="Integral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Integral">
      <a:majorFont>
        <a:latin typeface="Tw Cen MT Condensed"/>
        <a:ea typeface="Arial"/>
        <a:cs typeface="Arial"/>
      </a:majorFont>
      <a:minorFont>
        <a:latin typeface="Tw Cen MT"/>
        <a:ea typeface="Arial"/>
        <a:cs typeface="Arial"/>
      </a:minorFont>
    </a:fontScheme>
    <a:fmtScheme name="Integral">
      <a:fillStyleLst>
        <a:solidFill>
          <a:schemeClr val="phClr"/>
        </a:solidFill>
        <a:gradFill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/>
        </a:gradFill>
        <a:gradFill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algn="tl" flip="none" sx="40000" sy="40000" tx="0" ty="0"/>
        </a:blip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>
    <a:spDef>
      <a:spPr bwMode="auto"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ppt/theme/theme3.xml><?xml version="1.0" encoding="utf-8"?>
<a:theme xmlns:a="http://schemas.openxmlformats.org/drawingml/2006/main" xmlns:r="http://schemas.openxmlformats.org/officeDocument/2006/relationships" xmlns:p="http://schemas.openxmlformats.org/presentationml/2006/main" name="Integral">
  <a:themeElements>
    <a:clrScheme name="Integral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">
      <a:majorFont>
        <a:latin typeface="Tw Cen MT Condensed"/>
        <a:ea typeface="Arial"/>
        <a:cs typeface="Arial"/>
      </a:majorFont>
      <a:minorFont>
        <a:latin typeface="Tw Cen MT"/>
        <a:ea typeface="Arial"/>
        <a:cs typeface="Arial"/>
      </a:minorFont>
    </a:fontScheme>
    <a:fmtScheme name="Integral">
      <a:fillStyleLst>
        <a:solidFill>
          <a:schemeClr val="phClr"/>
        </a:solidFill>
        <a:gradFill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/>
        </a:gradFill>
        <a:gradFill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algn="tl" flip="none" sx="40000" sy="40000" tx="0" ty="0"/>
        </a:blip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ONLYOFFICE/9.4.0.129</Application>
  <PresentationFormat>On-screen Show (4:3)</PresentationFormat>
  <Paragraphs>0</Paragraphs>
  <Slides>21</Slides>
  <Notes>21</Notes>
  <HiddenSlides>0</HiddenSlides>
  <MMClips>2</MMClips>
  <ScaleCrop>0</ScaleCrop>
  <HeadingPairs>
    <vt:vector size="4" baseType="variant">
      <vt:variant>
        <vt:lpstr>Theme</vt:lpstr>
      </vt:variant>
      <vt:variant>
        <vt:i4>2</vt:i4>
      </vt:variant>
      <vt:variant>
        <vt:lpstr>Slide Titles</vt:lpstr>
      </vt:variant>
      <vt:variant>
        <vt:i4>21</vt:i4>
      </vt:variant>
    </vt:vector>
  </HeadingPairs>
  <TitlesOfParts>
    <vt:vector size="23" baseType="lpstr">
      <vt:lpstr>Theme 1</vt:lpstr>
      <vt:lpstr>Theme 2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Borna</dc:creator>
  <cp:lastModifiedBy/>
  <cp:revision>489</cp:revision>
  <dcterms:created xsi:type="dcterms:W3CDTF">2026-04-23T14:28:40Z</dcterms:created>
  <dcterms:modified xsi:type="dcterms:W3CDTF">2026-05-30T13:36:48Z</dcterms:modified>
</cp:coreProperties>
</file>