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28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4.xml" ContentType="application/vnd.openxmlformats-officedocument.presentationml.slideMaster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app.xml" ContentType="application/vnd.openxmlformats-officedocument.extended-properties+xml"/>
  <Override PartName="/ppt/slideLayouts/slideLayout34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0.xml" ContentType="application/vnd.openxmlformats-officedocument.presentationml.slideLayout+xml"/>
  <Override PartName="/ppt/charts/chart1.xml" ContentType="application/vnd.openxmlformats-officedocument.drawingml.char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42.xml" ContentType="application/vnd.openxmlformats-officedocument.presentationml.slideLayout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32.xml" ContentType="application/vnd.openxmlformats-officedocument.presentationml.slideLayout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4.xml" ContentType="application/vnd.openxmlformats-officedocument.presentationml.slideLayout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Layouts/slideLayout25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31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8D230F3-CF80-4859-8CE7-A43EE81993B5}" styleName="Light Style 1 - Accent 6">
    <a:wholeTbl>
      <a:tcTxStyle>
        <a:fontRef idx="minor"/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6"/>
              </a:solidFill>
            </a:ln>
          </a:top>
          <a:bottom>
            <a:ln w="12700">
              <a:solidFill>
                <a:schemeClr val="accent6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Style>
        <a:tcBdr/>
        <a:fill>
          <a:solidFill>
            <a:schemeClr val="accent6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6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6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C083E6E3-FA7D-4D7B-A595-EF9225AFEA82}" styleName="Light Style 1 - Accent 3">
    <a:wholeTbl>
      <a:tcTxStyle>
        <a:fontRef idx="minor"/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3"/>
              </a:solidFill>
            </a:ln>
          </a:top>
          <a:bottom>
            <a:ln w="12700">
              <a:solidFill>
                <a:schemeClr val="accent3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Style>
        <a:tcBdr/>
        <a:fill>
          <a:solidFill>
            <a:schemeClr val="accent3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3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3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3" d="100"/>
          <a:sy n="73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 bwMode="auto">
            <a:prstGeom prst="rect">
              <a:avLst/>
            </a:prstGeom>
            <a:solidFill>
              <a:srgbClr val="2563EB"/>
            </a:solidFill>
            <a:effectLst/>
          </c:spPr>
          <c:invertIfNegative val="0"/>
          <c:dLbls>
            <c:dLbl>
              <c:idx val="0"/>
              <c:layout/>
              <c:numFmt formatCode="#,##0" sourceLinked="0"/>
              <c:showBubbleSize val="0"/>
              <c:showCatName val="0"/>
              <c:showLegendKey val="0"/>
              <c:showPercent val="0"/>
              <c:showSerName val="0"/>
              <c:showVal val="1"/>
              <c:txPr>
                <a:bodyPr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ptos"/>
                    </a:defRPr>
                  </a:pPr>
                  <a:endParaRPr lang="en-US"/>
                </a:p>
              </c:txPr>
            </c:dLbl>
            <c:dLbl>
              <c:idx val="1"/>
              <c:layout/>
              <c:numFmt formatCode="#,##0" sourceLinked="0"/>
              <c:showBubbleSize val="0"/>
              <c:showCatName val="0"/>
              <c:showLegendKey val="0"/>
              <c:showPercent val="0"/>
              <c:showSerName val="0"/>
              <c:showVal val="1"/>
              <c:txPr>
                <a:bodyPr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ptos"/>
                    </a:defRPr>
                  </a:pPr>
                  <a:endParaRPr lang="en-US"/>
                </a:p>
              </c:txPr>
            </c:dLbl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ptos"/>
                  </a:defRPr>
                </a:pPr>
                <a:endParaRPr lang="en-US"/>
              </a:p>
            </c:txPr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Improved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72.3</c:v>
                </c:pt>
                <c:pt idx="1">
                  <c:v>77.55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50"/>
        <c:axId val="2094734563"/>
        <c:axId val="2094734564"/>
      </c:barChart>
      <c:catAx>
        <c:axId val="2094734563"/>
        <c:scaling/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64"/>
        <c:crosses val="autoZero"/>
        <c:auto val="0"/>
        <c:lblAlgn val="ctr"/>
        <c:noMultiLvlLbl val="1"/>
      </c:catAx>
      <c:valAx>
        <c:axId val="2094734564"/>
        <c:scaling>
          <c:max val="80.000000"/>
          <c:min val="65.000000"/>
        </c:scaling>
        <c:delete val="0"/>
        <c:axPos val="l"/>
        <c:majorGridlines>
          <c:spPr bwMode="auto">
            <a:prstGeom prst="rect">
              <a:avLst/>
            </a:prstGeom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63"/>
        <c:crosses val="autoZero"/>
        <c:crossBetween val="between"/>
        <c:majorUnit val="5.00000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1"/>
  </c:chart>
  <c:spPr bwMode="auto">
    <a:xfrm rot="0">
      <a:off x="731519" y="2130551"/>
      <a:ext cx="5120640" cy="3474720"/>
    </a:xfrm>
    <a:prstGeom prst="rect">
      <a:avLst/>
    </a:prstGeom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Parametri</c:v>
                </c:pt>
              </c:strCache>
            </c:strRef>
          </c:tx>
          <c:spPr bwMode="auto">
            <a:prstGeom prst="rect">
              <a:avLst/>
            </a:prstGeom>
            <a:solidFill>
              <a:srgbClr val="16A34A"/>
            </a:solidFill>
            <a:effectLst/>
          </c:spPr>
          <c:invertIfNegative val="0"/>
          <c:dLbls>
            <c:dLbl>
              <c:idx val="0"/>
              <c:layout/>
              <c:numFmt formatCode="#,##0" sourceLinked="0"/>
              <c:showBubbleSize val="0"/>
              <c:showCatName val="0"/>
              <c:showLegendKey val="0"/>
              <c:showPercent val="0"/>
              <c:showSerName val="0"/>
              <c:showVal val="1"/>
              <c:txPr>
                <a:bodyPr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ptos"/>
                    </a:defRPr>
                  </a:pPr>
                  <a:endParaRPr lang="en-US"/>
                </a:p>
              </c:txPr>
            </c:dLbl>
            <c:dLbl>
              <c:idx val="1"/>
              <c:layout/>
              <c:numFmt formatCode="#,##0" sourceLinked="0"/>
              <c:showBubbleSize val="0"/>
              <c:showCatName val="0"/>
              <c:showLegendKey val="0"/>
              <c:showPercent val="0"/>
              <c:showSerName val="0"/>
              <c:showVal val="1"/>
              <c:txPr>
                <a:bodyPr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ptos"/>
                    </a:defRPr>
                  </a:pPr>
                  <a:endParaRPr lang="en-US"/>
                </a:p>
              </c:txPr>
            </c:dLbl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ptos"/>
                  </a:defRPr>
                </a:pPr>
                <a:endParaRPr lang="en-US"/>
              </a:p>
            </c:txPr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Improved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1315189</c:v>
                </c:pt>
                <c:pt idx="1">
                  <c:v>629765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50"/>
        <c:axId val="2094734565"/>
        <c:axId val="2094734566"/>
      </c:barChart>
      <c:catAx>
        <c:axId val="2094734565"/>
        <c:scaling/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66"/>
        <c:crosses val="autoZero"/>
        <c:auto val="0"/>
        <c:lblAlgn val="ctr"/>
        <c:noMultiLvlLbl val="1"/>
      </c:catAx>
      <c:valAx>
        <c:axId val="2094734566"/>
        <c:scaling>
          <c:max val="14000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65"/>
        <c:crosses val="autoZero"/>
        <c:crossBetween val="between"/>
        <c:majorUnit val="6402.61632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1"/>
  </c:chart>
  <c:spPr bwMode="auto">
    <a:xfrm rot="0">
      <a:off x="6355080" y="2130551"/>
      <a:ext cx="5029199" cy="3474720"/>
    </a:xfrm>
    <a:prstGeom prst="rect">
      <a:avLst/>
    </a:prstGeom>
    <a:noFill/>
    <a:ln>
      <a:noFill/>
    </a:ln>
    <a:effectLst/>
  </c:spPr>
  <c:externalData r:id="rId1"/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8308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962757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221454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63549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430219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98285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117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78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7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9177B-387D-CC6B-7677-0A0578DA58F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529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06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82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F3235-2BE0-7EFA-76D8-D86DFD02402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362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325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380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FFB89-2A1B-63FD-5823-853D377F039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192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5305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613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1CBB25-40B8-6E19-5D81-E232749FC7D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44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434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211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751617-1736-3B51-E07D-FC6910B4AF11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36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697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315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6546D1-1D38-79A7-F12E-EE4824BDAE4C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479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947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501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D9A13A-CB5E-A5E0-4F26-74AE55F29536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593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044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611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27175-06E7-1412-54A9-105FF9507294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73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580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675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FA9233-EE5F-E1B0-64AF-92988407AFA1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066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2333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465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86CE2-426C-56EE-44CB-34ABBE71C844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842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746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371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DC8F34-22ED-0728-6AB5-530A4BDDCE50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46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488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657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2C5460-1529-8522-325A-12E6A4DB0E1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84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561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4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0A2B7-6E2F-01A7-B760-FE27FC19A103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846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590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6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9CEA51-5983-A3ED-EA41-3A048FB53894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610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98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14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ACD894-F030-6B93-39DF-9A9FBDCD4F3E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93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388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854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BDE3E-EAF8-1FDB-10D9-1B3B787EECE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664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328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116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BAFA6B-262F-24DA-5C0C-AC0A049BB13B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968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695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4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EEEB7-EA1F-6ED7-A168-6AD6CA1AD10D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618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459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138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8D464E-23AF-EE0E-C58A-8C47414342D3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337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663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184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2C1285-0A61-B2BF-E396-F8DE46DB14CB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863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318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940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461284-06B2-10CE-A95F-265DCAF78BE3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730542" name="Title 1" title="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0506751" name="Subtitle 2" title="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04388424" name="Date Placeholder 3" title="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2D1B86F8-BA8A-4926-ACA4-D5FE225401B0}" type="datetimeFigureOut">
              <a:rPr lang="en-US"/>
              <a:t>11/7/2009</a:t>
            </a:fld>
            <a:endParaRPr lang="en-US"/>
          </a:p>
        </p:txBody>
      </p:sp>
      <p:sp>
        <p:nvSpPr>
          <p:cNvPr id="1009129532" name="Footer Placeholder 4" title=""/>
          <p:cNvSpPr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0880554" name="Slide Number Placeholder 5" title="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50729" name="Title 1" title="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3292309" name="Content Placeholder 2" title="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8769061" name="Date Placeholder 3" title="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8A1A2FD8-1BB0-402A-91FA-FB18459B64C3}" type="datetimeFigureOut">
              <a:rPr lang="en-US"/>
              <a:t>11/7/2009</a:t>
            </a:fld>
            <a:endParaRPr lang="en-US"/>
          </a:p>
        </p:txBody>
      </p:sp>
      <p:sp>
        <p:nvSpPr>
          <p:cNvPr id="1119999221" name="Footer Placeholder 4" title=""/>
          <p:cNvSpPr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154256" name="Slide Number Placeholder 5" title="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262211" name="Title 1" title=""/>
          <p:cNvSpPr>
            <a:spLocks noGrp="1"/>
          </p:cNvSpPr>
          <p:nvPr>
            <p:ph type="title"/>
          </p:nvPr>
        </p:nvSpPr>
        <p:spPr bwMode="auto"/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0228009" name="Text Placeholder 2" title=""/>
          <p:cNvSpPr>
            <a:spLocks noGrp="1"/>
          </p:cNvSpPr>
          <p:nvPr>
            <p:ph type="body" idx="1"/>
          </p:nvPr>
        </p:nvSpPr>
        <p:spPr bwMode="auto"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5372802" name="Date Placeholder 3" title="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18BF411E-9749-4303-B579-BD9EC0CEF175}" type="datetimeFigureOut">
              <a:rPr lang="en-US"/>
              <a:t>11/7/2009</a:t>
            </a:fld>
            <a:endParaRPr lang="en-US"/>
          </a:p>
        </p:txBody>
      </p:sp>
      <p:sp>
        <p:nvSpPr>
          <p:cNvPr id="922279161" name="Footer Placeholder 4" title=""/>
          <p:cNvSpPr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134696" name="Slide Number Placeholder 5" title="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834672" name="Title 1" title="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036110" name="Content Placeholder 2" title=""/>
          <p:cNvSpPr>
            <a:spLocks noGrp="1"/>
          </p:cNvSpPr>
          <p:nvPr>
            <p:ph sz="half" idx="1"/>
          </p:nvPr>
        </p:nvSpPr>
        <p:spPr bwMode="auto"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3623693" name="Content Placeholder 3" title=""/>
          <p:cNvSpPr>
            <a:spLocks noGrp="1"/>
          </p:cNvSpPr>
          <p:nvPr>
            <p:ph sz="half" idx="2"/>
          </p:nvPr>
        </p:nvSpPr>
        <p:spPr bwMode="auto"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7949298" name="Date Placeholder 4" title=""/>
          <p:cNvSpPr>
            <a:spLocks noGrp="1"/>
          </p:cNvSpPr>
          <p:nvPr>
            <p:ph type="dt" sz="half" idx="3"/>
          </p:nvPr>
        </p:nvSpPr>
        <p:spPr bwMode="auto"/>
        <p:txBody>
          <a:bodyPr/>
          <a:lstStyle/>
          <a:p>
            <a:pPr>
              <a:defRPr/>
            </a:pPr>
            <a:fld id="{2E5E0112-1F57-4F2D-81D3-671F51790AD5}" type="datetimeFigureOut">
              <a:rPr lang="en-US"/>
              <a:t>11/7/2009</a:t>
            </a:fld>
            <a:endParaRPr lang="en-US"/>
          </a:p>
        </p:txBody>
      </p:sp>
      <p:sp>
        <p:nvSpPr>
          <p:cNvPr id="163196280" name="Footer Placeholder 5" title=""/>
          <p:cNvSpPr>
            <a:spLocks noGrp="1"/>
          </p:cNvSpPr>
          <p:nvPr>
            <p:ph type="ftr" sz="quarter" idx="4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8110230" name="Slide Number Placeholder 6" title="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356653" name="Title 1" title="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9760363" name="Text Placeholder 2" title=""/>
          <p:cNvSpPr>
            <a:spLocks noGrp="1"/>
          </p:cNvSpPr>
          <p:nvPr>
            <p:ph type="body" idx="1"/>
          </p:nvPr>
        </p:nvSpPr>
        <p:spPr bwMode="auto"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7277118" name="Content Placeholder 3" title=""/>
          <p:cNvSpPr>
            <a:spLocks noGrp="1"/>
          </p:cNvSpPr>
          <p:nvPr>
            <p:ph sz="half" idx="2"/>
          </p:nvPr>
        </p:nvSpPr>
        <p:spPr bwMode="auto"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093106" name="Text Placeholder 4" title=""/>
          <p:cNvSpPr>
            <a:spLocks noGrp="1"/>
          </p:cNvSpPr>
          <p:nvPr>
            <p:ph type="body" sz="quarter" idx="3"/>
          </p:nvPr>
        </p:nvSpPr>
        <p:spPr bwMode="auto"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7673549" name="Content Placeholder 5" title=""/>
          <p:cNvSpPr>
            <a:spLocks noGrp="1"/>
          </p:cNvSpPr>
          <p:nvPr>
            <p:ph sz="quarter" idx="4"/>
          </p:nvPr>
        </p:nvSpPr>
        <p:spPr bwMode="auto"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1367900" name="Date Placeholder 6" title=""/>
          <p:cNvSpPr>
            <a:spLocks noGrp="1"/>
          </p:cNvSpPr>
          <p:nvPr>
            <p:ph type="dt" sz="half" idx="5"/>
          </p:nvPr>
        </p:nvSpPr>
        <p:spPr bwMode="auto"/>
        <p:txBody>
          <a:bodyPr/>
          <a:lstStyle/>
          <a:p>
            <a:pPr>
              <a:defRPr/>
            </a:pPr>
            <a:fld id="{796AF741-4606-4BD5-A282-B23284C764A8}" type="datetimeFigureOut">
              <a:rPr lang="en-US"/>
              <a:t>11/7/2009</a:t>
            </a:fld>
            <a:endParaRPr lang="en-US"/>
          </a:p>
        </p:txBody>
      </p:sp>
      <p:sp>
        <p:nvSpPr>
          <p:cNvPr id="1524026613" name="Footer Placeholder 7" title=""/>
          <p:cNvSpPr>
            <a:spLocks noGrp="1"/>
          </p:cNvSpPr>
          <p:nvPr>
            <p:ph type="ftr" sz="quarter" idx="6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1151153" name="Slide Number Placeholder 8" title=""/>
          <p:cNvSpPr>
            <a:spLocks noGrp="1"/>
          </p:cNvSpPr>
          <p:nvPr>
            <p:ph type="sldNum" sz="quarter" idx="7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535345" name="Title 1" title="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062107" name="Date Placeholder 2" title=""/>
          <p:cNvSpPr>
            <a:spLocks noGrp="1"/>
          </p:cNvSpPr>
          <p:nvPr>
            <p:ph type="dt" sz="half" idx="1"/>
          </p:nvPr>
        </p:nvSpPr>
        <p:spPr bwMode="auto"/>
        <p:txBody>
          <a:bodyPr/>
          <a:lstStyle/>
          <a:p>
            <a:pPr>
              <a:defRPr/>
            </a:pPr>
            <a:fld id="{D0DE3F8F-EFD0-47C9-B895-E34D6DD6FD43}" type="datetimeFigureOut">
              <a:rPr lang="en-US"/>
              <a:t>11/7/2009</a:t>
            </a:fld>
            <a:endParaRPr lang="en-US"/>
          </a:p>
        </p:txBody>
      </p:sp>
      <p:sp>
        <p:nvSpPr>
          <p:cNvPr id="1240148422" name="Footer Placeholder 3" title=""/>
          <p:cNvSpPr>
            <a:spLocks noGrp="1"/>
          </p:cNvSpPr>
          <p:nvPr>
            <p:ph type="ftr" sz="quarter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1285287" name="Slide Number Placeholder 4" title=""/>
          <p:cNvSpPr>
            <a:spLocks noGrp="1"/>
          </p:cNvSpPr>
          <p:nvPr>
            <p:ph type="sldNum" sz="quarter" idx="3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3718" name="Date Placeholder 1" title=""/>
          <p:cNvSpPr>
            <a:spLocks noGrp="1"/>
          </p:cNvSpPr>
          <p:nvPr>
            <p:ph type="dt" sz="half"/>
          </p:nvPr>
        </p:nvSpPr>
        <p:spPr bwMode="auto"/>
        <p:txBody>
          <a:bodyPr/>
          <a:lstStyle/>
          <a:p>
            <a:pPr>
              <a:defRPr/>
            </a:pPr>
            <a:fld id="{619A0E67-C97B-4821-B942-B39AA54750E6}" type="datetimeFigureOut">
              <a:rPr lang="en-US"/>
              <a:t>11/7/2009</a:t>
            </a:fld>
            <a:endParaRPr lang="en-US"/>
          </a:p>
        </p:txBody>
      </p:sp>
      <p:sp>
        <p:nvSpPr>
          <p:cNvPr id="636173478" name="Footer Placeholder 2" title=""/>
          <p:cNvSpPr>
            <a:spLocks noGrp="1"/>
          </p:cNvSpPr>
          <p:nvPr>
            <p:ph type="ftr" sz="quarter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9107470" name="Slide Number Placeholder 3" title=""/>
          <p:cNvSpPr>
            <a:spLocks noGrp="1"/>
          </p:cNvSpPr>
          <p:nvPr>
            <p:ph type="sldNum" sz="quarter" idx="2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129006" name="Title 1" title=""/>
          <p:cNvSpPr>
            <a:spLocks noGrp="1"/>
          </p:cNvSpPr>
          <p:nvPr>
            <p:ph type="title"/>
          </p:nvPr>
        </p:nvSpPr>
        <p:spPr bwMode="auto"/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5152852" name="Content Placeholder 2" title="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1985434" name="Text Placeholder 3" title=""/>
          <p:cNvSpPr>
            <a:spLocks noGrp="1"/>
          </p:cNvSpPr>
          <p:nvPr>
            <p:ph type="body" sz="half" idx="2"/>
          </p:nvPr>
        </p:nvSpPr>
        <p:spPr bwMode="auto"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2220701" name="Date Placeholder 4" title=""/>
          <p:cNvSpPr>
            <a:spLocks noGrp="1"/>
          </p:cNvSpPr>
          <p:nvPr>
            <p:ph type="dt" sz="half" idx="3"/>
          </p:nvPr>
        </p:nvSpPr>
        <p:spPr bwMode="auto"/>
        <p:txBody>
          <a:bodyPr/>
          <a:lstStyle/>
          <a:p>
            <a:pPr>
              <a:defRPr/>
            </a:pPr>
            <a:fld id="{03191FEF-1D42-4A05-A63F-E6B2F536A21D}" type="datetimeFigureOut">
              <a:rPr lang="en-US"/>
              <a:t>11/7/2009</a:t>
            </a:fld>
            <a:endParaRPr lang="en-US"/>
          </a:p>
        </p:txBody>
      </p:sp>
      <p:sp>
        <p:nvSpPr>
          <p:cNvPr id="177050339" name="Footer Placeholder 5" title=""/>
          <p:cNvSpPr>
            <a:spLocks noGrp="1"/>
          </p:cNvSpPr>
          <p:nvPr>
            <p:ph type="ftr" sz="quarter" idx="4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1945000" name="Slide Number Placeholder 6" title="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01766" name="Title 1" title=""/>
          <p:cNvSpPr>
            <a:spLocks noGrp="1"/>
          </p:cNvSpPr>
          <p:nvPr>
            <p:ph type="title"/>
          </p:nvPr>
        </p:nvSpPr>
        <p:spPr bwMode="auto"/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0594" name="Picture Placeholder 2" title=""/>
          <p:cNvSpPr>
            <a:spLocks noGrp="1"/>
          </p:cNvSpPr>
          <p:nvPr>
            <p:ph type="pic" idx="1"/>
          </p:nvPr>
        </p:nvSpPr>
        <p:spPr bwMode="auto"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67769438" name="Text Placeholder 3" title=""/>
          <p:cNvSpPr>
            <a:spLocks noGrp="1"/>
          </p:cNvSpPr>
          <p:nvPr>
            <p:ph type="body" sz="half" idx="2"/>
          </p:nvPr>
        </p:nvSpPr>
        <p:spPr bwMode="auto"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3310404" name="Date Placeholder 4" title=""/>
          <p:cNvSpPr>
            <a:spLocks noGrp="1"/>
          </p:cNvSpPr>
          <p:nvPr>
            <p:ph type="dt" sz="half" idx="3"/>
          </p:nvPr>
        </p:nvSpPr>
        <p:spPr bwMode="auto"/>
        <p:txBody>
          <a:bodyPr/>
          <a:lstStyle/>
          <a:p>
            <a:pPr>
              <a:defRPr/>
            </a:pPr>
            <a:fld id="{635B270E-2D53-44F6-BD4E-AE594E75E73B}" type="datetimeFigureOut">
              <a:rPr lang="en-US"/>
              <a:t>11/7/2009</a:t>
            </a:fld>
            <a:endParaRPr lang="en-US"/>
          </a:p>
        </p:txBody>
      </p:sp>
      <p:sp>
        <p:nvSpPr>
          <p:cNvPr id="586715256" name="Footer Placeholder 5" title=""/>
          <p:cNvSpPr>
            <a:spLocks noGrp="1"/>
          </p:cNvSpPr>
          <p:nvPr>
            <p:ph type="ftr" sz="quarter" idx="4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163519" name="Slide Number Placeholder 6" title="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12152" name="Title 1" title="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019509" name="Vertical Text Placeholder 2" title="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640439" name="Date Placeholder 3" title="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BE898F68-84EE-40A0-9AB5-A05B4FB74EC0}" type="datetimeFigureOut">
              <a:rPr lang="en-US"/>
              <a:t>11/7/2009</a:t>
            </a:fld>
            <a:endParaRPr lang="en-US"/>
          </a:p>
        </p:txBody>
      </p:sp>
      <p:sp>
        <p:nvSpPr>
          <p:cNvPr id="1147147905" name="Footer Placeholder 4" title=""/>
          <p:cNvSpPr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13084" name="Slide Number Placeholder 5" title="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55434" name="Vertical Title 1" title=""/>
          <p:cNvSpPr>
            <a:spLocks noGrp="1"/>
          </p:cNvSpPr>
          <p:nvPr>
            <p:ph type="title" orient="vert"/>
          </p:nvPr>
        </p:nvSpPr>
        <p:spPr bwMode="auto"/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7768172" name="Vertical Text Placeholder 2" title="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4865522" name="Date Placeholder 3" title="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54EC7F47-8983-47E8-881E-3743F897FEEC}" type="datetimeFigureOut">
              <a:rPr lang="en-US"/>
              <a:t>11/7/2009</a:t>
            </a:fld>
            <a:endParaRPr lang="en-US"/>
          </a:p>
        </p:txBody>
      </p:sp>
      <p:sp>
        <p:nvSpPr>
          <p:cNvPr id="1625224434" name="Footer Placeholder 4" title=""/>
          <p:cNvSpPr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691100" name="Slide Number Placeholder 5" title="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01556" name="Rectangle 9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hr-HR"/>
          </a:p>
        </p:txBody>
      </p:sp>
      <p:sp>
        <p:nvSpPr>
          <p:cNvPr id="1836458542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hr-HR"/>
          </a:p>
        </p:txBody>
      </p:sp>
      <p:sp>
        <p:nvSpPr>
          <p:cNvPr id="69523507" name="Title 1"/>
          <p:cNvSpPr>
            <a:spLocks noGrp="1"/>
          </p:cNvSpPr>
          <p:nvPr>
            <p:ph type="ctr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04319633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277335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AD6EE87-EBD5-4F12-A48A-63ACA297AC8F}" type="datetimeFigureOut">
              <a:rPr lang="en-US"/>
              <a:t>5/30/2026</a:t>
            </a:fld>
            <a:endParaRPr lang="en-US"/>
          </a:p>
        </p:txBody>
      </p:sp>
      <p:sp>
        <p:nvSpPr>
          <p:cNvPr id="780223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479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723680344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747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341814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821342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D3794B-289A-4A80-97D7-111025398D45}" type="datetimeFigureOut">
              <a:rPr lang="en-US"/>
              <a:t>5/30/2026</a:t>
            </a:fld>
            <a:endParaRPr lang="en-US"/>
          </a:p>
        </p:txBody>
      </p:sp>
      <p:sp>
        <p:nvSpPr>
          <p:cNvPr id="19366047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8228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352165" name="Rectangle 8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24306948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42918148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302476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98010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61015F-7CC6-4D0A-9D87-873EA4C304CC}" type="datetimeFigureOut">
              <a:rPr lang="en-US"/>
              <a:t>5/30/2026</a:t>
            </a:fld>
            <a:endParaRPr lang="en-US"/>
          </a:p>
        </p:txBody>
      </p:sp>
      <p:sp>
        <p:nvSpPr>
          <p:cNvPr id="9221015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59289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51829863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53221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512660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24127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973599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9320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02195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C6A301-0538-44EC-B09D-202E1042A48B}" type="datetimeFigureOut">
              <a:rPr lang="en-US"/>
              <a:t>5/30/2026</a:t>
            </a:fld>
            <a:endParaRPr lang="en-US"/>
          </a:p>
        </p:txBody>
      </p:sp>
      <p:sp>
        <p:nvSpPr>
          <p:cNvPr id="14449287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05534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88023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358790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99656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2412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3893217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>
              <a:lnSpc>
                <a:spcPct val="90000"/>
              </a:lnSpc>
              <a:spcBef>
                <a:spcPts val="180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643928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9088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65180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89574A-8875-45EF-8EA2-3CAA0F7ABC4C}" type="datetimeFigureOut">
              <a:rPr lang="en-US"/>
              <a:t>5/30/2026</a:t>
            </a:fld>
            <a:endParaRPr lang="en-US"/>
          </a:p>
        </p:txBody>
      </p:sp>
      <p:sp>
        <p:nvSpPr>
          <p:cNvPr id="8005149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45576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745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10071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EF4D4C-5367-4C26-9E2B-D8088D7FCA81}" type="datetimeFigureOut">
              <a:rPr lang="en-US"/>
              <a:t>5/30/2026</a:t>
            </a:fld>
            <a:endParaRPr lang="en-US"/>
          </a:p>
        </p:txBody>
      </p:sp>
      <p:sp>
        <p:nvSpPr>
          <p:cNvPr id="7921440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151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77328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E91E96-98B0-4413-9547-46F3504108EF}" type="datetimeFigureOut">
              <a:rPr lang="en-US"/>
              <a:t>5/30/2026</a:t>
            </a:fld>
            <a:endParaRPr lang="en-US"/>
          </a:p>
        </p:txBody>
      </p:sp>
      <p:sp>
        <p:nvSpPr>
          <p:cNvPr id="26149238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8599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09909" name="Title 7"/>
          <p:cNvSpPr>
            <a:spLocks noGrp="1"/>
          </p:cNvSpPr>
          <p:nvPr>
            <p:ph type="title"/>
          </p:nvPr>
        </p:nvSpPr>
        <p:spPr bwMode="auto"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615528" name="Content Placeholder 2"/>
          <p:cNvSpPr>
            <a:spLocks noGrp="1"/>
          </p:cNvSpPr>
          <p:nvPr>
            <p:ph idx="1"/>
          </p:nvPr>
        </p:nvSpPr>
        <p:spPr bwMode="auto"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985812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41266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C68B11-C5A8-448C-8CE9-B1A273C79CFC}" type="datetimeFigureOut">
              <a:rPr lang="en-US"/>
              <a:t>5/30/2026</a:t>
            </a:fld>
            <a:endParaRPr lang="en-US"/>
          </a:p>
        </p:txBody>
      </p:sp>
      <p:sp>
        <p:nvSpPr>
          <p:cNvPr id="17102982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6334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292702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8572152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442004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74848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616CA0-919D-4A49-9C8A-62FDFB3A5183}" type="datetimeFigureOut">
              <a:rPr lang="en-US"/>
              <a:t>5/30/2026</a:t>
            </a:fld>
            <a:endParaRPr lang="en-US"/>
          </a:p>
        </p:txBody>
      </p:sp>
      <p:sp>
        <p:nvSpPr>
          <p:cNvPr id="20135136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54006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67E5644-1E61-4311-A31E-84CB9C7AA8A9}" type="slidenum">
              <a:rPr lang="en-US"/>
              <a:t>‹#›</a:t>
            </a:fld>
            <a:endParaRPr lang="en-US"/>
          </a:p>
        </p:txBody>
      </p:sp>
      <p:cxnSp>
        <p:nvCxnSpPr>
          <p:cNvPr id="2005667324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120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66518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170229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D73815-2707-4475-8F1A-B873CB631BB4}" type="datetimeFigureOut">
              <a:rPr lang="en-US"/>
              <a:t>5/30/2026</a:t>
            </a:fld>
            <a:endParaRPr lang="en-US"/>
          </a:p>
        </p:txBody>
      </p:sp>
      <p:sp>
        <p:nvSpPr>
          <p:cNvPr id="12438280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2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3438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72620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90601" y="762000"/>
            <a:ext cx="7581899" cy="541020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730033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4AFB99-0EAB-4182-AFF8-E214C82A68F6}" type="datetimeFigureOut">
              <a:rPr lang="en-US"/>
              <a:t>5/30/2026</a:t>
            </a:fld>
            <a:endParaRPr lang="en-US"/>
          </a:p>
        </p:txBody>
      </p:sp>
      <p:sp>
        <p:nvSpPr>
          <p:cNvPr id="12179972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3346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702586828" name="Straight Connector 6"/>
          <p:cNvCxnSpPr/>
          <p:nvPr/>
        </p:nvCxnSpPr>
        <p:spPr bwMode="auto">
          <a:xfrm rot="5400000" flipH="1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250385" name="Rectangle 9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hr-HR"/>
          </a:p>
        </p:txBody>
      </p:sp>
      <p:sp>
        <p:nvSpPr>
          <p:cNvPr id="1158653117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hr-HR"/>
          </a:p>
        </p:txBody>
      </p:sp>
      <p:sp>
        <p:nvSpPr>
          <p:cNvPr id="94862719" name="Title 1"/>
          <p:cNvSpPr>
            <a:spLocks noGrp="1"/>
          </p:cNvSpPr>
          <p:nvPr>
            <p:ph type="ctr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07240680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661225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AD6EE87-EBD5-4F12-A48A-63ACA297AC8F}" type="datetimeFigureOut">
              <a:rPr lang="en-US"/>
              <a:t>6/29/2026</a:t>
            </a:fld>
            <a:endParaRPr lang="en-US"/>
          </a:p>
        </p:txBody>
      </p:sp>
      <p:sp>
        <p:nvSpPr>
          <p:cNvPr id="4092285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1157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215193662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433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83441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59639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D3794B-289A-4A80-97D7-111025398D45}" type="datetimeFigureOut">
              <a:rPr lang="en-US"/>
              <a:t>6/29/2026</a:t>
            </a:fld>
            <a:endParaRPr lang="en-US"/>
          </a:p>
        </p:txBody>
      </p:sp>
      <p:sp>
        <p:nvSpPr>
          <p:cNvPr id="20785873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9823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923943" name="Rectangle 8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60504221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05326203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29514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11807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61015F-7CC6-4D0A-9D87-873EA4C304CC}" type="datetimeFigureOut">
              <a:rPr lang="en-US"/>
              <a:t>6/29/2026</a:t>
            </a:fld>
            <a:endParaRPr lang="en-US"/>
          </a:p>
        </p:txBody>
      </p:sp>
      <p:sp>
        <p:nvSpPr>
          <p:cNvPr id="21008718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4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898514145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51818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543004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24127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93129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9320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550776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C6A301-0538-44EC-B09D-202E1042A48B}" type="datetimeFigureOut">
              <a:rPr lang="en-US"/>
              <a:t>6/29/2026</a:t>
            </a:fld>
            <a:endParaRPr lang="en-US"/>
          </a:p>
        </p:txBody>
      </p:sp>
      <p:sp>
        <p:nvSpPr>
          <p:cNvPr id="4678272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6049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974702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28852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14794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2412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9076126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>
              <a:lnSpc>
                <a:spcPct val="90000"/>
              </a:lnSpc>
              <a:spcBef>
                <a:spcPts val="180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7944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9088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6313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89574A-8875-45EF-8EA2-3CAA0F7ABC4C}" type="datetimeFigureOut">
              <a:rPr lang="en-US"/>
              <a:t>6/29/2026</a:t>
            </a:fld>
            <a:endParaRPr lang="en-US"/>
          </a:p>
        </p:txBody>
      </p:sp>
      <p:sp>
        <p:nvSpPr>
          <p:cNvPr id="86381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3813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90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889669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EF4D4C-5367-4C26-9E2B-D8088D7FCA81}" type="datetimeFigureOut">
              <a:rPr lang="en-US"/>
              <a:t>6/29/2026</a:t>
            </a:fld>
            <a:endParaRPr lang="en-US"/>
          </a:p>
        </p:txBody>
      </p:sp>
      <p:sp>
        <p:nvSpPr>
          <p:cNvPr id="12238072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01780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0854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E91E96-98B0-4413-9547-46F3504108EF}" type="datetimeFigureOut">
              <a:rPr lang="en-US"/>
              <a:t>6/29/2026</a:t>
            </a:fld>
            <a:endParaRPr lang="en-US"/>
          </a:p>
        </p:txBody>
      </p:sp>
      <p:sp>
        <p:nvSpPr>
          <p:cNvPr id="7357008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3205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821806" name="Title 7"/>
          <p:cNvSpPr>
            <a:spLocks noGrp="1"/>
          </p:cNvSpPr>
          <p:nvPr>
            <p:ph type="title"/>
          </p:nvPr>
        </p:nvSpPr>
        <p:spPr bwMode="auto"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10739037" name="Content Placeholder 2"/>
          <p:cNvSpPr>
            <a:spLocks noGrp="1"/>
          </p:cNvSpPr>
          <p:nvPr>
            <p:ph idx="1"/>
          </p:nvPr>
        </p:nvSpPr>
        <p:spPr bwMode="auto"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384469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44514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C68B11-C5A8-448C-8CE9-B1A273C79CFC}" type="datetimeFigureOut">
              <a:rPr lang="en-US"/>
              <a:t>6/29/2026</a:t>
            </a:fld>
            <a:endParaRPr lang="en-US"/>
          </a:p>
        </p:txBody>
      </p:sp>
      <p:sp>
        <p:nvSpPr>
          <p:cNvPr id="4262734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7492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979952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60507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702070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09326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616CA0-919D-4A49-9C8A-62FDFB3A5183}" type="datetimeFigureOut">
              <a:rPr lang="en-US"/>
              <a:t>6/29/2026</a:t>
            </a:fld>
            <a:endParaRPr lang="en-US"/>
          </a:p>
        </p:txBody>
      </p:sp>
      <p:sp>
        <p:nvSpPr>
          <p:cNvPr id="17606749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7122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67E5644-1E61-4311-A31E-84CB9C7AA8A9}" type="slidenum">
              <a:rPr lang="en-US"/>
              <a:t>‹#›</a:t>
            </a:fld>
            <a:endParaRPr lang="en-US"/>
          </a:p>
        </p:txBody>
      </p:sp>
      <p:cxnSp>
        <p:nvCxnSpPr>
          <p:cNvPr id="504773368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139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629618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20146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D73815-2707-4475-8F1A-B873CB631BB4}" type="datetimeFigureOut">
              <a:rPr lang="en-US"/>
              <a:t>6/29/2026</a:t>
            </a:fld>
            <a:endParaRPr lang="en-US"/>
          </a:p>
        </p:txBody>
      </p:sp>
      <p:sp>
        <p:nvSpPr>
          <p:cNvPr id="2042790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00686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6485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96718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90601" y="762000"/>
            <a:ext cx="7581899" cy="541020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109320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4AFB99-0EAB-4182-AFF8-E214C82A68F6}" type="datetimeFigureOut">
              <a:rPr lang="en-US"/>
              <a:t>6/29/2026</a:t>
            </a:fld>
            <a:endParaRPr lang="en-US"/>
          </a:p>
        </p:txBody>
      </p:sp>
      <p:sp>
        <p:nvSpPr>
          <p:cNvPr id="1965376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2441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28524020" name="Straight Connector 6"/>
          <p:cNvCxnSpPr/>
          <p:nvPr/>
        </p:nvCxnSpPr>
        <p:spPr bwMode="auto">
          <a:xfrm rot="5400000" flipH="1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70783" name="Rectangle 9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09351940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45589751" name="Title 1"/>
          <p:cNvSpPr>
            <a:spLocks noGrp="1"/>
          </p:cNvSpPr>
          <p:nvPr>
            <p:ph type="ctr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67905514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671181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AD6EE87-EBD5-4F12-A48A-63ACA297AC8F}" type="datetimeFigureOut">
              <a:rPr lang="en-US"/>
              <a:t>6/29/2026</a:t>
            </a:fld>
            <a:endParaRPr lang="en-US"/>
          </a:p>
        </p:txBody>
      </p:sp>
      <p:sp>
        <p:nvSpPr>
          <p:cNvPr id="2002945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20699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708080073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38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885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43705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D3794B-289A-4A80-97D7-111025398D45}" type="datetimeFigureOut">
              <a:rPr lang="en-US"/>
              <a:t>6/29/2026</a:t>
            </a:fld>
            <a:endParaRPr lang="en-US"/>
          </a:p>
        </p:txBody>
      </p:sp>
      <p:sp>
        <p:nvSpPr>
          <p:cNvPr id="14454790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56772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758619" name="Rectangle 8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01706169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79605189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988388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5324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61015F-7CC6-4D0A-9D87-873EA4C304CC}" type="datetimeFigureOut">
              <a:rPr lang="en-US"/>
              <a:t>6/29/2026</a:t>
            </a:fld>
            <a:endParaRPr lang="en-US"/>
          </a:p>
        </p:txBody>
      </p:sp>
      <p:sp>
        <p:nvSpPr>
          <p:cNvPr id="6643778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1086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074750614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8723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928171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24127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88885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9320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91273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C6A301-0538-44EC-B09D-202E1042A48B}" type="datetimeFigureOut">
              <a:rPr lang="en-US"/>
              <a:t>6/29/2026</a:t>
            </a:fld>
            <a:endParaRPr lang="en-US"/>
          </a:p>
        </p:txBody>
      </p:sp>
      <p:sp>
        <p:nvSpPr>
          <p:cNvPr id="17403455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45719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89453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10780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86866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2412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9655722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>
              <a:lnSpc>
                <a:spcPct val="90000"/>
              </a:lnSpc>
              <a:spcBef>
                <a:spcPts val="180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21927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9088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590821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89574A-8875-45EF-8EA2-3CAA0F7ABC4C}" type="datetimeFigureOut">
              <a:rPr lang="en-US"/>
              <a:t>6/29/2026</a:t>
            </a:fld>
            <a:endParaRPr lang="en-US"/>
          </a:p>
        </p:txBody>
      </p:sp>
      <p:sp>
        <p:nvSpPr>
          <p:cNvPr id="180998064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82987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98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7667126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EF4D4C-5367-4C26-9E2B-D8088D7FCA81}" type="datetimeFigureOut">
              <a:rPr lang="en-US"/>
              <a:t>6/29/2026</a:t>
            </a:fld>
            <a:endParaRPr lang="en-US"/>
          </a:p>
        </p:txBody>
      </p:sp>
      <p:sp>
        <p:nvSpPr>
          <p:cNvPr id="6031011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99455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889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E91E96-98B0-4413-9547-46F3504108EF}" type="datetimeFigureOut">
              <a:rPr lang="en-US"/>
              <a:t>6/29/2026</a:t>
            </a:fld>
            <a:endParaRPr lang="en-US"/>
          </a:p>
        </p:txBody>
      </p:sp>
      <p:sp>
        <p:nvSpPr>
          <p:cNvPr id="15935297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574024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572405" name="Title 7"/>
          <p:cNvSpPr>
            <a:spLocks noGrp="1"/>
          </p:cNvSpPr>
          <p:nvPr>
            <p:ph type="title"/>
          </p:nvPr>
        </p:nvSpPr>
        <p:spPr bwMode="auto"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5582889" name="Content Placeholder 2"/>
          <p:cNvSpPr>
            <a:spLocks noGrp="1"/>
          </p:cNvSpPr>
          <p:nvPr>
            <p:ph idx="1"/>
          </p:nvPr>
        </p:nvSpPr>
        <p:spPr bwMode="auto"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068380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66735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C68B11-C5A8-448C-8CE9-B1A273C79CFC}" type="datetimeFigureOut">
              <a:rPr lang="en-US"/>
              <a:t>6/29/2026</a:t>
            </a:fld>
            <a:endParaRPr lang="en-US"/>
          </a:p>
        </p:txBody>
      </p:sp>
      <p:sp>
        <p:nvSpPr>
          <p:cNvPr id="847571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20589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935788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489922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403865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53596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616CA0-919D-4A49-9C8A-62FDFB3A5183}" type="datetimeFigureOut">
              <a:rPr lang="en-US"/>
              <a:t>6/29/2026</a:t>
            </a:fld>
            <a:endParaRPr lang="en-US"/>
          </a:p>
        </p:txBody>
      </p:sp>
      <p:sp>
        <p:nvSpPr>
          <p:cNvPr id="15329357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46084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67E5644-1E61-4311-A31E-84CB9C7AA8A9}" type="slidenum">
              <a:rPr lang="en-US"/>
              <a:t>‹#›</a:t>
            </a:fld>
            <a:endParaRPr lang="en-US"/>
          </a:p>
        </p:txBody>
      </p:sp>
      <p:cxnSp>
        <p:nvCxnSpPr>
          <p:cNvPr id="2104086391" name="Straight Connector 7"/>
          <p:cNvCxnSpPr/>
          <p:nvPr/>
        </p:nvCxnSpPr>
        <p:spPr bwMode="auto">
          <a:xfrm flipH="1"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604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586847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95838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D73815-2707-4475-8F1A-B873CB631BB4}" type="datetimeFigureOut">
              <a:rPr lang="en-US"/>
              <a:t>6/29/2026</a:t>
            </a:fld>
            <a:endParaRPr lang="en-US"/>
          </a:p>
        </p:txBody>
      </p:sp>
      <p:sp>
        <p:nvSpPr>
          <p:cNvPr id="1243160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7920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18344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979478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90601" y="762000"/>
            <a:ext cx="7581899" cy="541020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775040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4AFB99-0EAB-4182-AFF8-E214C82A68F6}" type="datetimeFigureOut">
              <a:rPr lang="en-US"/>
              <a:t>6/29/2026</a:t>
            </a:fld>
            <a:endParaRPr lang="en-US"/>
          </a:p>
        </p:txBody>
      </p:sp>
      <p:sp>
        <p:nvSpPr>
          <p:cNvPr id="6288357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7655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949197646" name="Straight Connector 6"/>
          <p:cNvCxnSpPr/>
          <p:nvPr/>
        </p:nvCxnSpPr>
        <p:spPr bwMode="auto">
          <a:xfrm rot="5400000" flipH="1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029661" name="Title Placeholder 1" title="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840085" name="Text Placeholder 2" title="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6477021" name="Date Placeholder 3" title="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FD0B7A-F5DD-4F40-B4CB-3B2C354B893A}" type="datetimeFigureOut">
              <a:rPr lang="en-US"/>
              <a:t>11/7/2009</a:t>
            </a:fld>
            <a:endParaRPr lang="en-US"/>
          </a:p>
        </p:txBody>
      </p:sp>
      <p:sp>
        <p:nvSpPr>
          <p:cNvPr id="1507025516" name="Footer Placeholder 4" title="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0232236" name="Slide Number Placeholder 5" title="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359644" name="Title Placeholder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99331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317317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0298CD5-6C1E-4009-B41F-6DF62E31D3BE}" type="datetimeFigureOut">
              <a:rPr lang="en-US"/>
              <a:t>5/30/2026</a:t>
            </a:fld>
            <a:endParaRPr lang="en-US"/>
          </a:p>
        </p:txBody>
      </p:sp>
      <p:sp>
        <p:nvSpPr>
          <p:cNvPr id="10870490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00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3321048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690543852" name="Straight Connector 6"/>
          <p:cNvCxnSpPr/>
          <p:nvPr/>
        </p:nvCxnSpPr>
        <p:spPr bwMode="auto">
          <a:xfrm flipH="1"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80000"/>
        </a:lnSpc>
        <a:spcBef>
          <a:spcPts val="0"/>
        </a:spcBef>
        <a:buNone/>
        <a:defRPr sz="5000" cap="all" spc="1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Tx/>
        <a:buFont typeface="Tw Cen MT"/>
        <a:buChar char=" 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1216151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1362455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243614" name="Title Placeholder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4912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592493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0298CD5-6C1E-4009-B41F-6DF62E31D3BE}" type="datetimeFigureOut">
              <a:rPr lang="en-US"/>
              <a:t>6/29/2026</a:t>
            </a:fld>
            <a:endParaRPr lang="en-US"/>
          </a:p>
        </p:txBody>
      </p:sp>
      <p:sp>
        <p:nvSpPr>
          <p:cNvPr id="5045673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00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908382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024116024" name="Straight Connector 6"/>
          <p:cNvCxnSpPr/>
          <p:nvPr/>
        </p:nvCxnSpPr>
        <p:spPr bwMode="auto">
          <a:xfrm flipH="1"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>
        <a:lnSpc>
          <a:spcPct val="80000"/>
        </a:lnSpc>
        <a:spcBef>
          <a:spcPts val="0"/>
        </a:spcBef>
        <a:buNone/>
        <a:defRPr sz="5000" cap="all" spc="1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Tx/>
        <a:buFont typeface="Tw Cen MT"/>
        <a:buChar char=" 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1216151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1362455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524733" name="Title Placeholder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520483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035884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0298CD5-6C1E-4009-B41F-6DF62E31D3BE}" type="datetimeFigureOut">
              <a:rPr lang="en-US"/>
              <a:t>6/29/2026</a:t>
            </a:fld>
            <a:endParaRPr lang="en-US"/>
          </a:p>
        </p:txBody>
      </p:sp>
      <p:sp>
        <p:nvSpPr>
          <p:cNvPr id="4178344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00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340655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16263966" name="Straight Connector 6"/>
          <p:cNvCxnSpPr/>
          <p:nvPr/>
        </p:nvCxnSpPr>
        <p:spPr bwMode="auto">
          <a:xfrm flipH="1"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>
        <a:lnSpc>
          <a:spcPct val="80000"/>
        </a:lnSpc>
        <a:spcBef>
          <a:spcPts val="0"/>
        </a:spcBef>
        <a:buNone/>
        <a:defRPr sz="5000" cap="all" spc="1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Tx/>
        <a:buFont typeface="Tw Cen MT"/>
        <a:buChar char=" 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1216151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1362455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155317" name="Title 1"/>
          <p:cNvSpPr>
            <a:spLocks noGrp="1"/>
          </p:cNvSpPr>
          <p:nvPr>
            <p:ph type="ctrTitle"/>
          </p:nvPr>
        </p:nvSpPr>
        <p:spPr bwMode="auto">
          <a:xfrm>
            <a:off x="144093" y="4960135"/>
            <a:ext cx="8085506" cy="14630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en-US" sz="4400">
                <a:ea typeface="+mj-lt"/>
                <a:cs typeface="+mj-lt"/>
              </a:rPr>
              <a:t>KT2 - ML4 - </a:t>
            </a:r>
            <a:br>
              <a:rPr lang="en-US" sz="4400">
                <a:ea typeface="+mj-lt"/>
                <a:cs typeface="+mj-lt"/>
              </a:rPr>
            </a:br>
            <a:r>
              <a:rPr lang="en-US" sz="4400">
                <a:ea typeface="+mj-lt"/>
                <a:cs typeface="+mj-lt"/>
              </a:rPr>
              <a:t>Kompresija ML modela </a:t>
            </a:r>
            <a:endParaRPr sz="4400"/>
          </a:p>
        </p:txBody>
      </p:sp>
      <p:sp>
        <p:nvSpPr>
          <p:cNvPr id="1898458145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581400" cy="14630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TEHNIČKI FAKULTET u Rijeci</a:t>
            </a:r>
            <a:endParaRPr lang="en-US" b="1"/>
          </a:p>
          <a:p>
            <a:pPr>
              <a:defRPr/>
            </a:pPr>
            <a:r>
              <a:rPr lang="en-US" sz="1600"/>
              <a:t>Sveučilišni diplomski studij računarstva</a:t>
            </a:r>
            <a:endParaRPr lang="en-US" sz="1600"/>
          </a:p>
          <a:p>
            <a:pPr>
              <a:defRPr/>
            </a:pPr>
            <a:r>
              <a:rPr lang="en-US" sz="1600"/>
              <a:t>Sudionici: Jakov Dragičević, Silvia Petrović, Luka Capan, Borna Budić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63505727" name="Straight Arrow Connector 5"/>
          <p:cNvCxnSpPr/>
          <p:nvPr/>
        </p:nvCxnSpPr>
        <p:spPr bwMode="auto">
          <a:xfrm flipH="1">
            <a:off x="1970047" y="1055506"/>
            <a:ext cx="27878" cy="53711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851383" name="Rectangle 6"/>
          <p:cNvSpPr/>
          <p:nvPr/>
        </p:nvSpPr>
        <p:spPr bwMode="auto">
          <a:xfrm>
            <a:off x="1161585" y="1055506"/>
            <a:ext cx="1635511" cy="4739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Input</a:t>
            </a:r>
            <a:endParaRPr/>
          </a:p>
        </p:txBody>
      </p:sp>
      <p:sp>
        <p:nvSpPr>
          <p:cNvPr id="951802167" name="Rectangle 7"/>
          <p:cNvSpPr/>
          <p:nvPr/>
        </p:nvSpPr>
        <p:spPr bwMode="auto">
          <a:xfrm>
            <a:off x="1161585" y="1678117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Conv1</a:t>
            </a:r>
            <a:endParaRPr/>
          </a:p>
        </p:txBody>
      </p:sp>
      <p:sp>
        <p:nvSpPr>
          <p:cNvPr id="1225626767" name="Rectangle 8"/>
          <p:cNvSpPr/>
          <p:nvPr/>
        </p:nvSpPr>
        <p:spPr bwMode="auto">
          <a:xfrm>
            <a:off x="1161583" y="2300726"/>
            <a:ext cx="1635511" cy="4739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MaxPool1</a:t>
            </a:r>
            <a:endParaRPr/>
          </a:p>
        </p:txBody>
      </p:sp>
      <p:sp>
        <p:nvSpPr>
          <p:cNvPr id="2076015249" name="Rectangle 9"/>
          <p:cNvSpPr/>
          <p:nvPr/>
        </p:nvSpPr>
        <p:spPr bwMode="auto">
          <a:xfrm>
            <a:off x="1161583" y="2914043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Conv2</a:t>
            </a:r>
            <a:endParaRPr lang="en-US"/>
          </a:p>
        </p:txBody>
      </p:sp>
      <p:sp>
        <p:nvSpPr>
          <p:cNvPr id="210668668" name="Rectangle 10"/>
          <p:cNvSpPr/>
          <p:nvPr/>
        </p:nvSpPr>
        <p:spPr bwMode="auto">
          <a:xfrm>
            <a:off x="1161583" y="3573823"/>
            <a:ext cx="1635511" cy="4739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MaxPool2</a:t>
            </a:r>
            <a:endParaRPr/>
          </a:p>
        </p:txBody>
      </p:sp>
      <p:sp>
        <p:nvSpPr>
          <p:cNvPr id="1385830298" name="Rectangle 11"/>
          <p:cNvSpPr/>
          <p:nvPr/>
        </p:nvSpPr>
        <p:spPr bwMode="auto">
          <a:xfrm>
            <a:off x="1161585" y="4215019"/>
            <a:ext cx="1635511" cy="473926"/>
          </a:xfrm>
          <a:prstGeom prst="rect">
            <a:avLst/>
          </a:prstGeom>
          <a:solidFill>
            <a:srgbClr val="F59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Flatten</a:t>
            </a:r>
            <a:endParaRPr/>
          </a:p>
        </p:txBody>
      </p:sp>
      <p:sp>
        <p:nvSpPr>
          <p:cNvPr id="956653509" name="Rectangle 12"/>
          <p:cNvSpPr/>
          <p:nvPr/>
        </p:nvSpPr>
        <p:spPr bwMode="auto">
          <a:xfrm>
            <a:off x="1161583" y="4902677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FC1</a:t>
            </a:r>
            <a:endParaRPr/>
          </a:p>
        </p:txBody>
      </p:sp>
      <p:sp>
        <p:nvSpPr>
          <p:cNvPr id="1462340810" name="Rectangle 13"/>
          <p:cNvSpPr/>
          <p:nvPr/>
        </p:nvSpPr>
        <p:spPr bwMode="auto">
          <a:xfrm>
            <a:off x="1161583" y="5590335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FC2</a:t>
            </a:r>
            <a:endParaRPr/>
          </a:p>
        </p:txBody>
      </p:sp>
      <p:sp>
        <p:nvSpPr>
          <p:cNvPr id="276823194" name="Rectangle 14"/>
          <p:cNvSpPr/>
          <p:nvPr/>
        </p:nvSpPr>
        <p:spPr bwMode="auto">
          <a:xfrm>
            <a:off x="1161585" y="6250116"/>
            <a:ext cx="1635511" cy="4739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Softmax</a:t>
            </a:r>
            <a:endParaRPr/>
          </a:p>
        </p:txBody>
      </p:sp>
      <p:sp>
        <p:nvSpPr>
          <p:cNvPr id="1971242269" name="TextBox 17"/>
          <p:cNvSpPr txBox="1"/>
          <p:nvPr/>
        </p:nvSpPr>
        <p:spPr bwMode="auto">
          <a:xfrm>
            <a:off x="3038706" y="1111262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3, 100, 100)</a:t>
            </a:r>
            <a:endParaRPr/>
          </a:p>
        </p:txBody>
      </p:sp>
      <p:sp>
        <p:nvSpPr>
          <p:cNvPr id="1761873998" name="TextBox 19"/>
          <p:cNvSpPr txBox="1"/>
          <p:nvPr/>
        </p:nvSpPr>
        <p:spPr bwMode="auto">
          <a:xfrm>
            <a:off x="3038706" y="1733872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8, 100, 100)</a:t>
            </a:r>
            <a:endParaRPr/>
          </a:p>
        </p:txBody>
      </p:sp>
      <p:sp>
        <p:nvSpPr>
          <p:cNvPr id="1092325473" name="TextBox 20"/>
          <p:cNvSpPr txBox="1"/>
          <p:nvPr/>
        </p:nvSpPr>
        <p:spPr bwMode="auto">
          <a:xfrm>
            <a:off x="3038706" y="2356481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8, 50, 50)</a:t>
            </a:r>
            <a:endParaRPr/>
          </a:p>
        </p:txBody>
      </p:sp>
      <p:sp>
        <p:nvSpPr>
          <p:cNvPr id="166781803" name="TextBox 22"/>
          <p:cNvSpPr txBox="1"/>
          <p:nvPr/>
        </p:nvSpPr>
        <p:spPr bwMode="auto">
          <a:xfrm>
            <a:off x="3038706" y="2969797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16, 50, 50)</a:t>
            </a:r>
            <a:endParaRPr/>
          </a:p>
        </p:txBody>
      </p:sp>
      <p:sp>
        <p:nvSpPr>
          <p:cNvPr id="1918927525" name="TextBox 23"/>
          <p:cNvSpPr txBox="1"/>
          <p:nvPr/>
        </p:nvSpPr>
        <p:spPr bwMode="auto">
          <a:xfrm>
            <a:off x="3038706" y="3629578"/>
            <a:ext cx="18418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16, 25, 25)</a:t>
            </a:r>
            <a:endParaRPr lang="en-US"/>
          </a:p>
        </p:txBody>
      </p:sp>
      <p:sp>
        <p:nvSpPr>
          <p:cNvPr id="467830670" name="TextBox 24"/>
          <p:cNvSpPr txBox="1"/>
          <p:nvPr/>
        </p:nvSpPr>
        <p:spPr bwMode="auto">
          <a:xfrm>
            <a:off x="3038706" y="4270773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10 000)</a:t>
            </a:r>
            <a:endParaRPr/>
          </a:p>
        </p:txBody>
      </p:sp>
      <p:sp>
        <p:nvSpPr>
          <p:cNvPr id="1332304512" name="TextBox 25"/>
          <p:cNvSpPr txBox="1"/>
          <p:nvPr/>
        </p:nvSpPr>
        <p:spPr bwMode="auto">
          <a:xfrm>
            <a:off x="3038706" y="4958431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128)</a:t>
            </a:r>
            <a:endParaRPr/>
          </a:p>
        </p:txBody>
      </p:sp>
      <p:sp>
        <p:nvSpPr>
          <p:cNvPr id="1298466744" name="TextBox 26"/>
          <p:cNvSpPr txBox="1"/>
          <p:nvPr/>
        </p:nvSpPr>
        <p:spPr bwMode="auto">
          <a:xfrm>
            <a:off x="3038706" y="5646088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(N, 261)</a:t>
            </a:r>
            <a:endParaRPr/>
          </a:p>
        </p:txBody>
      </p:sp>
      <p:sp>
        <p:nvSpPr>
          <p:cNvPr id="954427148" name="TextBox 27"/>
          <p:cNvSpPr txBox="1"/>
          <p:nvPr/>
        </p:nvSpPr>
        <p:spPr bwMode="auto">
          <a:xfrm>
            <a:off x="3038706" y="6305869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/>
              <a:t>Probabilities</a:t>
            </a:r>
            <a:endParaRPr lang="en-US"/>
          </a:p>
        </p:txBody>
      </p:sp>
      <p:cxnSp>
        <p:nvCxnSpPr>
          <p:cNvPr id="715022003" name="Straight Arrow Connector 5"/>
          <p:cNvCxnSpPr/>
          <p:nvPr/>
        </p:nvCxnSpPr>
        <p:spPr bwMode="auto">
          <a:xfrm flipH="1">
            <a:off x="7799346" y="419289"/>
            <a:ext cx="0" cy="62233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9561916" name="Rectangle 6"/>
          <p:cNvSpPr/>
          <p:nvPr/>
        </p:nvSpPr>
        <p:spPr bwMode="auto">
          <a:xfrm>
            <a:off x="6963006" y="419289"/>
            <a:ext cx="1635510" cy="3657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Input</a:t>
            </a:r>
            <a:endParaRPr/>
          </a:p>
        </p:txBody>
      </p:sp>
      <p:sp>
        <p:nvSpPr>
          <p:cNvPr id="1038812707" name="Rectangle 7"/>
          <p:cNvSpPr/>
          <p:nvPr/>
        </p:nvSpPr>
        <p:spPr bwMode="auto">
          <a:xfrm>
            <a:off x="6963006" y="860139"/>
            <a:ext cx="1635509" cy="34307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Conv1</a:t>
            </a:r>
            <a:endParaRPr/>
          </a:p>
        </p:txBody>
      </p:sp>
      <p:sp>
        <p:nvSpPr>
          <p:cNvPr id="941959239" name="Rectangle 8"/>
          <p:cNvSpPr/>
          <p:nvPr/>
        </p:nvSpPr>
        <p:spPr bwMode="auto">
          <a:xfrm>
            <a:off x="6963006" y="1716921"/>
            <a:ext cx="1635510" cy="3657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MaxPool1</a:t>
            </a:r>
            <a:endParaRPr/>
          </a:p>
        </p:txBody>
      </p:sp>
      <p:sp>
        <p:nvSpPr>
          <p:cNvPr id="1656607595" name="Rectangle 9"/>
          <p:cNvSpPr/>
          <p:nvPr/>
        </p:nvSpPr>
        <p:spPr bwMode="auto">
          <a:xfrm>
            <a:off x="6963006" y="2145546"/>
            <a:ext cx="1635510" cy="3657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Conv2</a:t>
            </a:r>
            <a:endParaRPr lang="en-US"/>
          </a:p>
        </p:txBody>
      </p:sp>
      <p:sp>
        <p:nvSpPr>
          <p:cNvPr id="275244968" name="Rectangle 11"/>
          <p:cNvSpPr/>
          <p:nvPr/>
        </p:nvSpPr>
        <p:spPr bwMode="auto">
          <a:xfrm>
            <a:off x="6953713" y="4684630"/>
            <a:ext cx="1635510" cy="365760"/>
          </a:xfrm>
          <a:prstGeom prst="rect">
            <a:avLst/>
          </a:prstGeom>
          <a:solidFill>
            <a:srgbClr val="F59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Flatten</a:t>
            </a:r>
            <a:endParaRPr/>
          </a:p>
        </p:txBody>
      </p:sp>
      <p:sp>
        <p:nvSpPr>
          <p:cNvPr id="501927079" name="Rectangle 12"/>
          <p:cNvSpPr/>
          <p:nvPr/>
        </p:nvSpPr>
        <p:spPr bwMode="auto">
          <a:xfrm>
            <a:off x="6953713" y="5135325"/>
            <a:ext cx="1635510" cy="3657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FC1</a:t>
            </a:r>
            <a:endParaRPr/>
          </a:p>
        </p:txBody>
      </p:sp>
      <p:sp>
        <p:nvSpPr>
          <p:cNvPr id="1728571009" name="Rectangle 13"/>
          <p:cNvSpPr/>
          <p:nvPr/>
        </p:nvSpPr>
        <p:spPr bwMode="auto">
          <a:xfrm>
            <a:off x="6953713" y="5979656"/>
            <a:ext cx="1635510" cy="2893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FC2</a:t>
            </a:r>
            <a:endParaRPr/>
          </a:p>
        </p:txBody>
      </p:sp>
      <p:sp>
        <p:nvSpPr>
          <p:cNvPr id="393955342" name="Rectangle 14"/>
          <p:cNvSpPr/>
          <p:nvPr/>
        </p:nvSpPr>
        <p:spPr bwMode="auto">
          <a:xfrm>
            <a:off x="6953713" y="6366375"/>
            <a:ext cx="1635510" cy="3343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Softmax</a:t>
            </a:r>
            <a:endParaRPr/>
          </a:p>
        </p:txBody>
      </p:sp>
      <p:sp>
        <p:nvSpPr>
          <p:cNvPr id="513039950" name="Rectangle 7"/>
          <p:cNvSpPr/>
          <p:nvPr/>
        </p:nvSpPr>
        <p:spPr bwMode="auto">
          <a:xfrm>
            <a:off x="6963006" y="1277191"/>
            <a:ext cx="1635510" cy="3657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BN1</a:t>
            </a:r>
            <a:endParaRPr lang="en-US"/>
          </a:p>
        </p:txBody>
      </p:sp>
      <p:sp>
        <p:nvSpPr>
          <p:cNvPr id="1271018539" name="Rectangle 7"/>
          <p:cNvSpPr/>
          <p:nvPr/>
        </p:nvSpPr>
        <p:spPr bwMode="auto">
          <a:xfrm>
            <a:off x="6963006" y="2571845"/>
            <a:ext cx="1635509" cy="34307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BN2</a:t>
            </a:r>
            <a:endParaRPr lang="en-US"/>
          </a:p>
        </p:txBody>
      </p:sp>
      <p:sp>
        <p:nvSpPr>
          <p:cNvPr id="1728324459" name="Rectangle 8"/>
          <p:cNvSpPr/>
          <p:nvPr/>
        </p:nvSpPr>
        <p:spPr bwMode="auto">
          <a:xfrm>
            <a:off x="6963006" y="2990017"/>
            <a:ext cx="1635510" cy="3657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MaxPool2</a:t>
            </a:r>
            <a:endParaRPr/>
          </a:p>
        </p:txBody>
      </p:sp>
      <p:sp>
        <p:nvSpPr>
          <p:cNvPr id="1005862501" name="Rectangle 9"/>
          <p:cNvSpPr/>
          <p:nvPr/>
        </p:nvSpPr>
        <p:spPr bwMode="auto">
          <a:xfrm>
            <a:off x="6953713" y="3418642"/>
            <a:ext cx="1635510" cy="3657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Conv3</a:t>
            </a:r>
            <a:endParaRPr lang="en-US"/>
          </a:p>
        </p:txBody>
      </p:sp>
      <p:sp>
        <p:nvSpPr>
          <p:cNvPr id="1923985732" name="Rectangle 7"/>
          <p:cNvSpPr/>
          <p:nvPr/>
        </p:nvSpPr>
        <p:spPr bwMode="auto">
          <a:xfrm>
            <a:off x="6963006" y="3844942"/>
            <a:ext cx="1635510" cy="3657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BN3</a:t>
            </a:r>
            <a:endParaRPr lang="en-US"/>
          </a:p>
        </p:txBody>
      </p:sp>
      <p:sp>
        <p:nvSpPr>
          <p:cNvPr id="757168752" name="Rectangle 8"/>
          <p:cNvSpPr/>
          <p:nvPr/>
        </p:nvSpPr>
        <p:spPr bwMode="auto">
          <a:xfrm>
            <a:off x="6953713" y="4266459"/>
            <a:ext cx="1635510" cy="3657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MaxPool3</a:t>
            </a:r>
            <a:endParaRPr/>
          </a:p>
        </p:txBody>
      </p:sp>
      <p:sp>
        <p:nvSpPr>
          <p:cNvPr id="546681903" name="Rectangle 7"/>
          <p:cNvSpPr/>
          <p:nvPr/>
        </p:nvSpPr>
        <p:spPr bwMode="auto">
          <a:xfrm>
            <a:off x="6953713" y="5558143"/>
            <a:ext cx="1635510" cy="3657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/>
              <a:t>Dropout</a:t>
            </a:r>
            <a:endParaRPr lang="en-US"/>
          </a:p>
        </p:txBody>
      </p:sp>
      <p:sp>
        <p:nvSpPr>
          <p:cNvPr id="606778894" name="TextBox 17"/>
          <p:cNvSpPr txBox="1"/>
          <p:nvPr/>
        </p:nvSpPr>
        <p:spPr bwMode="auto">
          <a:xfrm>
            <a:off x="8735398" y="414272"/>
            <a:ext cx="304027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3, 100, 100)</a:t>
            </a:r>
            <a:endParaRPr sz="1500"/>
          </a:p>
        </p:txBody>
      </p:sp>
      <p:sp>
        <p:nvSpPr>
          <p:cNvPr id="1630919010" name="TextBox 19"/>
          <p:cNvSpPr txBox="1"/>
          <p:nvPr/>
        </p:nvSpPr>
        <p:spPr bwMode="auto">
          <a:xfrm>
            <a:off x="8735397" y="832442"/>
            <a:ext cx="304027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8, 100, 100)</a:t>
            </a:r>
            <a:endParaRPr sz="1500"/>
          </a:p>
        </p:txBody>
      </p:sp>
      <p:sp>
        <p:nvSpPr>
          <p:cNvPr id="2146255814" name="TextBox 20"/>
          <p:cNvSpPr txBox="1"/>
          <p:nvPr/>
        </p:nvSpPr>
        <p:spPr bwMode="auto">
          <a:xfrm>
            <a:off x="8735398" y="1294853"/>
            <a:ext cx="304243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8, 100, 100)</a:t>
            </a:r>
            <a:endParaRPr sz="1500"/>
          </a:p>
        </p:txBody>
      </p:sp>
      <p:sp>
        <p:nvSpPr>
          <p:cNvPr id="985689015" name="TextBox 22"/>
          <p:cNvSpPr txBox="1"/>
          <p:nvPr/>
        </p:nvSpPr>
        <p:spPr bwMode="auto">
          <a:xfrm>
            <a:off x="8735397" y="1711903"/>
            <a:ext cx="304135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8, 50, 50)</a:t>
            </a:r>
            <a:endParaRPr sz="1500"/>
          </a:p>
        </p:txBody>
      </p:sp>
      <p:sp>
        <p:nvSpPr>
          <p:cNvPr id="38906954" name="TextBox 23"/>
          <p:cNvSpPr txBox="1"/>
          <p:nvPr/>
        </p:nvSpPr>
        <p:spPr bwMode="auto">
          <a:xfrm>
            <a:off x="8735398" y="2162970"/>
            <a:ext cx="304315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16, 50, 50)</a:t>
            </a:r>
            <a:endParaRPr sz="1500"/>
          </a:p>
        </p:txBody>
      </p:sp>
      <p:sp>
        <p:nvSpPr>
          <p:cNvPr id="1355965861" name="TextBox 24"/>
          <p:cNvSpPr txBox="1"/>
          <p:nvPr/>
        </p:nvSpPr>
        <p:spPr bwMode="auto">
          <a:xfrm>
            <a:off x="8735397" y="2566829"/>
            <a:ext cx="304099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(N, 16, 50, 50)</a:t>
            </a:r>
            <a:endParaRPr/>
          </a:p>
        </p:txBody>
      </p:sp>
      <p:sp>
        <p:nvSpPr>
          <p:cNvPr id="1104695522" name="TextBox 25"/>
          <p:cNvSpPr txBox="1"/>
          <p:nvPr/>
        </p:nvSpPr>
        <p:spPr bwMode="auto">
          <a:xfrm>
            <a:off x="8735397" y="2990018"/>
            <a:ext cx="304315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(N, 16, 25, 25)</a:t>
            </a:r>
            <a:endParaRPr/>
          </a:p>
        </p:txBody>
      </p:sp>
      <p:sp>
        <p:nvSpPr>
          <p:cNvPr id="267853331" name="TextBox 26"/>
          <p:cNvSpPr txBox="1"/>
          <p:nvPr/>
        </p:nvSpPr>
        <p:spPr bwMode="auto">
          <a:xfrm>
            <a:off x="8735397" y="3408037"/>
            <a:ext cx="3043874" cy="5947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strike="noStrike" cap="none" spc="0">
                <a:solidFill>
                  <a:schemeClr val="tx1"/>
                </a:solidFill>
                <a:latin typeface="Tw Cen MT"/>
                <a:ea typeface="Arial"/>
                <a:cs typeface="Arial"/>
              </a:rPr>
              <a:t>(N, 32, 25, 25)</a:t>
            </a:r>
            <a:endParaRPr sz="1500"/>
          </a:p>
          <a:p>
            <a:pPr>
              <a:defRPr/>
            </a:pPr>
            <a:endParaRPr/>
          </a:p>
        </p:txBody>
      </p:sp>
      <p:sp>
        <p:nvSpPr>
          <p:cNvPr id="1534752484" name="TextBox 27"/>
          <p:cNvSpPr txBox="1"/>
          <p:nvPr/>
        </p:nvSpPr>
        <p:spPr bwMode="auto">
          <a:xfrm>
            <a:off x="8735397" y="6338677"/>
            <a:ext cx="304027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Probabilities</a:t>
            </a:r>
            <a:endParaRPr sz="1500"/>
          </a:p>
        </p:txBody>
      </p:sp>
      <p:sp>
        <p:nvSpPr>
          <p:cNvPr id="1207127862" name="TextBox 17"/>
          <p:cNvSpPr txBox="1"/>
          <p:nvPr/>
        </p:nvSpPr>
        <p:spPr bwMode="auto">
          <a:xfrm>
            <a:off x="8735398" y="3798481"/>
            <a:ext cx="304135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strike="noStrike" cap="none" spc="0">
                <a:solidFill>
                  <a:schemeClr val="tx1"/>
                </a:solidFill>
                <a:latin typeface="Tw Cen MT"/>
                <a:ea typeface="Arial"/>
                <a:cs typeface="Arial"/>
              </a:rPr>
              <a:t>(N, 32, 25, 25)</a:t>
            </a:r>
            <a:endParaRPr sz="1500"/>
          </a:p>
        </p:txBody>
      </p:sp>
      <p:sp>
        <p:nvSpPr>
          <p:cNvPr id="1797873758" name="TextBox 19"/>
          <p:cNvSpPr txBox="1"/>
          <p:nvPr/>
        </p:nvSpPr>
        <p:spPr bwMode="auto">
          <a:xfrm>
            <a:off x="8735398" y="4216651"/>
            <a:ext cx="304351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strike="noStrike" cap="none" spc="0">
                <a:solidFill>
                  <a:schemeClr val="tx1"/>
                </a:solidFill>
                <a:latin typeface="Tw Cen MT"/>
                <a:ea typeface="Arial"/>
                <a:cs typeface="Arial"/>
              </a:rPr>
              <a:t>(N, 32, 12, 12)</a:t>
            </a:r>
            <a:endParaRPr sz="1500"/>
          </a:p>
        </p:txBody>
      </p:sp>
      <p:sp>
        <p:nvSpPr>
          <p:cNvPr id="2004012497" name="TextBox 20"/>
          <p:cNvSpPr txBox="1"/>
          <p:nvPr/>
        </p:nvSpPr>
        <p:spPr bwMode="auto">
          <a:xfrm>
            <a:off x="8735398" y="4679062"/>
            <a:ext cx="304531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4608)</a:t>
            </a:r>
            <a:endParaRPr sz="1500"/>
          </a:p>
        </p:txBody>
      </p:sp>
      <p:sp>
        <p:nvSpPr>
          <p:cNvPr id="1016386449" name="TextBox 22"/>
          <p:cNvSpPr txBox="1"/>
          <p:nvPr/>
        </p:nvSpPr>
        <p:spPr bwMode="auto">
          <a:xfrm>
            <a:off x="8735398" y="5096111"/>
            <a:ext cx="304171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128)</a:t>
            </a:r>
            <a:endParaRPr sz="1500"/>
          </a:p>
        </p:txBody>
      </p:sp>
      <p:sp>
        <p:nvSpPr>
          <p:cNvPr id="623075290" name="TextBox 23"/>
          <p:cNvSpPr txBox="1"/>
          <p:nvPr/>
        </p:nvSpPr>
        <p:spPr bwMode="auto">
          <a:xfrm>
            <a:off x="8735398" y="5547180"/>
            <a:ext cx="304171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128)</a:t>
            </a:r>
            <a:endParaRPr sz="1500"/>
          </a:p>
        </p:txBody>
      </p:sp>
      <p:sp>
        <p:nvSpPr>
          <p:cNvPr id="1205117134" name="TextBox 24"/>
          <p:cNvSpPr txBox="1"/>
          <p:nvPr/>
        </p:nvSpPr>
        <p:spPr bwMode="auto">
          <a:xfrm>
            <a:off x="8735398" y="5951038"/>
            <a:ext cx="3043874" cy="32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/>
              <a:t>(N, 261)</a:t>
            </a:r>
            <a:endParaRPr sz="1500"/>
          </a:p>
        </p:txBody>
      </p:sp>
      <p:sp>
        <p:nvSpPr>
          <p:cNvPr id="166198079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11178370" cy="14996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Modeli</a:t>
            </a:r>
            <a:br>
              <a:rPr/>
            </a:b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080385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11178371" cy="14996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/>
              <a:t>Rezultati usporedbe modela</a:t>
            </a:r>
            <a:endParaRPr/>
          </a:p>
        </p:txBody>
      </p:sp>
      <p:sp>
        <p:nvSpPr>
          <p:cNvPr id="1751891040" name="Shape 2"/>
          <p:cNvSpPr/>
          <p:nvPr/>
        </p:nvSpPr>
        <p:spPr bwMode="auto">
          <a:xfrm>
            <a:off x="464819" y="1920240"/>
            <a:ext cx="3840480" cy="502920"/>
          </a:xfrm>
          <a:prstGeom prst="rect">
            <a:avLst/>
          </a:prstGeom>
          <a:solidFill>
            <a:srgbClr val="2DA9DA"/>
          </a:solidFill>
          <a:ln w="12700">
            <a:solidFill>
              <a:srgbClr val="2DA9DA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367369088" name="Text 3"/>
          <p:cNvSpPr/>
          <p:nvPr/>
        </p:nvSpPr>
        <p:spPr bwMode="auto">
          <a:xfrm>
            <a:off x="464819" y="192024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Metrika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760224372" name="Shape 4"/>
          <p:cNvSpPr/>
          <p:nvPr/>
        </p:nvSpPr>
        <p:spPr bwMode="auto">
          <a:xfrm>
            <a:off x="4305299" y="1920240"/>
            <a:ext cx="2560320" cy="502920"/>
          </a:xfrm>
          <a:prstGeom prst="rect">
            <a:avLst/>
          </a:prstGeom>
          <a:solidFill>
            <a:srgbClr val="2DA9DA"/>
          </a:solidFill>
          <a:ln w="12700">
            <a:solidFill>
              <a:srgbClr val="2DA9DA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2145059785" name="Text 5"/>
          <p:cNvSpPr/>
          <p:nvPr/>
        </p:nvSpPr>
        <p:spPr bwMode="auto">
          <a:xfrm>
            <a:off x="4305299" y="192024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Originalni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707087754" name="Shape 6"/>
          <p:cNvSpPr/>
          <p:nvPr/>
        </p:nvSpPr>
        <p:spPr bwMode="auto">
          <a:xfrm>
            <a:off x="6865619" y="1920240"/>
            <a:ext cx="2560320" cy="502920"/>
          </a:xfrm>
          <a:prstGeom prst="rect">
            <a:avLst/>
          </a:prstGeom>
          <a:solidFill>
            <a:srgbClr val="2DA9DA"/>
          </a:solidFill>
          <a:ln w="12700">
            <a:solidFill>
              <a:srgbClr val="2DA9DA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299838069" name="Text 7"/>
          <p:cNvSpPr/>
          <p:nvPr/>
        </p:nvSpPr>
        <p:spPr bwMode="auto">
          <a:xfrm>
            <a:off x="6865619" y="192024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Noviji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485676034" name="Shape 8"/>
          <p:cNvSpPr/>
          <p:nvPr/>
        </p:nvSpPr>
        <p:spPr bwMode="auto">
          <a:xfrm>
            <a:off x="9425939" y="1920240"/>
            <a:ext cx="2286000" cy="502920"/>
          </a:xfrm>
          <a:prstGeom prst="rect">
            <a:avLst/>
          </a:prstGeom>
          <a:solidFill>
            <a:srgbClr val="2DA9DA"/>
          </a:solidFill>
          <a:ln w="12700">
            <a:solidFill>
              <a:srgbClr val="2DA9DA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1170780502" name="Text 9"/>
          <p:cNvSpPr/>
          <p:nvPr/>
        </p:nvSpPr>
        <p:spPr bwMode="auto">
          <a:xfrm>
            <a:off x="9425939" y="192024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Razlika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211400645" name="Shape 10"/>
          <p:cNvSpPr/>
          <p:nvPr/>
        </p:nvSpPr>
        <p:spPr bwMode="auto">
          <a:xfrm>
            <a:off x="464819" y="2423160"/>
            <a:ext cx="112471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311163310" name="Text 11"/>
          <p:cNvSpPr/>
          <p:nvPr/>
        </p:nvSpPr>
        <p:spPr bwMode="auto">
          <a:xfrm>
            <a:off x="556259" y="242316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Točnost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165058775" name="Text 12"/>
          <p:cNvSpPr/>
          <p:nvPr/>
        </p:nvSpPr>
        <p:spPr bwMode="auto">
          <a:xfrm>
            <a:off x="4396739" y="24231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72.30%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301527354" name="Text 13"/>
          <p:cNvSpPr/>
          <p:nvPr/>
        </p:nvSpPr>
        <p:spPr bwMode="auto">
          <a:xfrm>
            <a:off x="6957059" y="24231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77.55%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611533506" name="Text 14"/>
          <p:cNvSpPr/>
          <p:nvPr/>
        </p:nvSpPr>
        <p:spPr bwMode="auto">
          <a:xfrm>
            <a:off x="9517379" y="242316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5CAA64"/>
                </a:solidFill>
                <a:latin typeface="Liberation Sans"/>
                <a:ea typeface="Liberation Sans"/>
                <a:cs typeface="Liberation Sans"/>
              </a:rPr>
              <a:t>+5.25%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5633542" name="Shape 15"/>
          <p:cNvSpPr/>
          <p:nvPr/>
        </p:nvSpPr>
        <p:spPr bwMode="auto">
          <a:xfrm>
            <a:off x="464819" y="29260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1638063265" name="Text 16"/>
          <p:cNvSpPr/>
          <p:nvPr/>
        </p:nvSpPr>
        <p:spPr bwMode="auto">
          <a:xfrm>
            <a:off x="556259" y="292608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Broj parametara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630608680" name="Text 17"/>
          <p:cNvSpPr/>
          <p:nvPr/>
        </p:nvSpPr>
        <p:spPr bwMode="auto">
          <a:xfrm>
            <a:off x="4396739" y="29260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1 315 189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649186015" name="Text 18"/>
          <p:cNvSpPr/>
          <p:nvPr/>
        </p:nvSpPr>
        <p:spPr bwMode="auto">
          <a:xfrm>
            <a:off x="6957059" y="29260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629 765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759195985" name="Text 19"/>
          <p:cNvSpPr/>
          <p:nvPr/>
        </p:nvSpPr>
        <p:spPr bwMode="auto">
          <a:xfrm>
            <a:off x="9517379" y="292608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5CAA64"/>
                </a:solidFill>
                <a:latin typeface="Liberation Sans"/>
                <a:ea typeface="Liberation Sans"/>
                <a:cs typeface="Liberation Sans"/>
              </a:rPr>
              <a:t>-52.1%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2123477512" name="Shape 20"/>
          <p:cNvSpPr/>
          <p:nvPr/>
        </p:nvSpPr>
        <p:spPr bwMode="auto">
          <a:xfrm>
            <a:off x="464819" y="3429000"/>
            <a:ext cx="112471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1593830565" name="Text 21"/>
          <p:cNvSpPr/>
          <p:nvPr/>
        </p:nvSpPr>
        <p:spPr bwMode="auto">
          <a:xfrm>
            <a:off x="556259" y="342900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Veličina modela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665901660" name="Text 22"/>
          <p:cNvSpPr/>
          <p:nvPr/>
        </p:nvSpPr>
        <p:spPr bwMode="auto">
          <a:xfrm>
            <a:off x="4396739" y="342900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10 275 KB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032533901" name="Text 23"/>
          <p:cNvSpPr/>
          <p:nvPr/>
        </p:nvSpPr>
        <p:spPr bwMode="auto">
          <a:xfrm>
            <a:off x="6957059" y="342900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4 920 KB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916027876" name="Text 24"/>
          <p:cNvSpPr/>
          <p:nvPr/>
        </p:nvSpPr>
        <p:spPr bwMode="auto">
          <a:xfrm>
            <a:off x="9517379" y="342900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5CAA64"/>
                </a:solidFill>
                <a:latin typeface="Liberation Sans"/>
                <a:ea typeface="Liberation Sans"/>
                <a:cs typeface="Liberation Sans"/>
              </a:rPr>
              <a:t>-52.1%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910388088" name="Shape 25"/>
          <p:cNvSpPr/>
          <p:nvPr/>
        </p:nvSpPr>
        <p:spPr bwMode="auto">
          <a:xfrm>
            <a:off x="464819" y="39319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1289525227" name="Text 26"/>
          <p:cNvSpPr/>
          <p:nvPr/>
        </p:nvSpPr>
        <p:spPr bwMode="auto">
          <a:xfrm>
            <a:off x="556259" y="393192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Inferencija / slika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993979746" name="Text 27"/>
          <p:cNvSpPr/>
          <p:nvPr/>
        </p:nvSpPr>
        <p:spPr bwMode="auto">
          <a:xfrm>
            <a:off x="4396739" y="39319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82.30 ms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693117757" name="Text 28"/>
          <p:cNvSpPr/>
          <p:nvPr/>
        </p:nvSpPr>
        <p:spPr bwMode="auto">
          <a:xfrm>
            <a:off x="6957059" y="39319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89.14 ms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919847016" name="Text 29"/>
          <p:cNvSpPr/>
          <p:nvPr/>
        </p:nvSpPr>
        <p:spPr bwMode="auto">
          <a:xfrm>
            <a:off x="9517379" y="393192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D55E5E"/>
                </a:solidFill>
                <a:latin typeface="Liberation Sans"/>
                <a:ea typeface="Liberation Sans"/>
                <a:cs typeface="Liberation Sans"/>
              </a:rPr>
              <a:t>+8.3%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760689099" name="Shape 30"/>
          <p:cNvSpPr/>
          <p:nvPr/>
        </p:nvSpPr>
        <p:spPr bwMode="auto">
          <a:xfrm>
            <a:off x="464819" y="4434840"/>
            <a:ext cx="112471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600">
              <a:latin typeface="Liberation Sans"/>
              <a:cs typeface="Liberation Sans"/>
            </a:endParaRPr>
          </a:p>
        </p:txBody>
      </p:sp>
      <p:sp>
        <p:nvSpPr>
          <p:cNvPr id="466980955" name="Text 31"/>
          <p:cNvSpPr/>
          <p:nvPr/>
        </p:nvSpPr>
        <p:spPr bwMode="auto">
          <a:xfrm>
            <a:off x="556259" y="443484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Vrijeme treninga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63641117" name="Text 32"/>
          <p:cNvSpPr/>
          <p:nvPr/>
        </p:nvSpPr>
        <p:spPr bwMode="auto">
          <a:xfrm>
            <a:off x="4396739" y="44348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2h 34min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139604084" name="Text 33"/>
          <p:cNvSpPr/>
          <p:nvPr/>
        </p:nvSpPr>
        <p:spPr bwMode="auto">
          <a:xfrm>
            <a:off x="6957059" y="44348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3h 16min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468342832" name="Text 34"/>
          <p:cNvSpPr/>
          <p:nvPr/>
        </p:nvSpPr>
        <p:spPr bwMode="auto">
          <a:xfrm>
            <a:off x="9517379" y="443484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>
                <a:solidFill>
                  <a:srgbClr val="D55E5E"/>
                </a:solidFill>
                <a:latin typeface="Liberation Sans"/>
                <a:ea typeface="Liberation Sans"/>
                <a:cs typeface="Liberation Sans"/>
              </a:rPr>
              <a:t>+27.0%</a:t>
            </a:r>
            <a:endParaRPr sz="1600">
              <a:latin typeface="Liberation Sans"/>
              <a:cs typeface="Liberation Sans"/>
            </a:endParaRPr>
          </a:p>
        </p:txBody>
      </p:sp>
      <p:sp>
        <p:nvSpPr>
          <p:cNvPr id="263662015" name="Shape 35"/>
          <p:cNvSpPr/>
          <p:nvPr/>
        </p:nvSpPr>
        <p:spPr bwMode="auto">
          <a:xfrm>
            <a:off x="464819" y="5257800"/>
            <a:ext cx="11247120" cy="1280160"/>
          </a:xfrm>
          <a:prstGeom prst="rect">
            <a:avLst/>
          </a:prstGeom>
          <a:solidFill>
            <a:srgbClr val="EAF6EC"/>
          </a:solidFill>
          <a:ln w="19050">
            <a:solidFill>
              <a:srgbClr val="5CAA6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81057323" name="Text 36"/>
          <p:cNvSpPr/>
          <p:nvPr/>
        </p:nvSpPr>
        <p:spPr bwMode="auto">
          <a:xfrm>
            <a:off x="647699" y="534923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800" b="1">
                <a:solidFill>
                  <a:srgbClr val="5CAA64"/>
                </a:solidFill>
                <a:latin typeface="Calibri"/>
                <a:ea typeface="Calibri"/>
                <a:cs typeface="Calibri"/>
              </a:rPr>
              <a:t>Zaključak</a:t>
            </a:r>
            <a:endParaRPr lang="en-US" sz="1600"/>
          </a:p>
        </p:txBody>
      </p:sp>
      <p:sp>
        <p:nvSpPr>
          <p:cNvPr id="1193151110" name="Text 37"/>
          <p:cNvSpPr/>
          <p:nvPr/>
        </p:nvSpPr>
        <p:spPr bwMode="auto">
          <a:xfrm>
            <a:off x="647699" y="5715000"/>
            <a:ext cx="10972800" cy="731520"/>
          </a:xfrm>
          <a:prstGeom prst="rect">
            <a:avLst/>
          </a:prstGeom>
          <a:noFill/>
        </p:spPr>
        <p:txBody>
          <a:bodyPr wrap="square" rtlCol="0" anchor="t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b="1">
                <a:solidFill>
                  <a:srgbClr val="5CAA64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+5.25% bolja točnost</a:t>
            </a:r>
            <a:r>
              <a:rPr lang="en-US" sz="1600" b="1">
                <a:solidFill>
                  <a:srgbClr val="5CAA64"/>
                </a:solidFill>
                <a:latin typeface="Calibri"/>
                <a:ea typeface="Calibri"/>
                <a:cs typeface="Calibri"/>
              </a:rPr>
              <a:t>    ✓ </a:t>
            </a: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52% manje parametara</a:t>
            </a:r>
            <a:r>
              <a:rPr lang="en-US" sz="1600" b="1">
                <a:solidFill>
                  <a:srgbClr val="5CAA64"/>
                </a:solidFill>
                <a:latin typeface="Calibri"/>
                <a:ea typeface="Calibri"/>
                <a:cs typeface="Calibri"/>
              </a:rPr>
              <a:t>    ✓ </a:t>
            </a: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52% manja datoteka modela</a:t>
            </a:r>
            <a:endParaRPr lang="en-US" sz="1600" b="1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60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Cijena: nešto duži trening i inferencija — prihvatljivo jer trenira se samo jednom.</a:t>
            </a:r>
            <a:endParaRPr lang="en-US" sz="1600" i="1">
              <a:solidFill>
                <a:srgbClr val="595959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41224776" name=""/>
          <p:cNvCxnSpPr/>
          <p:nvPr/>
        </p:nvCxnSpPr>
        <p:spPr bwMode="auto">
          <a:xfrm flipH="1">
            <a:off x="4230074" y="1914525"/>
            <a:ext cx="0" cy="3023235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303673" name=""/>
          <p:cNvCxnSpPr/>
          <p:nvPr/>
        </p:nvCxnSpPr>
        <p:spPr bwMode="auto">
          <a:xfrm flipH="1">
            <a:off x="6865619" y="1914525"/>
            <a:ext cx="0" cy="3023235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847735" name=""/>
          <p:cNvCxnSpPr/>
          <p:nvPr/>
        </p:nvCxnSpPr>
        <p:spPr bwMode="auto">
          <a:xfrm flipH="1">
            <a:off x="9583124" y="1920240"/>
            <a:ext cx="0" cy="2981324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68830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11178371" cy="14996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/>
              <a:t>Gdje su parametri?</a:t>
            </a:r>
            <a:endParaRPr/>
          </a:p>
        </p:txBody>
      </p:sp>
      <p:sp>
        <p:nvSpPr>
          <p:cNvPr id="273359670" name="Text 3"/>
          <p:cNvSpPr/>
          <p:nvPr/>
        </p:nvSpPr>
        <p:spPr bwMode="auto"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Originalni model (1.32M parametara)</a:t>
            </a:r>
            <a:endParaRPr lang="en-US" sz="1500"/>
          </a:p>
        </p:txBody>
      </p:sp>
      <p:sp>
        <p:nvSpPr>
          <p:cNvPr id="2028273795" name="Text 4"/>
          <p:cNvSpPr/>
          <p:nvPr/>
        </p:nvSpPr>
        <p:spPr bwMode="auto">
          <a:xfrm>
            <a:off x="640080" y="2240280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Conv1</a:t>
            </a:r>
            <a:endParaRPr lang="en-US" sz="1200"/>
          </a:p>
        </p:txBody>
      </p:sp>
      <p:sp>
        <p:nvSpPr>
          <p:cNvPr id="1774659192" name="Shape 5"/>
          <p:cNvSpPr/>
          <p:nvPr/>
        </p:nvSpPr>
        <p:spPr bwMode="auto">
          <a:xfrm>
            <a:off x="2468880" y="2286000"/>
            <a:ext cx="45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94711427" name="Text 6"/>
          <p:cNvSpPr/>
          <p:nvPr/>
        </p:nvSpPr>
        <p:spPr bwMode="auto">
          <a:xfrm>
            <a:off x="9875520" y="2240280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224</a:t>
            </a:r>
            <a:endParaRPr lang="en-US" sz="1200"/>
          </a:p>
        </p:txBody>
      </p:sp>
      <p:sp>
        <p:nvSpPr>
          <p:cNvPr id="1425318071" name="Text 7"/>
          <p:cNvSpPr/>
          <p:nvPr/>
        </p:nvSpPr>
        <p:spPr bwMode="auto">
          <a:xfrm>
            <a:off x="640080" y="2633472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Conv2</a:t>
            </a:r>
            <a:endParaRPr lang="en-US" sz="1200"/>
          </a:p>
        </p:txBody>
      </p:sp>
      <p:sp>
        <p:nvSpPr>
          <p:cNvPr id="1325064597" name="Shape 8"/>
          <p:cNvSpPr/>
          <p:nvPr/>
        </p:nvSpPr>
        <p:spPr bwMode="auto">
          <a:xfrm>
            <a:off x="2468880" y="2679192"/>
            <a:ext cx="45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85711202" name="Text 9"/>
          <p:cNvSpPr/>
          <p:nvPr/>
        </p:nvSpPr>
        <p:spPr bwMode="auto">
          <a:xfrm>
            <a:off x="9875520" y="2633472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1 168</a:t>
            </a:r>
            <a:endParaRPr lang="en-US" sz="1200"/>
          </a:p>
        </p:txBody>
      </p:sp>
      <p:sp>
        <p:nvSpPr>
          <p:cNvPr id="385302534" name="Text 10"/>
          <p:cNvSpPr/>
          <p:nvPr/>
        </p:nvSpPr>
        <p:spPr bwMode="auto">
          <a:xfrm>
            <a:off x="640080" y="3026664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FC1</a:t>
            </a:r>
            <a:endParaRPr lang="en-US" sz="1200"/>
          </a:p>
        </p:txBody>
      </p:sp>
      <p:sp>
        <p:nvSpPr>
          <p:cNvPr id="1039240357" name="Shape 11"/>
          <p:cNvSpPr/>
          <p:nvPr/>
        </p:nvSpPr>
        <p:spPr bwMode="auto">
          <a:xfrm>
            <a:off x="2468880" y="3072384"/>
            <a:ext cx="7315200" cy="256032"/>
          </a:xfrm>
          <a:prstGeom prst="rect">
            <a:avLst/>
          </a:prstGeom>
          <a:solidFill>
            <a:srgbClr val="D55E5E"/>
          </a:solidFill>
          <a:ln w="12700">
            <a:solidFill>
              <a:srgbClr val="D55E5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99862341" name="Text 12"/>
          <p:cNvSpPr/>
          <p:nvPr/>
        </p:nvSpPr>
        <p:spPr bwMode="auto">
          <a:xfrm>
            <a:off x="9875520" y="3026664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1 280 128</a:t>
            </a:r>
            <a:endParaRPr lang="en-US" sz="1200"/>
          </a:p>
        </p:txBody>
      </p:sp>
      <p:sp>
        <p:nvSpPr>
          <p:cNvPr id="18261370" name="Text 13"/>
          <p:cNvSpPr/>
          <p:nvPr/>
        </p:nvSpPr>
        <p:spPr bwMode="auto">
          <a:xfrm>
            <a:off x="640080" y="3419856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FC2</a:t>
            </a:r>
            <a:endParaRPr lang="en-US" sz="1200"/>
          </a:p>
        </p:txBody>
      </p:sp>
      <p:sp>
        <p:nvSpPr>
          <p:cNvPr id="1520907013" name="Shape 14"/>
          <p:cNvSpPr/>
          <p:nvPr/>
        </p:nvSpPr>
        <p:spPr bwMode="auto">
          <a:xfrm>
            <a:off x="2468880" y="3465576"/>
            <a:ext cx="192398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86501335" name="Text 15"/>
          <p:cNvSpPr/>
          <p:nvPr/>
        </p:nvSpPr>
        <p:spPr bwMode="auto">
          <a:xfrm>
            <a:off x="9875520" y="3419856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33 669</a:t>
            </a:r>
            <a:endParaRPr lang="en-US" sz="1200"/>
          </a:p>
        </p:txBody>
      </p:sp>
      <p:sp>
        <p:nvSpPr>
          <p:cNvPr id="1855497747" name="Text 16"/>
          <p:cNvSpPr/>
          <p:nvPr/>
        </p:nvSpPr>
        <p:spPr bwMode="auto">
          <a:xfrm>
            <a:off x="640080" y="39319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>
                <a:solidFill>
                  <a:srgbClr val="2DA9DA"/>
                </a:solidFill>
                <a:latin typeface="Calibri"/>
                <a:ea typeface="Calibri"/>
                <a:cs typeface="Calibri"/>
              </a:rPr>
              <a:t>Noviji model (630K parametara)</a:t>
            </a:r>
            <a:endParaRPr lang="en-US" sz="1500"/>
          </a:p>
        </p:txBody>
      </p:sp>
      <p:sp>
        <p:nvSpPr>
          <p:cNvPr id="657512199" name="Text 17"/>
          <p:cNvSpPr/>
          <p:nvPr/>
        </p:nvSpPr>
        <p:spPr bwMode="auto">
          <a:xfrm>
            <a:off x="640080" y="4343400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Conv1</a:t>
            </a:r>
            <a:endParaRPr lang="en-US" sz="1200"/>
          </a:p>
        </p:txBody>
      </p:sp>
      <p:sp>
        <p:nvSpPr>
          <p:cNvPr id="611714724" name="Shape 18"/>
          <p:cNvSpPr/>
          <p:nvPr/>
        </p:nvSpPr>
        <p:spPr bwMode="auto">
          <a:xfrm>
            <a:off x="2468880" y="4389120"/>
            <a:ext cx="45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52590509" name="Text 19"/>
          <p:cNvSpPr/>
          <p:nvPr/>
        </p:nvSpPr>
        <p:spPr bwMode="auto">
          <a:xfrm>
            <a:off x="9875520" y="4343400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224</a:t>
            </a:r>
            <a:endParaRPr lang="en-US" sz="1200"/>
          </a:p>
        </p:txBody>
      </p:sp>
      <p:sp>
        <p:nvSpPr>
          <p:cNvPr id="1574899459" name="Text 20"/>
          <p:cNvSpPr/>
          <p:nvPr/>
        </p:nvSpPr>
        <p:spPr bwMode="auto">
          <a:xfrm>
            <a:off x="640080" y="4736592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Conv2</a:t>
            </a:r>
            <a:endParaRPr lang="en-US" sz="1200"/>
          </a:p>
        </p:txBody>
      </p:sp>
      <p:sp>
        <p:nvSpPr>
          <p:cNvPr id="721529069" name="Shape 21"/>
          <p:cNvSpPr/>
          <p:nvPr/>
        </p:nvSpPr>
        <p:spPr bwMode="auto">
          <a:xfrm>
            <a:off x="2468880" y="4782312"/>
            <a:ext cx="45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88418046" name="Text 22"/>
          <p:cNvSpPr/>
          <p:nvPr/>
        </p:nvSpPr>
        <p:spPr bwMode="auto">
          <a:xfrm>
            <a:off x="9875520" y="4736592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1 168</a:t>
            </a:r>
            <a:endParaRPr lang="en-US" sz="1200"/>
          </a:p>
        </p:txBody>
      </p:sp>
      <p:sp>
        <p:nvSpPr>
          <p:cNvPr id="141629468" name="Text 23"/>
          <p:cNvSpPr/>
          <p:nvPr/>
        </p:nvSpPr>
        <p:spPr bwMode="auto">
          <a:xfrm>
            <a:off x="640080" y="5129784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 b="1">
                <a:solidFill>
                  <a:srgbClr val="2DA9DA"/>
                </a:solidFill>
                <a:latin typeface="Consolas"/>
                <a:ea typeface="Consolas"/>
                <a:cs typeface="Consolas"/>
              </a:rPr>
              <a:t>Conv3  ← novo</a:t>
            </a:r>
            <a:endParaRPr lang="en-US" sz="1200"/>
          </a:p>
        </p:txBody>
      </p:sp>
      <p:sp>
        <p:nvSpPr>
          <p:cNvPr id="1674616447" name="Shape 24"/>
          <p:cNvSpPr/>
          <p:nvPr/>
        </p:nvSpPr>
        <p:spPr bwMode="auto">
          <a:xfrm>
            <a:off x="2468880" y="5175503"/>
            <a:ext cx="82295" cy="256032"/>
          </a:xfrm>
          <a:prstGeom prst="rect">
            <a:avLst/>
          </a:prstGeom>
          <a:solidFill>
            <a:srgbClr val="2DA9DA"/>
          </a:solidFill>
          <a:ln w="12700">
            <a:solidFill>
              <a:srgbClr val="2DA9DA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7710822" name="Text 25"/>
          <p:cNvSpPr/>
          <p:nvPr/>
        </p:nvSpPr>
        <p:spPr bwMode="auto">
          <a:xfrm>
            <a:off x="9875520" y="5129784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4 640</a:t>
            </a:r>
            <a:endParaRPr lang="en-US" sz="1200"/>
          </a:p>
        </p:txBody>
      </p:sp>
      <p:sp>
        <p:nvSpPr>
          <p:cNvPr id="266009931" name="Text 26"/>
          <p:cNvSpPr/>
          <p:nvPr/>
        </p:nvSpPr>
        <p:spPr bwMode="auto">
          <a:xfrm>
            <a:off x="640080" y="5522976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FC1</a:t>
            </a:r>
            <a:endParaRPr lang="en-US" sz="1200"/>
          </a:p>
        </p:txBody>
      </p:sp>
      <p:sp>
        <p:nvSpPr>
          <p:cNvPr id="1827406473" name="Shape 27"/>
          <p:cNvSpPr/>
          <p:nvPr/>
        </p:nvSpPr>
        <p:spPr bwMode="auto">
          <a:xfrm>
            <a:off x="2468880" y="5568696"/>
            <a:ext cx="3371238" cy="256032"/>
          </a:xfrm>
          <a:prstGeom prst="rect">
            <a:avLst/>
          </a:prstGeom>
          <a:solidFill>
            <a:srgbClr val="5CAA64"/>
          </a:solidFill>
          <a:ln w="12700">
            <a:solidFill>
              <a:srgbClr val="5CAA6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16671730" name="Text 28"/>
          <p:cNvSpPr/>
          <p:nvPr/>
        </p:nvSpPr>
        <p:spPr bwMode="auto">
          <a:xfrm>
            <a:off x="9875520" y="5522976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589 952</a:t>
            </a:r>
            <a:endParaRPr lang="en-US" sz="1200"/>
          </a:p>
        </p:txBody>
      </p:sp>
      <p:sp>
        <p:nvSpPr>
          <p:cNvPr id="1216809893" name="Text 29"/>
          <p:cNvSpPr/>
          <p:nvPr/>
        </p:nvSpPr>
        <p:spPr bwMode="auto">
          <a:xfrm>
            <a:off x="640080" y="5916168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FC2</a:t>
            </a:r>
            <a:endParaRPr lang="en-US" sz="1200"/>
          </a:p>
        </p:txBody>
      </p:sp>
      <p:sp>
        <p:nvSpPr>
          <p:cNvPr id="1261131857" name="Shape 30"/>
          <p:cNvSpPr/>
          <p:nvPr/>
        </p:nvSpPr>
        <p:spPr bwMode="auto">
          <a:xfrm>
            <a:off x="2468880" y="5961888"/>
            <a:ext cx="192398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17842855" name="Text 31"/>
          <p:cNvSpPr/>
          <p:nvPr/>
        </p:nvSpPr>
        <p:spPr bwMode="auto">
          <a:xfrm>
            <a:off x="9875520" y="5916168"/>
            <a:ext cx="1828800" cy="34747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33 669</a:t>
            </a:r>
            <a:endParaRPr lang="en-US" sz="1200"/>
          </a:p>
        </p:txBody>
      </p:sp>
      <p:sp>
        <p:nvSpPr>
          <p:cNvPr id="394886405" name="Shape 32"/>
          <p:cNvSpPr/>
          <p:nvPr/>
        </p:nvSpPr>
        <p:spPr bwMode="auto">
          <a:xfrm>
            <a:off x="640080" y="6492240"/>
            <a:ext cx="11247120" cy="365760"/>
          </a:xfrm>
          <a:prstGeom prst="rect">
            <a:avLst/>
          </a:prstGeom>
          <a:solidFill>
            <a:srgbClr val="EAF6EC"/>
          </a:solidFill>
          <a:ln w="12700">
            <a:solidFill>
              <a:srgbClr val="5CAA6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26440958" name="Text 33"/>
          <p:cNvSpPr/>
          <p:nvPr/>
        </p:nvSpPr>
        <p:spPr bwMode="auto">
          <a:xfrm>
            <a:off x="297452" y="6492240"/>
            <a:ext cx="11780447" cy="365759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i="1">
                <a:solidFill>
                  <a:srgbClr val="5CAA64"/>
                </a:solidFill>
                <a:latin typeface="Calibri"/>
                <a:ea typeface="Calibri"/>
                <a:cs typeface="Calibri"/>
              </a:rPr>
              <a:t>FC1 je smanjen sa 1,280,128 na 589,952 (-54%)  jer MaxPool3 smanjuje ulaz sa 10000 na 4608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580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 sz="5000" b="0" i="0" u="none" strike="noStrike" cap="all" spc="99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Treniranje modela</a:t>
            </a:r>
            <a:endParaRPr b="0"/>
          </a:p>
        </p:txBody>
      </p:sp>
      <p:sp>
        <p:nvSpPr>
          <p:cNvPr id="961776141" name="Text 2"/>
          <p:cNvSpPr/>
          <p:nvPr/>
        </p:nvSpPr>
        <p:spPr bwMode="auto">
          <a:xfrm>
            <a:off x="731520" y="2491740"/>
            <a:ext cx="2926080" cy="1417319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hr-HR" sz="1400">
                <a:solidFill>
                  <a:srgbClr val="102A43"/>
                </a:solidFill>
                <a:latin typeface="Aptos"/>
              </a:rPr>
              <a:t>POČETNO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osnovna petlja treninga</a:t>
            </a:r>
            <a:endParaRPr lang="en-US" sz="140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učitavanje dataseta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spremanje modela</a:t>
            </a:r>
            <a:endParaRPr lang="en-US" sz="1400"/>
          </a:p>
        </p:txBody>
      </p:sp>
      <p:sp>
        <p:nvSpPr>
          <p:cNvPr id="1837039652" name="Shape 3"/>
          <p:cNvSpPr/>
          <p:nvPr/>
        </p:nvSpPr>
        <p:spPr bwMode="auto">
          <a:xfrm>
            <a:off x="3840480" y="3204972"/>
            <a:ext cx="8229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6883603" name="Text 4"/>
          <p:cNvSpPr/>
          <p:nvPr/>
        </p:nvSpPr>
        <p:spPr bwMode="auto">
          <a:xfrm>
            <a:off x="4754880" y="2491740"/>
            <a:ext cx="2926080" cy="1417319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ZAVRŠNO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trening za stvarne eksperimente</a:t>
            </a:r>
            <a:endParaRPr lang="en-US" sz="140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train/test metrike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usporedba modela</a:t>
            </a:r>
            <a:endParaRPr lang="en-US" sz="1400"/>
          </a:p>
        </p:txBody>
      </p:sp>
      <p:sp>
        <p:nvSpPr>
          <p:cNvPr id="1730648172" name="Shape 5"/>
          <p:cNvSpPr/>
          <p:nvPr/>
        </p:nvSpPr>
        <p:spPr bwMode="auto">
          <a:xfrm>
            <a:off x="7863840" y="3204972"/>
            <a:ext cx="8229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98574442" name="Text 6"/>
          <p:cNvSpPr/>
          <p:nvPr/>
        </p:nvSpPr>
        <p:spPr bwMode="auto">
          <a:xfrm>
            <a:off x="8778240" y="2491740"/>
            <a:ext cx="2743200" cy="1417319"/>
          </a:xfrm>
          <a:prstGeom prst="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REZULTAT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postaje ulaz</a:t>
            </a:r>
            <a:endParaRPr lang="en-US" sz="140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za pruning i quantization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usporediv baseline</a:t>
            </a:r>
            <a:endParaRPr lang="en-US" sz="1400"/>
          </a:p>
        </p:txBody>
      </p:sp>
      <p:sp>
        <p:nvSpPr>
          <p:cNvPr id="1540799322" name="Text 7"/>
          <p:cNvSpPr/>
          <p:nvPr/>
        </p:nvSpPr>
        <p:spPr bwMode="auto">
          <a:xfrm>
            <a:off x="822960" y="3589019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700"/>
          </a:p>
        </p:txBody>
      </p:sp>
      <p:sp>
        <p:nvSpPr>
          <p:cNvPr id="197253380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31519" y="4771571"/>
            <a:ext cx="10853622" cy="1336619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upright="0" compatLnSpc="0">
            <a:normAutofit/>
          </a:bodyPr>
          <a:lstStyle/>
          <a:p>
            <a:pPr marL="272864" indent="-272864">
              <a:buFont typeface="Arial"/>
              <a:buChar char="•"/>
              <a:defRPr/>
            </a:pPr>
            <a:r>
              <a:rPr lang="hr-HR" sz="19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Daje se</a:t>
            </a:r>
            <a:r>
              <a:rPr lang="en-US" sz="19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referentni model prije kompresije</a:t>
            </a:r>
            <a:r>
              <a:rPr lang="hr-HR" sz="19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, zatim se </a:t>
            </a:r>
            <a:r>
              <a:rPr lang="en-US" sz="19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mjeri loss, train accuracy i test accuracy</a:t>
            </a:r>
            <a:endParaRPr sz="1900">
              <a:latin typeface="Aptos"/>
              <a:cs typeface="Aptos"/>
            </a:endParaRPr>
          </a:p>
          <a:p>
            <a:pPr marL="272864" indent="-272864">
              <a:buFont typeface="Arial"/>
              <a:buChar char="•"/>
              <a:defRPr/>
            </a:pPr>
            <a:r>
              <a:rPr lang="hr-HR" sz="19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19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zlaz je spremljeni .npz model za sljedeće faze</a:t>
            </a:r>
            <a:endParaRPr sz="1900">
              <a:latin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776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 sz="5000" b="0" i="0" u="none" strike="noStrike" cap="all" spc="99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Training pipeline</a:t>
            </a:r>
            <a:endParaRPr b="0"/>
          </a:p>
        </p:txBody>
      </p:sp>
      <p:sp>
        <p:nvSpPr>
          <p:cNvPr id="2105934593" name="Text 2"/>
          <p:cNvSpPr/>
          <p:nvPr/>
        </p:nvSpPr>
        <p:spPr bwMode="auto">
          <a:xfrm>
            <a:off x="237744" y="2404109"/>
            <a:ext cx="233172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Dataset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Fruits-360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100 slika po klasi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normalizacija [0,1]</a:t>
            </a:r>
            <a:endParaRPr lang="en-US" sz="1400"/>
          </a:p>
        </p:txBody>
      </p:sp>
      <p:sp>
        <p:nvSpPr>
          <p:cNvPr id="64620097" name="Shape 3"/>
          <p:cNvSpPr/>
          <p:nvPr/>
        </p:nvSpPr>
        <p:spPr bwMode="auto">
          <a:xfrm>
            <a:off x="2679192" y="3062477"/>
            <a:ext cx="621791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91686848" name="Text 4"/>
          <p:cNvSpPr/>
          <p:nvPr/>
        </p:nvSpPr>
        <p:spPr bwMode="auto">
          <a:xfrm>
            <a:off x="3374136" y="2404109"/>
            <a:ext cx="2331720" cy="1325880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Model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SimpleCNN / improved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forward + backward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bez frameworka</a:t>
            </a:r>
            <a:endParaRPr lang="en-US" sz="1400"/>
          </a:p>
        </p:txBody>
      </p:sp>
      <p:sp>
        <p:nvSpPr>
          <p:cNvPr id="62715139" name="Shape 5"/>
          <p:cNvSpPr/>
          <p:nvPr/>
        </p:nvSpPr>
        <p:spPr bwMode="auto">
          <a:xfrm>
            <a:off x="5815584" y="3062477"/>
            <a:ext cx="6126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81013609" name="Text 6"/>
          <p:cNvSpPr/>
          <p:nvPr/>
        </p:nvSpPr>
        <p:spPr bwMode="auto">
          <a:xfrm>
            <a:off x="6501384" y="2404109"/>
            <a:ext cx="233172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Učenje</a:t>
            </a:r>
            <a:endParaRPr lang="en-US" sz="140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Cross-entropy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SGD + momentum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15 epoha</a:t>
            </a:r>
            <a:endParaRPr lang="en-US" sz="1400"/>
          </a:p>
        </p:txBody>
      </p:sp>
      <p:sp>
        <p:nvSpPr>
          <p:cNvPr id="2100324467" name="Shape 7"/>
          <p:cNvSpPr/>
          <p:nvPr/>
        </p:nvSpPr>
        <p:spPr bwMode="auto">
          <a:xfrm>
            <a:off x="8942832" y="3062477"/>
            <a:ext cx="621791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43402469" name="Text 8"/>
          <p:cNvSpPr/>
          <p:nvPr/>
        </p:nvSpPr>
        <p:spPr bwMode="auto">
          <a:xfrm flipH="0" flipV="0">
            <a:off x="9628632" y="2404109"/>
            <a:ext cx="2373215" cy="1325880"/>
          </a:xfrm>
          <a:prstGeom prst="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Metrike</a:t>
            </a:r>
            <a:endParaRPr lang="en-US" sz="1400"/>
          </a:p>
          <a:p>
            <a:pPr marL="0" indent="0" algn="ctr">
              <a:buNone/>
              <a:defRPr/>
            </a:pP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accuracy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train/test analiza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checkpoint</a:t>
            </a:r>
            <a:endParaRPr lang="en-US" sz="1400"/>
          </a:p>
        </p:txBody>
      </p:sp>
      <p:sp>
        <p:nvSpPr>
          <p:cNvPr id="1720962877" name="Text 9"/>
          <p:cNvSpPr/>
          <p:nvPr/>
        </p:nvSpPr>
        <p:spPr bwMode="auto"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 lIns="634" tIns="634" rIns="634" bIns="634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800" b="1">
                <a:solidFill>
                  <a:srgbClr val="102A43"/>
                </a:solidFill>
              </a:rPr>
              <a:t>Kompresiju ne možemo objektivno mjeriti bez dobro definiranog originalnog modela i njegovih metrika.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755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5000" b="0" i="0" u="none" strike="noStrike" cap="all" spc="99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Eksperimentalne postavke treninga</a:t>
            </a:r>
            <a:endParaRPr b="0"/>
          </a:p>
        </p:txBody>
      </p:sp>
      <p:sp>
        <p:nvSpPr>
          <p:cNvPr id="775492793" name="Text 2"/>
          <p:cNvSpPr/>
          <p:nvPr/>
        </p:nvSpPr>
        <p:spPr bwMode="auto">
          <a:xfrm>
            <a:off x="822960" y="2529155"/>
            <a:ext cx="150875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Dataset</a:t>
            </a:r>
            <a:endParaRPr sz="1500"/>
          </a:p>
        </p:txBody>
      </p:sp>
      <p:sp>
        <p:nvSpPr>
          <p:cNvPr id="454012609" name="Text 3"/>
          <p:cNvSpPr/>
          <p:nvPr/>
        </p:nvSpPr>
        <p:spPr bwMode="auto">
          <a:xfrm>
            <a:off x="2331720" y="2529155"/>
            <a:ext cx="416051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Fruits-360, 100×100 RGB slike</a:t>
            </a:r>
            <a:endParaRPr sz="1500"/>
          </a:p>
        </p:txBody>
      </p:sp>
      <p:sp>
        <p:nvSpPr>
          <p:cNvPr id="1589665777" name="Text 4"/>
          <p:cNvSpPr/>
          <p:nvPr/>
        </p:nvSpPr>
        <p:spPr bwMode="auto">
          <a:xfrm>
            <a:off x="822960" y="3041219"/>
            <a:ext cx="150875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Trening</a:t>
            </a:r>
            <a:endParaRPr sz="1500"/>
          </a:p>
        </p:txBody>
      </p:sp>
      <p:sp>
        <p:nvSpPr>
          <p:cNvPr id="1016400410" name="Text 5"/>
          <p:cNvSpPr/>
          <p:nvPr/>
        </p:nvSpPr>
        <p:spPr bwMode="auto">
          <a:xfrm>
            <a:off x="2331720" y="3041219"/>
            <a:ext cx="416051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100 slika po klasi, oko 26k slika</a:t>
            </a:r>
            <a:endParaRPr sz="1500"/>
          </a:p>
        </p:txBody>
      </p:sp>
      <p:sp>
        <p:nvSpPr>
          <p:cNvPr id="1104041941" name="Text 6"/>
          <p:cNvSpPr/>
          <p:nvPr/>
        </p:nvSpPr>
        <p:spPr bwMode="auto">
          <a:xfrm>
            <a:off x="822960" y="3553283"/>
            <a:ext cx="150875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Evaluacija</a:t>
            </a:r>
            <a:endParaRPr sz="1500"/>
          </a:p>
        </p:txBody>
      </p:sp>
      <p:sp>
        <p:nvSpPr>
          <p:cNvPr id="2103906508" name="Text 7"/>
          <p:cNvSpPr/>
          <p:nvPr/>
        </p:nvSpPr>
        <p:spPr bwMode="auto">
          <a:xfrm>
            <a:off x="2331720" y="3553283"/>
            <a:ext cx="416051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puni test split, oko 25k slika</a:t>
            </a:r>
            <a:endParaRPr sz="1500"/>
          </a:p>
        </p:txBody>
      </p:sp>
      <p:sp>
        <p:nvSpPr>
          <p:cNvPr id="676124197" name="Text 8"/>
          <p:cNvSpPr/>
          <p:nvPr/>
        </p:nvSpPr>
        <p:spPr bwMode="auto">
          <a:xfrm>
            <a:off x="822960" y="4065347"/>
            <a:ext cx="150875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Normalizacija</a:t>
            </a:r>
            <a:endParaRPr sz="1500"/>
          </a:p>
        </p:txBody>
      </p:sp>
      <p:sp>
        <p:nvSpPr>
          <p:cNvPr id="786918247" name="Text 9"/>
          <p:cNvSpPr/>
          <p:nvPr/>
        </p:nvSpPr>
        <p:spPr bwMode="auto">
          <a:xfrm>
            <a:off x="2331720" y="4065347"/>
            <a:ext cx="416051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pikseli skalirani na [0,1]</a:t>
            </a:r>
            <a:endParaRPr sz="1500"/>
          </a:p>
        </p:txBody>
      </p:sp>
      <p:sp>
        <p:nvSpPr>
          <p:cNvPr id="450014400" name="Text 10"/>
          <p:cNvSpPr/>
          <p:nvPr/>
        </p:nvSpPr>
        <p:spPr bwMode="auto">
          <a:xfrm>
            <a:off x="822960" y="4577411"/>
            <a:ext cx="150875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Optimizator</a:t>
            </a:r>
            <a:endParaRPr sz="1500"/>
          </a:p>
        </p:txBody>
      </p:sp>
      <p:sp>
        <p:nvSpPr>
          <p:cNvPr id="591169795" name="Text 11"/>
          <p:cNvSpPr/>
          <p:nvPr/>
        </p:nvSpPr>
        <p:spPr bwMode="auto">
          <a:xfrm>
            <a:off x="2331720" y="4577411"/>
            <a:ext cx="416051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SGD s momentumom 0.9</a:t>
            </a:r>
            <a:endParaRPr sz="1500"/>
          </a:p>
        </p:txBody>
      </p:sp>
      <p:sp>
        <p:nvSpPr>
          <p:cNvPr id="1944608001" name="Text 12"/>
          <p:cNvSpPr/>
          <p:nvPr/>
        </p:nvSpPr>
        <p:spPr bwMode="auto">
          <a:xfrm>
            <a:off x="822960" y="5089475"/>
            <a:ext cx="150875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Hiperparametri</a:t>
            </a:r>
            <a:endParaRPr sz="1500"/>
          </a:p>
        </p:txBody>
      </p:sp>
      <p:sp>
        <p:nvSpPr>
          <p:cNvPr id="2032969192" name="Text 13"/>
          <p:cNvSpPr/>
          <p:nvPr/>
        </p:nvSpPr>
        <p:spPr bwMode="auto">
          <a:xfrm>
            <a:off x="2331720" y="5089475"/>
            <a:ext cx="4160518" cy="512064"/>
          </a:xfrm>
          <a:prstGeom prst="rect">
            <a:avLst/>
          </a:prstGeom>
          <a:solidFill>
            <a:srgbClr val="F1F5F9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η = 0.01, batch = 32, 15 epoha</a:t>
            </a:r>
            <a:endParaRPr sz="1500"/>
          </a:p>
        </p:txBody>
      </p:sp>
      <p:sp>
        <p:nvSpPr>
          <p:cNvPr id="164795657" name="Text 14"/>
          <p:cNvSpPr/>
          <p:nvPr/>
        </p:nvSpPr>
        <p:spPr bwMode="auto">
          <a:xfrm>
            <a:off x="822960" y="5601539"/>
            <a:ext cx="150875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 b="1">
                <a:solidFill>
                  <a:srgbClr val="102A43"/>
                </a:solidFill>
              </a:rPr>
              <a:t>Okruženje</a:t>
            </a:r>
            <a:endParaRPr sz="1500"/>
          </a:p>
        </p:txBody>
      </p:sp>
      <p:sp>
        <p:nvSpPr>
          <p:cNvPr id="1205301410" name="Text 15"/>
          <p:cNvSpPr/>
          <p:nvPr/>
        </p:nvSpPr>
        <p:spPr bwMode="auto">
          <a:xfrm>
            <a:off x="2331720" y="5601539"/>
            <a:ext cx="416051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1" tIns="761" rIns="761" bIns="761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500">
                <a:solidFill>
                  <a:srgbClr val="0F172A"/>
                </a:solidFill>
              </a:rPr>
              <a:t>pure NumPy, CPU, bez GPU akceleracije</a:t>
            </a:r>
            <a:endParaRPr sz="1500"/>
          </a:p>
        </p:txBody>
      </p:sp>
      <p:sp>
        <p:nvSpPr>
          <p:cNvPr id="1075369877" name="Text 16"/>
          <p:cNvSpPr/>
          <p:nvPr/>
        </p:nvSpPr>
        <p:spPr bwMode="auto">
          <a:xfrm>
            <a:off x="7086600" y="2666315"/>
            <a:ext cx="18288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261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klasa u datasetu</a:t>
            </a:r>
            <a:endParaRPr lang="en-US" sz="1350"/>
          </a:p>
        </p:txBody>
      </p:sp>
      <p:sp>
        <p:nvSpPr>
          <p:cNvPr id="1635036391" name="Text 17"/>
          <p:cNvSpPr/>
          <p:nvPr/>
        </p:nvSpPr>
        <p:spPr bwMode="auto">
          <a:xfrm>
            <a:off x="9281160" y="2666315"/>
            <a:ext cx="1828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≈ 26k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 slika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100 / klasi</a:t>
            </a:r>
            <a:endParaRPr lang="en-US" sz="1350"/>
          </a:p>
        </p:txBody>
      </p:sp>
      <p:sp>
        <p:nvSpPr>
          <p:cNvPr id="1414672808" name="Text 18"/>
          <p:cNvSpPr/>
          <p:nvPr/>
        </p:nvSpPr>
        <p:spPr bwMode="auto">
          <a:xfrm>
            <a:off x="8183880" y="4041647"/>
            <a:ext cx="1828800" cy="96012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≈ 5h 30min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trajanje full runa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CPU only</a:t>
            </a:r>
            <a:endParaRPr lang="en-US" sz="1350"/>
          </a:p>
        </p:txBody>
      </p:sp>
      <p:sp>
        <p:nvSpPr>
          <p:cNvPr id="1057566610" name="Text 20"/>
          <p:cNvSpPr/>
          <p:nvPr/>
        </p:nvSpPr>
        <p:spPr bwMode="auto">
          <a:xfrm>
            <a:off x="7086600" y="5638115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550"/>
          </a:p>
        </p:txBody>
      </p:sp>
      <p:sp>
        <p:nvSpPr>
          <p:cNvPr id="280032070" name="Text 21"/>
          <p:cNvSpPr/>
          <p:nvPr/>
        </p:nvSpPr>
        <p:spPr bwMode="auto">
          <a:xfrm>
            <a:off x="7162799" y="5401677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400">
                <a:solidFill>
                  <a:srgbClr val="0F172A"/>
                </a:solidFill>
              </a:rPr>
              <a:t>Isti setup omogućuje poštenu usporedbu: baseline → improved → pruning → quantization.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86996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Rezultati treniranja: baseline vs improved model</a:t>
            </a:r>
            <a:endParaRPr b="0"/>
          </a:p>
        </p:txBody>
      </p:sp>
      <p:graphicFrame>
        <p:nvGraphicFramePr>
          <p:cNvPr id="248993588" name=""/>
          <p:cNvGraphicFramePr>
            <a:graphicFrameLocks xmlns:a="http://schemas.openxmlformats.org/drawingml/2006/main"/>
          </p:cNvGraphicFramePr>
          <p:nvPr/>
        </p:nvGraphicFramePr>
        <p:xfrm rot="0">
          <a:off x="731519" y="2130551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25143732" name=""/>
          <p:cNvGraphicFramePr>
            <a:graphicFrameLocks xmlns:a="http://schemas.openxmlformats.org/drawingml/2006/main"/>
          </p:cNvGraphicFramePr>
          <p:nvPr/>
        </p:nvGraphicFramePr>
        <p:xfrm rot="0">
          <a:off x="6355080" y="2130551"/>
          <a:ext cx="5029199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0006192" name="Text 2"/>
          <p:cNvSpPr/>
          <p:nvPr/>
        </p:nvSpPr>
        <p:spPr bwMode="auto">
          <a:xfrm>
            <a:off x="1005839" y="5788151"/>
            <a:ext cx="224028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+5.25 pp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accuracy poboljšanje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72.30 → 77.55%</a:t>
            </a:r>
            <a:endParaRPr lang="en-US" sz="1350"/>
          </a:p>
        </p:txBody>
      </p:sp>
      <p:sp>
        <p:nvSpPr>
          <p:cNvPr id="840308207" name="Text 3"/>
          <p:cNvSpPr/>
          <p:nvPr/>
        </p:nvSpPr>
        <p:spPr bwMode="auto">
          <a:xfrm>
            <a:off x="4892039" y="5788151"/>
            <a:ext cx="224028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−52.1%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manje parametara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1.315M → 629k</a:t>
            </a:r>
            <a:endParaRPr lang="en-US" sz="1350"/>
          </a:p>
        </p:txBody>
      </p:sp>
      <p:sp>
        <p:nvSpPr>
          <p:cNvPr id="2423380" name="Text 4"/>
          <p:cNvSpPr/>
          <p:nvPr/>
        </p:nvSpPr>
        <p:spPr bwMode="auto">
          <a:xfrm>
            <a:off x="8778240" y="5788151"/>
            <a:ext cx="2240280" cy="713232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+27%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trening dulji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2h34 → 3h16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4199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Train/test metrike i overfitting</a:t>
            </a:r>
            <a:endParaRPr b="0"/>
          </a:p>
        </p:txBody>
      </p:sp>
      <p:sp>
        <p:nvSpPr>
          <p:cNvPr id="104705674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096698" y="4154714"/>
            <a:ext cx="9720073" cy="2455635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upright="0" compatLnSpc="0">
            <a:normAutofit/>
          </a:bodyPr>
          <a:lstStyle/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lang="hr-HR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</a:t>
            </a: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ain accuracy pokazuje koliko model uči trening podatke</a:t>
            </a:r>
            <a:endParaRPr sz="2200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lang="hr-HR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</a:t>
            </a: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 accuracy pokazuje koliko dobro generalizira na nove slike</a:t>
            </a:r>
            <a:endParaRPr sz="2200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lang="hr-HR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</a:t>
            </a: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elika razlika train/test upućuje na overfitting</a:t>
            </a:r>
            <a:endParaRPr sz="2200" b="0" i="0" u="none" strike="noStrike" cap="none" spc="0">
              <a:solidFill>
                <a:srgbClr val="0F172A"/>
              </a:solidFill>
              <a:latin typeface="Times New Roman"/>
              <a:cs typeface="Times New Roman"/>
            </a:endParaRPr>
          </a:p>
          <a:p>
            <a:pPr lvl="2"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zato je poboljšana arhitektura s regularizacijom imala smisla</a:t>
            </a:r>
            <a:r>
              <a:rPr lang="hr-HR" sz="2200" b="0" i="0" u="none" strike="noStrike" cap="none" spc="0">
                <a:solidFill>
                  <a:srgbClr val="0F172A"/>
                </a:solidFill>
                <a:latin typeface="Aptos"/>
                <a:ea typeface="Aptos"/>
                <a:cs typeface="Aptos"/>
              </a:rPr>
              <a:t>)</a:t>
            </a:r>
            <a:endParaRPr sz="2200"/>
          </a:p>
        </p:txBody>
      </p:sp>
      <p:sp>
        <p:nvSpPr>
          <p:cNvPr id="855100046" name="Text 2"/>
          <p:cNvSpPr/>
          <p:nvPr/>
        </p:nvSpPr>
        <p:spPr bwMode="auto">
          <a:xfrm>
            <a:off x="822960" y="2468879"/>
            <a:ext cx="292608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≈ 99%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 accuracy baselinea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jako dobro pamti trening</a:t>
            </a:r>
            <a:endParaRPr lang="en-US" sz="1350"/>
          </a:p>
        </p:txBody>
      </p:sp>
      <p:sp>
        <p:nvSpPr>
          <p:cNvPr id="77815244" name="Text 3"/>
          <p:cNvSpPr/>
          <p:nvPr/>
        </p:nvSpPr>
        <p:spPr bwMode="auto">
          <a:xfrm>
            <a:off x="4617720" y="2468879"/>
            <a:ext cx="292608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≈ 72%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accuracy baselinea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slabija generalizacija</a:t>
            </a:r>
            <a:endParaRPr lang="en-US" sz="1350"/>
          </a:p>
        </p:txBody>
      </p:sp>
      <p:sp>
        <p:nvSpPr>
          <p:cNvPr id="1218363702" name="Text 4"/>
          <p:cNvSpPr/>
          <p:nvPr/>
        </p:nvSpPr>
        <p:spPr bwMode="auto">
          <a:xfrm>
            <a:off x="8412480" y="2468879"/>
            <a:ext cx="292608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5" tIns="1015" rIns="1015" bIns="1015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≈ 27 pp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generalizacijski gap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>
                <a:solidFill>
                  <a:srgbClr val="102A43"/>
                </a:solidFill>
                <a:latin typeface="Aptos"/>
                <a:ea typeface="Aptos"/>
                <a:cs typeface="Aptos"/>
              </a:rPr>
              <a:t>znak overfittinga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0011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24128" y="585216"/>
            <a:ext cx="10815014" cy="14996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hr-HR" b="0"/>
              <a:t>Glavne spo</a:t>
            </a:r>
            <a:r>
              <a:rPr lang="en-US" b="0"/>
              <a:t>z</a:t>
            </a:r>
            <a:r>
              <a:rPr lang="hr-HR" b="0"/>
              <a:t>naje</a:t>
            </a:r>
            <a:endParaRPr/>
          </a:p>
        </p:txBody>
      </p:sp>
      <p:sp>
        <p:nvSpPr>
          <p:cNvPr id="91198803" name="Text 2"/>
          <p:cNvSpPr/>
          <p:nvPr/>
        </p:nvSpPr>
        <p:spPr bwMode="auto">
          <a:xfrm flipH="0" flipV="0">
            <a:off x="363785" y="2171700"/>
            <a:ext cx="3796734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Bez baselinea nema mjerenja kompresije</a:t>
            </a:r>
            <a:r>
              <a:rPr lang="en-US" sz="1400"/>
              <a:t>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Pruning i quantization trebaju model koji je već istreniran i evaluiran.</a:t>
            </a:r>
            <a:endParaRPr lang="en-US" sz="1400"/>
          </a:p>
        </p:txBody>
      </p:sp>
      <p:sp>
        <p:nvSpPr>
          <p:cNvPr id="800427759" name="Text 3"/>
          <p:cNvSpPr/>
          <p:nvPr/>
        </p:nvSpPr>
        <p:spPr bwMode="auto">
          <a:xfrm>
            <a:off x="4434840" y="3250692"/>
            <a:ext cx="3429000" cy="1325880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Kvaliteta početnog modela je važna.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Improved model kreće s višom točnošću i manjim brojem parametara.</a:t>
            </a:r>
            <a:endParaRPr lang="en-US" sz="1400"/>
          </a:p>
        </p:txBody>
      </p:sp>
      <p:sp>
        <p:nvSpPr>
          <p:cNvPr id="200854332" name="Text 4"/>
          <p:cNvSpPr/>
          <p:nvPr/>
        </p:nvSpPr>
        <p:spPr bwMode="auto">
          <a:xfrm>
            <a:off x="8156448" y="4187952"/>
            <a:ext cx="3246120" cy="1325880"/>
          </a:xfrm>
          <a:prstGeom prst="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txBody>
          <a:bodyPr wrap="square" lIns="2031" tIns="2031" rIns="2031" bIns="2031" rtlCol="0" anchor="t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Kompresija tada ima bolju osnovu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02A43"/>
                </a:solidFill>
                <a:latin typeface="Aptos"/>
                <a:ea typeface="Aptos"/>
                <a:cs typeface="Aptos"/>
              </a:rPr>
              <a:t>Konačni model je 16.7× manji od baselinea i još uvijek točniji.</a:t>
            </a:r>
            <a:endParaRPr lang="en-US" sz="1400"/>
          </a:p>
        </p:txBody>
      </p:sp>
      <p:sp>
        <p:nvSpPr>
          <p:cNvPr id="1463910114" name="Text 5"/>
          <p:cNvSpPr/>
          <p:nvPr/>
        </p:nvSpPr>
        <p:spPr bwMode="auto">
          <a:xfrm>
            <a:off x="822960" y="40279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700"/>
          </a:p>
        </p:txBody>
      </p:sp>
      <p:sp>
        <p:nvSpPr>
          <p:cNvPr id="27044801" name="Text 6"/>
          <p:cNvSpPr/>
          <p:nvPr/>
        </p:nvSpPr>
        <p:spPr bwMode="auto">
          <a:xfrm>
            <a:off x="868680" y="4512564"/>
            <a:ext cx="10515600" cy="777240"/>
          </a:xfrm>
          <a:prstGeom prst="rect">
            <a:avLst/>
          </a:prstGeom>
          <a:noFill/>
        </p:spPr>
        <p:txBody>
          <a:bodyPr wrap="square" lIns="634" tIns="634" rIns="634" bIns="634" rtlCol="0" anchor="ctr">
            <a:norm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8059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Dynamic Weight Pruning</a:t>
            </a:r>
            <a:endParaRPr/>
          </a:p>
        </p:txBody>
      </p:sp>
      <p:sp>
        <p:nvSpPr>
          <p:cNvPr id="258382897" name="Content Placeholder 2"/>
          <p:cNvSpPr>
            <a:spLocks noGrp="1"/>
          </p:cNvSpPr>
          <p:nvPr>
            <p:ph idx="1"/>
          </p:nvPr>
        </p:nvSpPr>
        <p:spPr bwMode="auto">
          <a:xfrm>
            <a:off x="1024128" y="2130189"/>
            <a:ext cx="9720073" cy="4023360"/>
          </a:xfrm>
        </p:spPr>
        <p:txBody>
          <a:bodyPr>
            <a:normAutofit lnSpcReduction="10000"/>
          </a:bodyPr>
          <a:lstStyle/>
          <a:p>
            <a:pPr>
              <a:buNone/>
              <a:defRPr/>
            </a:pPr>
            <a:r>
              <a:rPr lang="hr-HR" b="1"/>
              <a:t>Cilj</a:t>
            </a:r>
            <a:endParaRPr lang="hr-HR"/>
          </a:p>
          <a:p>
            <a:pPr>
              <a:buFont typeface="Arial"/>
              <a:buChar char="•"/>
              <a:defRPr/>
            </a:pPr>
            <a:r>
              <a:rPr lang="en-US"/>
              <a:t> </a:t>
            </a:r>
            <a:r>
              <a:rPr lang="hr-HR"/>
              <a:t>Smanjiti broj aktivnih težina tijekom treniranja uz zadržavanje što bolje točnosti modela.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 </a:t>
            </a:r>
            <a:r>
              <a:rPr lang="hr-HR"/>
              <a:t>Za razliku od statičkog pruninga, težine se uklanjaju postupno, a ne odjednom. </a:t>
            </a:r>
            <a:endParaRPr/>
          </a:p>
          <a:p>
            <a:pPr>
              <a:buNone/>
              <a:defRPr/>
            </a:pPr>
            <a:r>
              <a:rPr lang="hr-HR" b="1"/>
              <a:t>Implementirano</a:t>
            </a:r>
            <a:endParaRPr lang="hr-HR"/>
          </a:p>
          <a:p>
            <a:pPr>
              <a:buFont typeface="Arial"/>
              <a:buChar char="•"/>
              <a:defRPr/>
            </a:pPr>
            <a:r>
              <a:rPr lang="en-US"/>
              <a:t> </a:t>
            </a:r>
            <a:r>
              <a:rPr lang="hr-HR"/>
              <a:t>Magnitude-based pruning using |w|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 </a:t>
            </a:r>
            <a:r>
              <a:rPr lang="hr-HR"/>
              <a:t>Dvije strategije: 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hr-HR"/>
              <a:t>Globalni pruning 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hr-HR"/>
              <a:t>Per-layer (lokalni) pruning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 </a:t>
            </a:r>
            <a:r>
              <a:rPr lang="hr-HR"/>
              <a:t>Sparsity </a:t>
            </a:r>
            <a:r>
              <a:rPr lang="en-US"/>
              <a:t>se </a:t>
            </a:r>
            <a:r>
              <a:rPr lang="hr-HR"/>
              <a:t>povećava postupno prema kubičnom rasporedu (cubic pruning schedule).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346355" name="Title 1"/>
          <p:cNvSpPr>
            <a:spLocks noGrp="1"/>
          </p:cNvSpPr>
          <p:nvPr>
            <p:ph type="title"/>
          </p:nvPr>
        </p:nvSpPr>
        <p:spPr bwMode="auto">
          <a:xfrm>
            <a:off x="1038582" y="703238"/>
            <a:ext cx="9720072" cy="1247117"/>
          </a:xfrm>
        </p:spPr>
        <p:txBody>
          <a:bodyPr/>
          <a:lstStyle/>
          <a:p>
            <a:pPr>
              <a:defRPr/>
            </a:pPr>
            <a:r>
              <a:rPr lang="hr-HR"/>
              <a:t>Implementacija</a:t>
            </a:r>
            <a:endParaRPr/>
          </a:p>
        </p:txBody>
      </p:sp>
      <p:sp>
        <p:nvSpPr>
          <p:cNvPr id="779597617" name="Content Placeholder 2"/>
          <p:cNvSpPr>
            <a:spLocks noGrp="1"/>
          </p:cNvSpPr>
          <p:nvPr>
            <p:ph idx="1"/>
          </p:nvPr>
        </p:nvSpPr>
        <p:spPr bwMode="auto">
          <a:xfrm>
            <a:off x="7025670" y="4874400"/>
            <a:ext cx="4943192" cy="4732743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endParaRPr lang="hr-HR" b="1"/>
          </a:p>
          <a:p>
            <a:pP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hr-HR" i="1">
                          <a:latin typeface="Cambria Math"/>
                        </a:rPr>
                        <m:t>𝑠</m:t>
                      </m:r>
                      <m:d>
                        <m:dPr>
                          <m:begChr m:val="("/>
                          <m:endChr m:val=")"/>
                          <m:sepChr m:val="|"/>
                          <m:ctrlPr>
                            <a:rPr lang="hr-H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hr-HR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hr-HR" i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hr-H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hr-HR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hr-HR" i="1">
                              <a:latin typeface="Cambria Math"/>
                            </a:rPr>
                            <m:t>𝑓𝑖𝑛𝑎𝑙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|"/>
                          <m:ctrlPr>
                            <a:rPr lang="hr-H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hr-HR" i="0">
                              <a:latin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lang="hr-HR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sepChr m:val="|"/>
                                  <m:ctrlPr>
                                    <a:rPr lang="hr-HR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hr-HR" i="0">
                                      <a:latin typeface="Cambria Math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hr-HR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/>
                                        <a:rPr lang="hr-HR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hr-HR" i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hr-HR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lang="hr-HR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hr-HR" i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hr-HR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lang="hr-HR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hr-HR" i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hr-HR" i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hr-HR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lang="hr-HR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hr-HR" i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r-HR" i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buNone/>
              <a:defRPr/>
            </a:pPr>
            <a:endParaRPr lang="hr-HR"/>
          </a:p>
          <a:p>
            <a:pPr>
              <a:defRPr/>
            </a:pPr>
            <a:endParaRPr lang="hr-HR"/>
          </a:p>
        </p:txBody>
      </p:sp>
      <p:sp>
        <p:nvSpPr>
          <p:cNvPr id="1379791290" name="TextBox 3"/>
          <p:cNvSpPr txBox="1"/>
          <p:nvPr/>
        </p:nvSpPr>
        <p:spPr bwMode="auto">
          <a:xfrm>
            <a:off x="694098" y="2401926"/>
            <a:ext cx="10895749" cy="234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Tx/>
              <a:buFont typeface="+mj-lt"/>
              <a:buAutoNum type="arabicPeriod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Model se počinje trenirati bez pruninga. </a:t>
            </a:r>
            <a:endParaRPr/>
          </a:p>
          <a:p>
            <a:pPr marL="91440" marR="0" lvl="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Tx/>
              <a:buFont typeface="+mj-lt"/>
              <a:buAutoNum type="arabicPeriod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Nakon svak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og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10. </a:t>
            </a:r>
            <a:r>
              <a:rPr lang="en-US" sz="200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mini-</a:t>
            </a:r>
            <a:r>
              <a:rPr lang="hr-HR" sz="200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batcha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izračunava se nov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i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ciljn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i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sparsity. </a:t>
            </a:r>
            <a:endParaRPr/>
          </a:p>
          <a:p>
            <a:pPr marL="91440" marR="0" lvl="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Tx/>
              <a:buFont typeface="+mj-lt"/>
              <a:buAutoNum type="arabicPeriod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Uklanjaju se težine najmanje apsolutne vrijednosti. </a:t>
            </a:r>
            <a:endParaRPr/>
          </a:p>
          <a:p>
            <a:pPr marL="91440" marR="0" lvl="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Tx/>
              <a:buFont typeface="+mj-lt"/>
              <a:buAutoNum type="arabicPeriod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Nakon svakog SGD ažuriranja ponovno se primjenjuje binarna maska kako bi 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uklonjene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težine ostale 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jednake nuli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.</a:t>
            </a:r>
            <a:endParaRPr lang="hr-HR" sz="2000" b="0" i="0" u="none" strike="noStrike" cap="none" spc="0">
              <a:ln>
                <a:noFill/>
              </a:ln>
              <a:solidFill>
                <a:prstClr val="black"/>
              </a:solidFill>
              <a:latin typeface="Tw Cen MT"/>
              <a:cs typeface="Arial"/>
            </a:endParaRPr>
          </a:p>
          <a:p>
            <a:pPr marL="91440" marR="0" lvl="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Tx/>
              <a:buFont typeface="+mj-lt"/>
              <a:buAutoNum type="arabicPeriod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Postupak se ponavlja dok se ne postigne zadan</a:t>
            </a: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i</a:t>
            </a:r>
            <a:r>
              <a:rPr lang="hr-HR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w Cen MT"/>
                <a:cs typeface="Arial"/>
              </a:rPr>
              <a:t> sparsity.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014224" name="Title 1"/>
          <p:cNvSpPr>
            <a:spLocks noGrp="1"/>
          </p:cNvSpPr>
          <p:nvPr>
            <p:ph type="title"/>
          </p:nvPr>
        </p:nvSpPr>
        <p:spPr bwMode="auto">
          <a:xfrm>
            <a:off x="1084505" y="609828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hr-HR"/>
              <a:t>Rezultati</a:t>
            </a:r>
            <a:r>
              <a:rPr lang="en-US"/>
              <a:t> </a:t>
            </a:r>
            <a:r>
              <a:rPr lang="en-US" sz="2400"/>
              <a:t>(5 epoha)</a:t>
            </a:r>
            <a:endParaRPr lang="hr-HR"/>
          </a:p>
        </p:txBody>
      </p:sp>
      <p:graphicFrame>
        <p:nvGraphicFramePr>
          <p:cNvPr id="791058438" name="Content Placeholder 10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694530" y="1935479"/>
          <a:ext cx="8336735" cy="298704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{C083E6E3-FA7D-4D7B-A595-EF9225AFEA82}</a:tableStyleId>
              </a:tblPr>
              <a:tblGrid>
                <a:gridCol w="2098081"/>
                <a:gridCol w="2463923"/>
                <a:gridCol w="3774731"/>
              </a:tblGrid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1"/>
                        <a:t>Strategija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1"/>
                        <a:t>Sparsity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1"/>
                        <a:t>Testna točnost</a:t>
                      </a:r>
                      <a:endParaRPr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Globalni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20 %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en-US" sz="2200" b="0"/>
                        <a:t>64.47 %</a:t>
                      </a:r>
                      <a:endParaRPr lang="hr-HR" sz="2200" b="0" i="0"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20 %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58.55 %</a:t>
                      </a:r>
                      <a:endParaRPr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Globalni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59.78 %</a:t>
                      </a:r>
                      <a:endParaRPr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54.94 %</a:t>
                      </a:r>
                      <a:endParaRPr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Globalni</a:t>
                      </a:r>
                      <a:r>
                        <a:rPr lang="en-US" sz="2200" b="0"/>
                        <a:t> *</a:t>
                      </a:r>
                      <a:endParaRPr lang="hr-HR" sz="22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80 %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68.21 %</a:t>
                      </a:r>
                      <a:endParaRPr/>
                    </a:p>
                  </a:txBody>
                  <a:tcPr anchor="ctr"/>
                </a:tc>
              </a:tr>
              <a:tr h="407583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hr-HR" sz="2200" b="0"/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80 %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52.14 %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60473345" name="TextBox 3"/>
          <p:cNvSpPr txBox="1"/>
          <p:nvPr/>
        </p:nvSpPr>
        <p:spPr bwMode="auto">
          <a:xfrm>
            <a:off x="919645" y="5304718"/>
            <a:ext cx="103527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57200">
              <a:buFont typeface="Arial"/>
              <a:buChar char="•"/>
              <a:defRPr/>
            </a:pPr>
            <a:r>
              <a:rPr lang="hr-HR" sz="2200"/>
              <a:t>Globalni dinamički pruning ostvario je veću testnu točnost od per-layer pristupa pri svim razinama sparsity</a:t>
            </a:r>
            <a:r>
              <a:rPr lang="en-US" sz="2200"/>
              <a:t>-a</a:t>
            </a:r>
            <a:r>
              <a:rPr lang="hr-HR" sz="2200"/>
              <a:t>. </a:t>
            </a:r>
            <a:endParaRPr lang="en-US" sz="2200"/>
          </a:p>
          <a:p>
            <a:pPr marL="342900" indent="-342900" defTabSz="457200">
              <a:buFont typeface="Arial"/>
              <a:buChar char="•"/>
              <a:defRPr/>
            </a:pPr>
            <a:r>
              <a:rPr lang="hr-HR" sz="2200"/>
              <a:t>Veći sparsity ne mora uvijek značiti </a:t>
            </a:r>
            <a:r>
              <a:rPr lang="en-US" sz="2200"/>
              <a:t>manju</a:t>
            </a:r>
            <a:r>
              <a:rPr lang="hr-HR" sz="2200"/>
              <a:t> točnost, ali per-layer pruning u ovim rezultatima pokazuje slabije performanse pri većem sparsity-u</a:t>
            </a:r>
            <a:r>
              <a:rPr lang="en-US" sz="2200"/>
              <a:t>, a globalni bolje.</a:t>
            </a:r>
            <a:endParaRPr lang="hr-HR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027133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462305" cy="1499616"/>
          </a:xfrm>
        </p:spPr>
        <p:txBody>
          <a:bodyPr/>
          <a:lstStyle/>
          <a:p>
            <a:pPr>
              <a:defRPr/>
            </a:pPr>
            <a:r>
              <a:rPr lang="hr-HR"/>
              <a:t>Usporedba statičkog i dinamičkog globalnog pruninga</a:t>
            </a:r>
            <a:r>
              <a:rPr lang="en-US"/>
              <a:t> </a:t>
            </a:r>
            <a:r>
              <a:rPr lang="en-US" sz="2400"/>
              <a:t>(10 epoha)</a:t>
            </a:r>
            <a:endParaRPr lang="hr-HR"/>
          </a:p>
        </p:txBody>
      </p:sp>
      <p:graphicFrame>
        <p:nvGraphicFramePr>
          <p:cNvPr id="1701614658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66359" y="2575559"/>
          <a:ext cx="10504152" cy="170688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{68D230F3-CF80-4859-8CE7-A43EE81993B5}</a:tableStyleId>
              </a:tblPr>
              <a:tblGrid>
                <a:gridCol w="1284070"/>
                <a:gridCol w="2617789"/>
                <a:gridCol w="3486719"/>
                <a:gridCol w="3115574"/>
              </a:tblGrid>
              <a:tr h="365760"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1"/>
                        <a:t>Sparsity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1"/>
                        <a:t>Statički pruning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en-US" sz="2200" b="1"/>
                        <a:t>Statički +</a:t>
                      </a:r>
                      <a:r>
                        <a:rPr lang="hr-HR" sz="2200" b="1"/>
                        <a:t> fine-tuning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1"/>
                        <a:t>Dinamički pruning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20%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75.63%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76.52%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75.06%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50%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75.67%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76.36%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76.42%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80%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73.78%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75.41%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buNone/>
                        <a:defRPr/>
                      </a:pPr>
                      <a:r>
                        <a:rPr lang="hr-HR" sz="2200" b="0"/>
                        <a:t>75.47%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39021113" name="Rounded Rectangle 14"/>
          <p:cNvSpPr/>
          <p:nvPr/>
        </p:nvSpPr>
        <p:spPr bwMode="auto">
          <a:xfrm>
            <a:off x="766359" y="4882823"/>
            <a:ext cx="10705923" cy="1433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Tw Cen MT"/>
                <a:ea typeface="+mn-ea"/>
                <a:cs typeface="+mn-cs"/>
              </a:defRPr>
            </a:lvl9pPr>
          </a:lstStyle>
          <a:p>
            <a:pPr marL="342900" indent="-342900" defTabSz="457200">
              <a:buFont typeface="Arial"/>
              <a:buChar char="•"/>
              <a:defRPr/>
            </a:pPr>
            <a:r>
              <a:rPr lang="hr-HR" sz="2200">
                <a:solidFill>
                  <a:schemeClr val="tx1"/>
                </a:solidFill>
              </a:rPr>
              <a:t>Dinamički pruning postigao je usporedive rezultate sa statičkim pruningom. </a:t>
            </a:r>
            <a:endParaRPr lang="en-US" sz="2200">
              <a:solidFill>
                <a:schemeClr val="tx1"/>
              </a:solidFill>
            </a:endParaRPr>
          </a:p>
          <a:p>
            <a:pPr marL="342900" indent="-342900" defTabSz="457200">
              <a:buFont typeface="Arial"/>
              <a:buChar char="•"/>
              <a:defRPr/>
            </a:pPr>
            <a:r>
              <a:rPr lang="hr-HR" sz="2200">
                <a:solidFill>
                  <a:schemeClr val="tx1"/>
                </a:solidFill>
              </a:rPr>
              <a:t>Dinamički pruning uklanja težine postupno tijekom treniranja, dok statički pruning zahtijeva zaseban korak fine-tuninga nakon pruninga.</a:t>
            </a:r>
            <a:endParaRPr lang="hr-HR" sz="2200">
              <a:solidFill>
                <a:schemeClr val="tx1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719179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462305" cy="1499616"/>
          </a:xfrm>
        </p:spPr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chemeClr val="tx1">
                    <a:lumMod val="95000"/>
                    <a:lumOff val="5000"/>
                  </a:schemeClr>
                </a:solidFill>
                <a:latin typeface="Tw Cen MT Condensed"/>
                <a:ea typeface="Calibri Light"/>
                <a:cs typeface="Calibri Light"/>
              </a:rPr>
              <a:t>KVANTIZACIJA</a:t>
            </a:r>
            <a:endParaRPr lang="hr-HR"/>
          </a:p>
        </p:txBody>
      </p:sp>
      <p:sp>
        <p:nvSpPr>
          <p:cNvPr id="153848524" name="Rectangle 3"/>
          <p:cNvSpPr/>
          <p:nvPr/>
        </p:nvSpPr>
        <p:spPr bwMode="auto">
          <a:xfrm>
            <a:off x="822960" y="2218871"/>
            <a:ext cx="2743200" cy="10972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Arial"/>
              </a:rPr>
              <a:t>INPUT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Arial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Fruits-360 slike</a:t>
            </a:r>
            <a:endParaRPr lang="en-US">
              <a:solidFill>
                <a:srgbClr val="FFFFFF"/>
              </a:solidFill>
              <a:latin typeface="Calibri"/>
            </a:endParaRPr>
          </a:p>
          <a:p>
            <a:pPr algn="ctr" defTabSz="457200">
              <a:defRPr/>
            </a:pPr>
            <a:r>
              <a:rPr lang="en-US">
                <a:solidFill>
                  <a:srgbClr val="FFFFFF"/>
                </a:solidFill>
                <a:latin typeface="Calibri"/>
              </a:rPr>
              <a:t>Model</a:t>
            </a:r>
            <a:endParaRPr lang="en-US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320898679" name="Connector 4"/>
          <p:cNvCxnSpPr/>
          <p:nvPr/>
        </p:nvCxnSpPr>
        <p:spPr bwMode="auto">
          <a:xfrm>
            <a:off x="3566160" y="2767511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641211" name="Rectangle 5"/>
          <p:cNvSpPr/>
          <p:nvPr/>
        </p:nvSpPr>
        <p:spPr bwMode="auto">
          <a:xfrm>
            <a:off x="4160518" y="2218871"/>
            <a:ext cx="3017518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r>
              <a:rPr lang="en-US">
                <a:solidFill>
                  <a:srgbClr val="000000"/>
                </a:solidFill>
                <a:latin typeface="Calibri"/>
              </a:rPr>
              <a:t>KVANTIZACIJA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latin typeface="Calibri"/>
              </a:rPr>
              <a:t>Kvantizacija modela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latin typeface="Calibri"/>
              </a:rPr>
              <a:t>Provjera performansi</a:t>
            </a:r>
            <a:endParaRPr lang="en-US" sz="18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33981165" name="Connector 6"/>
          <p:cNvCxnSpPr/>
          <p:nvPr/>
        </p:nvCxnSpPr>
        <p:spPr bwMode="auto">
          <a:xfrm>
            <a:off x="7178038" y="2767511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4686043" name="Rectangle 7"/>
          <p:cNvSpPr/>
          <p:nvPr/>
        </p:nvSpPr>
        <p:spPr bwMode="auto">
          <a:xfrm>
            <a:off x="7772400" y="2218871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OUTPUT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</a:br>
            <a:r>
              <a:rPr lang="en-US" sz="1700">
                <a:solidFill>
                  <a:srgbClr val="000000"/>
                </a:solidFill>
                <a:latin typeface="Calibri"/>
              </a:rPr>
              <a:t>Kvantizirani model</a:t>
            </a:r>
            <a:endParaRPr lang="en-US" sz="17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5850604" name="Rounded Rectangle 8"/>
          <p:cNvSpPr/>
          <p:nvPr/>
        </p:nvSpPr>
        <p:spPr bwMode="auto">
          <a:xfrm>
            <a:off x="914400" y="4230551"/>
            <a:ext cx="987552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 defTabSz="457200">
              <a:spcAft>
                <a:spcPts val="399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sz="2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Uloga</a:t>
            </a:r>
            <a:r>
              <a:rPr sz="2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Arial"/>
              </a:rPr>
              <a:t>: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smanjiti veličinu modela s kvantizacijom uz minimalan gubitak točnosti </a:t>
            </a:r>
            <a:endParaRPr lang="en-US" sz="20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92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Algoritam</a:t>
            </a:r>
            <a:endParaRPr/>
          </a:p>
        </p:txBody>
      </p:sp>
      <p:sp>
        <p:nvSpPr>
          <p:cNvPr id="14992426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34399" y="2285999"/>
            <a:ext cx="10800828" cy="4081415"/>
          </a:xfrm>
        </p:spPr>
        <p:txBody>
          <a:bodyPr vert="horz" lIns="45720" tIns="45720" rIns="45720" bIns="45720" rtlCol="0" anchor="t">
            <a:normAutofit/>
          </a:bodyPr>
          <a:lstStyle/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b="1">
                <a:ea typeface="Tw Cen MT"/>
                <a:cs typeface="Tw Cen MT"/>
              </a:rPr>
              <a:t> </a:t>
            </a:r>
            <a:r>
              <a:rPr lang="hr-HR" b="1">
                <a:ea typeface="+mn-lt"/>
                <a:cs typeface="+mn-lt"/>
              </a:rPr>
              <a:t>Korak 1</a:t>
            </a:r>
            <a:r>
              <a:rPr lang="hr-HR">
                <a:ea typeface="Tw Cen MT"/>
                <a:cs typeface="Tw Cen MT"/>
              </a:rPr>
              <a:t>: Prebrojiti odgovarajući minimume i maksimume u ulaznim podacima (težine ili aktivacijske vrijednosti)</a:t>
            </a:r>
            <a:endParaRPr lang="hr-HR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b="1">
                <a:ea typeface="Tw Cen MT"/>
                <a:cs typeface="Tw Cen MT"/>
              </a:rPr>
              <a:t> </a:t>
            </a:r>
            <a:r>
              <a:rPr lang="hr-HR" b="1">
                <a:ea typeface="+mn-lt"/>
                <a:cs typeface="+mn-lt"/>
              </a:rPr>
              <a:t>Korak 2</a:t>
            </a:r>
            <a:r>
              <a:rPr lang="hr-HR">
                <a:ea typeface="Tw Cen MT"/>
                <a:cs typeface="Tw Cen MT"/>
              </a:rPr>
              <a:t>: Odabrati odgovarajuću vrstu kvantizacije, simetričnu (INT-8) ili asimetričnu (UINT-8)</a:t>
            </a:r>
            <a:endParaRPr lang="hr-HR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b="1">
                <a:ea typeface="Tw Cen MT"/>
                <a:cs typeface="Tw Cen MT"/>
              </a:rPr>
              <a:t> </a:t>
            </a:r>
            <a:r>
              <a:rPr lang="hr-HR" b="1">
                <a:ea typeface="+mn-lt"/>
                <a:cs typeface="+mn-lt"/>
              </a:rPr>
              <a:t>Korak 3</a:t>
            </a:r>
            <a:r>
              <a:rPr lang="hr-HR">
                <a:ea typeface="Tw Cen MT"/>
                <a:cs typeface="Tw Cen MT"/>
              </a:rPr>
              <a:t>: Izračunati parametre kvantizacije Z (Nulta točka) i S (Skala) prema vrsti kvantizacije, minimume i maksimume</a:t>
            </a:r>
            <a:endParaRPr lang="hr-HR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b="1">
                <a:ea typeface="Tw Cen MT"/>
                <a:cs typeface="Tw Cen MT"/>
              </a:rPr>
              <a:t> </a:t>
            </a:r>
            <a:r>
              <a:rPr lang="hr-HR" b="1">
                <a:ea typeface="+mn-lt"/>
                <a:cs typeface="+mn-lt"/>
              </a:rPr>
              <a:t>Korak 4</a:t>
            </a:r>
            <a:r>
              <a:rPr lang="hr-HR">
                <a:ea typeface="Tw Cen MT"/>
                <a:cs typeface="Tw Cen MT"/>
              </a:rPr>
              <a:t>: Kvantizirati model na temelju kalibracijskih podataka, pretvorenih iz FP32 u INT-8</a:t>
            </a:r>
            <a:endParaRPr lang="hr-HR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b="1">
                <a:ea typeface="Tw Cen MT"/>
                <a:cs typeface="Tw Cen MT"/>
              </a:rPr>
              <a:t> </a:t>
            </a:r>
            <a:r>
              <a:rPr lang="hr-HR" b="1">
                <a:ea typeface="+mn-lt"/>
                <a:cs typeface="+mn-lt"/>
              </a:rPr>
              <a:t>Korak 5</a:t>
            </a:r>
            <a:r>
              <a:rPr lang="hr-HR">
                <a:ea typeface="Tw Cen MT"/>
                <a:cs typeface="Tw Cen MT"/>
              </a:rPr>
              <a:t>: Provjeriti performanse kvantiziranog modela i ako rezultat nije dobar, pokušati koristiti drugi način za izračun S i Z te ponovno kvantizirati model.</a:t>
            </a:r>
            <a:endParaRPr lang="hr-HR"/>
          </a:p>
        </p:txBody>
      </p:sp>
      <p:sp>
        <p:nvSpPr>
          <p:cNvPr id="966458347" name="TextBox 4"/>
          <p:cNvSpPr txBox="1"/>
          <p:nvPr/>
        </p:nvSpPr>
        <p:spPr bwMode="auto">
          <a:xfrm>
            <a:off x="9786463" y="6400800"/>
            <a:ext cx="1460657" cy="21544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rgbClr val="4D606E"/>
                </a:solidFill>
              </a:defRPr>
            </a:pPr>
            <a:r>
              <a:rPr lang="en-US" sz="800">
                <a:solidFill>
                  <a:srgbClr val="4D606E"/>
                </a:solidFill>
                <a:latin typeface="Calibri"/>
              </a:rPr>
              <a:t>Jakov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Person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4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Kvantizacija</a:t>
            </a:r>
            <a:endParaRPr lang="en-US" sz="800" b="0" i="0" u="none" strike="noStrike" cap="none" spc="0">
              <a:ln>
                <a:noFill/>
              </a:ln>
              <a:solidFill>
                <a:srgbClr val="4D606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532049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10561900" cy="1499616"/>
          </a:xfrm>
        </p:spPr>
        <p:txBody>
          <a:bodyPr/>
          <a:lstStyle/>
          <a:p>
            <a:pPr>
              <a:defRPr/>
            </a:pPr>
            <a:r>
              <a:rPr lang="en-US"/>
              <a:t>Rezultati kvantizacije NA PRUNED MODELU</a:t>
            </a:r>
            <a:endParaRPr/>
          </a:p>
        </p:txBody>
      </p:sp>
      <p:graphicFrame>
        <p:nvGraphicFramePr>
          <p:cNvPr id="328065305" name="Content Placeholder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023938" y="2286000"/>
          <a:ext cx="9720254" cy="40894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538869"/>
                <a:gridCol w="2573128"/>
                <a:gridCol w="2608257"/>
              </a:tblGrid>
              <a:tr h="584213"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Pruned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Quantized</a:t>
                      </a:r>
                      <a:endParaRPr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Točnost / 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76.53%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76.48%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Gubitak Točnosti / Accuracy Loss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0.05%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Veličina / Size (KB)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4920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614.5</a:t>
                      </a:r>
                      <a:endParaRPr lang="en-US"/>
                    </a:p>
                  </a:txBody>
                  <a:tcPr/>
                </a:tc>
              </a:tr>
              <a:tr h="584212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latin typeface="Tw Cen MT"/>
                        </a:rPr>
                        <a:t>ΔVeličine / 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ΔSize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4.0</a:t>
                      </a:r>
                      <a:r>
                        <a:rPr lang="en-US" sz="2400" b="0" i="0" u="none" strike="noStrike">
                          <a:latin typeface="Tw Cen MT"/>
                        </a:rPr>
                        <a:t>×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Zaključivanje / Inference (ms)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87.36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73.60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Ubrzanje / Speedup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1.19</a:t>
                      </a:r>
                      <a:r>
                        <a:rPr lang="en-US" sz="2400" b="0" i="0" u="none" strike="noStrike">
                          <a:latin typeface="Tw Cen MT"/>
                        </a:rPr>
                        <a:t>×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60210960" name="TextBox 4"/>
          <p:cNvSpPr txBox="1"/>
          <p:nvPr/>
        </p:nvSpPr>
        <p:spPr bwMode="auto">
          <a:xfrm>
            <a:off x="9786463" y="6400800"/>
            <a:ext cx="1460657" cy="21544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rgbClr val="4D606E"/>
                </a:solidFill>
              </a:defRPr>
            </a:pPr>
            <a:r>
              <a:rPr lang="en-US" sz="800">
                <a:solidFill>
                  <a:srgbClr val="4D606E"/>
                </a:solidFill>
                <a:latin typeface="Calibri"/>
              </a:rPr>
              <a:t>Jakov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Person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4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Kvantizacija</a:t>
            </a:r>
            <a:endParaRPr lang="en-US" sz="800" b="0" i="0" u="none" strike="noStrike" cap="none" spc="0">
              <a:ln>
                <a:noFill/>
              </a:ln>
              <a:solidFill>
                <a:srgbClr val="4D606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825410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10431272" cy="1499616"/>
          </a:xfrm>
        </p:spPr>
        <p:txBody>
          <a:bodyPr/>
          <a:lstStyle/>
          <a:p>
            <a:pPr>
              <a:defRPr/>
            </a:pPr>
            <a:r>
              <a:rPr lang="en-US"/>
              <a:t>Kompletna usporedba Kompresije</a:t>
            </a:r>
            <a:endParaRPr lang="en-US"/>
          </a:p>
        </p:txBody>
      </p:sp>
      <p:sp>
        <p:nvSpPr>
          <p:cNvPr id="1189003542" name="TextBox 4"/>
          <p:cNvSpPr txBox="1"/>
          <p:nvPr/>
        </p:nvSpPr>
        <p:spPr bwMode="auto">
          <a:xfrm>
            <a:off x="9786463" y="6400800"/>
            <a:ext cx="1460657" cy="21544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rgbClr val="4D606E"/>
                </a:solidFill>
              </a:defRPr>
            </a:pPr>
            <a:r>
              <a:rPr lang="en-US" sz="800">
                <a:solidFill>
                  <a:srgbClr val="4D606E"/>
                </a:solidFill>
                <a:latin typeface="Calibri"/>
              </a:rPr>
              <a:t>Jakov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Person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4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Kvantizacija</a:t>
            </a:r>
            <a:endParaRPr lang="en-US" sz="800" b="0" i="0" u="none" strike="noStrike" cap="none" spc="0">
              <a:ln>
                <a:noFill/>
              </a:ln>
              <a:solidFill>
                <a:srgbClr val="4D606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984415791" name="Content Placeholder 6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682171" y="2286000"/>
          <a:ext cx="10801377" cy="3872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848100"/>
                <a:gridCol w="2495550"/>
                <a:gridCol w="2476499"/>
                <a:gridCol w="1981229"/>
              </a:tblGrid>
              <a:tr h="76235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Tw Cen MT"/>
                        </a:rPr>
                        <a:t>Korak / Stage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Tw Cen MT"/>
                        </a:rPr>
                        <a:t>Točnost / Accuracy (%)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Tw Cen MT"/>
                        </a:rPr>
                        <a:t>Zaključivanje / Inference (ms)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Tw Cen MT"/>
                        </a:rPr>
                        <a:t>Veličina /</a:t>
                      </a:r>
                      <a:endParaRPr lang="en-US"/>
                    </a:p>
                    <a:p>
                      <a:pPr lvl="0">
                        <a:buNone/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Tw Cen MT"/>
                        </a:rPr>
                        <a:t>Size (KB)</a:t>
                      </a:r>
                      <a:endParaRPr lang="en-US"/>
                    </a:p>
                  </a:txBody>
                  <a:tcPr/>
                </a:tc>
              </a:tr>
              <a:tr h="76235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baseline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72.30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82.30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10275</a:t>
                      </a:r>
                      <a:endParaRPr lang="en-US"/>
                    </a:p>
                  </a:txBody>
                  <a:tcPr/>
                </a:tc>
              </a:tr>
              <a:tr h="76235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Improved (BN + Dropout)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77.55 (+5.25)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89.14 (+6.84)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4920 (2.1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</a:rPr>
                        <a:t>×)</a:t>
                      </a:r>
                      <a:endParaRPr lang="en-US"/>
                    </a:p>
                  </a:txBody>
                  <a:tcPr/>
                </a:tc>
              </a:tr>
              <a:tr h="76235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Improved + Pruning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77.45 (-0.1)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87.36 (-1.78)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2460 (4.2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</a:rPr>
                        <a:t>×)</a:t>
                      </a:r>
                      <a:endParaRPr lang="en-US"/>
                    </a:p>
                  </a:txBody>
                  <a:tcPr/>
                </a:tc>
              </a:tr>
              <a:tr h="76235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Improved + Pruning + Quant.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76.48 (-0.97)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73.60 (-13.86)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614.5 (16.7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</a:rPr>
                        <a:t>×)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833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Zaključak</a:t>
            </a:r>
            <a:endParaRPr/>
          </a:p>
        </p:txBody>
      </p:sp>
      <p:sp>
        <p:nvSpPr>
          <p:cNvPr id="146949152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90356" y="2285999"/>
            <a:ext cx="10365898" cy="4023360"/>
          </a:xfrm>
        </p:spPr>
        <p:txBody>
          <a:bodyPr vert="horz" lIns="45720" tIns="45720" rIns="45720" bIns="45720" rtlCol="0" anchor="t">
            <a:normAutofit/>
          </a:bodyPr>
          <a:lstStyle/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/>
              <a:t> </a:t>
            </a:r>
            <a:r>
              <a:rPr lang="hr-HR" sz="2200"/>
              <a:t>Dobar odabir metode kompresije ne znači samo smanjenje veličine modela, već i povećanje brzine uz minimalan gubitak točnosti</a:t>
            </a:r>
            <a:endParaRPr sz="2200"/>
          </a:p>
          <a:p>
            <a:pPr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en-US" sz="2200"/>
              <a:t> </a:t>
            </a:r>
            <a:r>
              <a:rPr lang="hr-HR" sz="2200"/>
              <a:t>Pruning i kvantizacija primijenjeni na poboljšani CNN model su:</a:t>
            </a:r>
            <a:endParaRPr sz="2200"/>
          </a:p>
          <a:p>
            <a:pPr lvl="2"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hr-HR" sz="2200"/>
              <a:t>smanjili veličinu baseline CNN modela 16.7</a:t>
            </a:r>
            <a:r>
              <a:rPr lang="hr-HR" sz="2200">
                <a:ea typeface="+mn-lt"/>
                <a:cs typeface="+mn-lt"/>
              </a:rPr>
              <a:t>×</a:t>
            </a:r>
            <a:endParaRPr sz="2200"/>
          </a:p>
          <a:p>
            <a:pPr lvl="2"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hr-HR" sz="2200">
                <a:ea typeface="+mn-lt"/>
                <a:cs typeface="+mn-lt"/>
              </a:rPr>
              <a:t>povećali brzinu zaključivanja 1.21×</a:t>
            </a:r>
            <a:endParaRPr sz="2200"/>
          </a:p>
          <a:p>
            <a:pPr lvl="2"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hr-HR" sz="2200">
                <a:ea typeface="+mn-lt"/>
                <a:cs typeface="+mn-lt"/>
              </a:rPr>
              <a:t>povećali točnost za 4.18% u odnosu na baseline CNN model</a:t>
            </a:r>
            <a:endParaRPr sz="2200"/>
          </a:p>
          <a:p>
            <a:pPr lvl="2">
              <a:buClr>
                <a:schemeClr val="accent1"/>
              </a:buClr>
              <a:buSzTx/>
              <a:buFont typeface="Arial"/>
              <a:buChar char="•"/>
              <a:defRPr/>
            </a:pPr>
            <a:r>
              <a:rPr lang="hr-HR" sz="2200"/>
              <a:t>smanjili točnost za 1.07% u odnosu na poboljšani CNN model bez kompresije</a:t>
            </a:r>
            <a:endParaRPr sz="2200"/>
          </a:p>
        </p:txBody>
      </p:sp>
      <p:sp>
        <p:nvSpPr>
          <p:cNvPr id="414275724" name="TextBox 4"/>
          <p:cNvSpPr txBox="1"/>
          <p:nvPr/>
        </p:nvSpPr>
        <p:spPr bwMode="auto">
          <a:xfrm>
            <a:off x="9786463" y="6400800"/>
            <a:ext cx="1460657" cy="21544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rgbClr val="4D606E"/>
                </a:solidFill>
              </a:defRPr>
            </a:pPr>
            <a:r>
              <a:rPr lang="en-US" sz="800">
                <a:solidFill>
                  <a:srgbClr val="4D606E"/>
                </a:solidFill>
                <a:latin typeface="Calibri"/>
              </a:rPr>
              <a:t>Jakov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Person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4</a:t>
            </a:r>
            <a:r>
              <a:rPr sz="800" b="0" i="0" u="none" strike="noStrike" cap="none" spc="0">
                <a:ln>
                  <a:noFill/>
                </a:ln>
                <a:solidFill>
                  <a:srgbClr val="4D606E"/>
                </a:solidFill>
                <a:latin typeface="Calibri"/>
                <a:ea typeface="+mn-ea"/>
                <a:cs typeface="+mn-cs"/>
              </a:rPr>
              <a:t> • </a:t>
            </a:r>
            <a:r>
              <a:rPr lang="en-US" sz="800">
                <a:solidFill>
                  <a:srgbClr val="4D606E"/>
                </a:solidFill>
                <a:latin typeface="Calibri"/>
              </a:rPr>
              <a:t>Kvantizacija</a:t>
            </a:r>
            <a:endParaRPr lang="en-US" sz="800" b="0" i="0" u="none" strike="noStrike" cap="none" spc="0">
              <a:ln>
                <a:noFill/>
              </a:ln>
              <a:solidFill>
                <a:srgbClr val="4D606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401674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500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1210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??  Pitanja ??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3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4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5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Tw Cen MT Condensed"/>
        <a:cs typeface="Arial"/>
      </a:majorFont>
      <a:minorFont>
        <a:latin typeface="Tw Cen MT"/>
        <a:ea typeface="Tw Cen MT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created xsi:type="dcterms:W3CDTF">2026-06-30T04:24:36Z</dcterms:created>
  <dcterms:modified xsi:type="dcterms:W3CDTF">2026-06-30T05:53:55Z</dcterms:modified>
</cp:coreProperties>
</file>